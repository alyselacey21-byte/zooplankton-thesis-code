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75"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5DD"/>
    <a:srgbClr val="ECE7DF"/>
    <a:srgbClr val="EDEBE2"/>
    <a:srgbClr val="EEE8E0"/>
    <a:srgbClr val="EFEAE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028F87-C41F-46B6-8155-081D374CF41F}" v="39" dt="2026-09-23T16:22:24.5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snapToObjects="1">
      <p:cViewPr varScale="1">
        <p:scale>
          <a:sx n="90" d="100"/>
          <a:sy n="90" d="100"/>
        </p:scale>
        <p:origin x="235"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053587-EEF6-4184-A1B8-AAA6105E9FA0}"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8D6FCD-BA56-43AF-82C2-2A4639446916}" type="slidenum">
              <a:rPr lang="en-US" smtClean="0"/>
              <a:t>‹#›</a:t>
            </a:fld>
            <a:endParaRPr lang="en-US"/>
          </a:p>
        </p:txBody>
      </p:sp>
    </p:spTree>
    <p:extLst>
      <p:ext uri="{BB962C8B-B14F-4D97-AF65-F5344CB8AC3E}">
        <p14:creationId xmlns:p14="http://schemas.microsoft.com/office/powerpoint/2010/main" val="801190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previous talks in this session are asking how we can improve our ability to predict a changing Bay-Delta system. My project picks up one step downstream: once we predict how the physical system changes, how do we predict what happens to organisms living in that system? I’m focusing on zooplankton, with </a:t>
            </a:r>
            <a:r>
              <a:rPr lang="en-US" sz="1200" b="0" i="0" kern="1200" dirty="0" err="1">
                <a:solidFill>
                  <a:schemeClr val="tx1"/>
                </a:solidFill>
                <a:effectLst/>
                <a:latin typeface="+mn-lt"/>
                <a:ea typeface="+mn-ea"/>
                <a:cs typeface="+mn-cs"/>
              </a:rPr>
              <a:t>Eurytemora</a:t>
            </a:r>
            <a:r>
              <a:rPr lang="en-US" sz="1200" b="0" i="0" kern="1200" dirty="0">
                <a:solidFill>
                  <a:schemeClr val="tx1"/>
                </a:solidFill>
                <a:effectLst/>
                <a:latin typeface="+mn-lt"/>
                <a:ea typeface="+mn-ea"/>
                <a:cs typeface="+mn-cs"/>
              </a:rPr>
              <a:t> as my first case study.</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1</a:t>
            </a:fld>
            <a:endParaRPr lang="en-US"/>
          </a:p>
        </p:txBody>
      </p:sp>
    </p:spTree>
    <p:extLst>
      <p:ext uri="{BB962C8B-B14F-4D97-AF65-F5344CB8AC3E}">
        <p14:creationId xmlns:p14="http://schemas.microsoft.com/office/powerpoint/2010/main" val="1282481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CalSim3 addresses system conditions and management scenarios. ECO-PTM and the predation work address fish movement and survival. The prey-and-salinity work asks how Delta smelt prey respond to an important environmental gradient. My work asks how zooplankton respond to a broader set of environmental and temporal conditions. These are complementary pieces of the same decision-support problem.</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2</a:t>
            </a:fld>
            <a:endParaRPr lang="en-US"/>
          </a:p>
        </p:txBody>
      </p:sp>
    </p:spTree>
    <p:extLst>
      <p:ext uri="{BB962C8B-B14F-4D97-AF65-F5344CB8AC3E}">
        <p14:creationId xmlns:p14="http://schemas.microsoft.com/office/powerpoint/2010/main" val="676149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4</a:t>
            </a:fld>
            <a:endParaRPr lang="en-US"/>
          </a:p>
        </p:txBody>
      </p:sp>
    </p:spTree>
    <p:extLst>
      <p:ext uri="{BB962C8B-B14F-4D97-AF65-F5344CB8AC3E}">
        <p14:creationId xmlns:p14="http://schemas.microsoft.com/office/powerpoint/2010/main" val="653900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Management scenarios affect flow and salinity. Those conditions affect habitat, movement, predation, and the prey field. My project is focused on that food-web portion of the chain.</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5</a:t>
            </a:fld>
            <a:endParaRPr lang="en-US"/>
          </a:p>
        </p:txBody>
      </p:sp>
    </p:spTree>
    <p:extLst>
      <p:ext uri="{BB962C8B-B14F-4D97-AF65-F5344CB8AC3E}">
        <p14:creationId xmlns:p14="http://schemas.microsoft.com/office/powerpoint/2010/main" val="144294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Zooplankton are useful because they sit in the middle of the food web. They respond to environmental conditions, but they are also food for fish. That makes them a measurable biological link between physical conditions and higher trophic levels.</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6</a:t>
            </a:fld>
            <a:endParaRPr lang="en-US"/>
          </a:p>
        </p:txBody>
      </p:sp>
    </p:spTree>
    <p:extLst>
      <p:ext uri="{BB962C8B-B14F-4D97-AF65-F5344CB8AC3E}">
        <p14:creationId xmlns:p14="http://schemas.microsoft.com/office/powerpoint/2010/main" val="20467008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I’m looking across the Sacramento–San Joaquin Delta from Sacramento to San Pablo Bay. That is important because conditions are not uniform across this system. There are strong spatial gradients, and those gradients interact with seasonal and year-to-year variation.</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7</a:t>
            </a:fld>
            <a:endParaRPr lang="en-US"/>
          </a:p>
        </p:txBody>
      </p:sp>
    </p:spTree>
    <p:extLst>
      <p:ext uri="{BB962C8B-B14F-4D97-AF65-F5344CB8AC3E}">
        <p14:creationId xmlns:p14="http://schemas.microsoft.com/office/powerpoint/2010/main" val="10825167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I’m bringing together eleven predictors. Some are directly related to hydrology, like X2 and Jersey Point Flow. Others describe water quality or habitat, including salinity, temperature, turbidity, chlorophyll-a, dissolved oxygen, pH, and Secchi depth. Month captures recurring seasonal structure.</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8</a:t>
            </a:fld>
            <a:endParaRPr lang="en-US"/>
          </a:p>
        </p:txBody>
      </p:sp>
    </p:spTree>
    <p:extLst>
      <p:ext uri="{BB962C8B-B14F-4D97-AF65-F5344CB8AC3E}">
        <p14:creationId xmlns:p14="http://schemas.microsoft.com/office/powerpoint/2010/main" val="15027795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major advantage is the time span. I’m taking advantage of decades of monitoring rather than trying to answer this question from one field season. For the </a:t>
            </a:r>
            <a:r>
              <a:rPr lang="en-US" sz="1200" b="0" i="0" kern="1200" dirty="0" err="1">
                <a:solidFill>
                  <a:schemeClr val="tx1"/>
                </a:solidFill>
                <a:effectLst/>
                <a:latin typeface="+mn-lt"/>
                <a:ea typeface="+mn-ea"/>
                <a:cs typeface="+mn-cs"/>
              </a:rPr>
              <a:t>Eurytemora</a:t>
            </a:r>
            <a:r>
              <a:rPr lang="en-US" sz="1200" b="0" i="0" kern="1200" dirty="0">
                <a:solidFill>
                  <a:schemeClr val="tx1"/>
                </a:solidFill>
                <a:effectLst/>
                <a:latin typeface="+mn-lt"/>
                <a:ea typeface="+mn-ea"/>
                <a:cs typeface="+mn-cs"/>
              </a:rPr>
              <a:t> case study, I have more than fourteen thousand observations.</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9</a:t>
            </a:fld>
            <a:endParaRPr lang="en-US"/>
          </a:p>
        </p:txBody>
      </p:sp>
    </p:spTree>
    <p:extLst>
      <p:ext uri="{BB962C8B-B14F-4D97-AF65-F5344CB8AC3E}">
        <p14:creationId xmlns:p14="http://schemas.microsoft.com/office/powerpoint/2010/main" val="2246348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major advantage is the time span. I’m taking advantage of decades of monitoring rather than trying to answer this question from one field season. For the </a:t>
            </a:r>
            <a:r>
              <a:rPr lang="en-US" sz="1200" b="0" i="0" kern="1200" dirty="0" err="1">
                <a:solidFill>
                  <a:schemeClr val="tx1"/>
                </a:solidFill>
                <a:effectLst/>
                <a:latin typeface="+mn-lt"/>
                <a:ea typeface="+mn-ea"/>
                <a:cs typeface="+mn-cs"/>
              </a:rPr>
              <a:t>Eurytemora</a:t>
            </a:r>
            <a:r>
              <a:rPr lang="en-US" sz="1200" b="0" i="0" kern="1200" dirty="0">
                <a:solidFill>
                  <a:schemeClr val="tx1"/>
                </a:solidFill>
                <a:effectLst/>
                <a:latin typeface="+mn-lt"/>
                <a:ea typeface="+mn-ea"/>
                <a:cs typeface="+mn-cs"/>
              </a:rPr>
              <a:t> case study, I have more than fourteen thousand observations.</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10</a:t>
            </a:fld>
            <a:endParaRPr lang="en-US"/>
          </a:p>
        </p:txBody>
      </p:sp>
    </p:spTree>
    <p:extLst>
      <p:ext uri="{BB962C8B-B14F-4D97-AF65-F5344CB8AC3E}">
        <p14:creationId xmlns:p14="http://schemas.microsoft.com/office/powerpoint/2010/main" val="651844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a:t>
            </a:r>
            <a:r>
              <a:rPr lang="en-US" sz="1200" b="0" i="0" kern="1200" dirty="0" err="1">
                <a:solidFill>
                  <a:schemeClr val="tx1"/>
                </a:solidFill>
                <a:effectLst/>
                <a:latin typeface="+mn-lt"/>
                <a:ea typeface="+mn-ea"/>
                <a:cs typeface="+mn-cs"/>
              </a:rPr>
              <a:t>Eurytemora</a:t>
            </a:r>
            <a:r>
              <a:rPr lang="en-US" sz="1200" b="0" i="0" kern="1200" dirty="0">
                <a:solidFill>
                  <a:schemeClr val="tx1"/>
                </a:solidFill>
                <a:effectLst/>
                <a:latin typeface="+mn-lt"/>
                <a:ea typeface="+mn-ea"/>
                <a:cs typeface="+mn-cs"/>
              </a:rPr>
              <a:t>, the question is straightforward: what environmental conditions are associated with abundance, and how does that relationship vary across the system? I’m particularly interested in relationships that may not be linear.</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11</a:t>
            </a:fld>
            <a:endParaRPr lang="en-US"/>
          </a:p>
        </p:txBody>
      </p:sp>
    </p:spTree>
    <p:extLst>
      <p:ext uri="{BB962C8B-B14F-4D97-AF65-F5344CB8AC3E}">
        <p14:creationId xmlns:p14="http://schemas.microsoft.com/office/powerpoint/2010/main" val="26127446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linear model would assume that a one-unit change has the same effect everywhere across the predictor range. A generalized additive model relaxes that assumption. It lets the data estimate the shape of the relationship. That is useful in an estuary where thresholds, plateaus, and optima are plausible.</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12</a:t>
            </a:fld>
            <a:endParaRPr lang="en-US"/>
          </a:p>
        </p:txBody>
      </p:sp>
    </p:spTree>
    <p:extLst>
      <p:ext uri="{BB962C8B-B14F-4D97-AF65-F5344CB8AC3E}">
        <p14:creationId xmlns:p14="http://schemas.microsoft.com/office/powerpoint/2010/main" val="1341394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the first actual results step of the project. I would walk through each smooth one at a time rather than showing the audience a table of model coefficients. For each variable, I want to answer three questions: what is the shape, where does abundance change, and what does that mean ecologically? I would emphasize the observed range and avoid interpreting relationships outside the data.</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13</a:t>
            </a:fld>
            <a:endParaRPr lang="en-US"/>
          </a:p>
        </p:txBody>
      </p:sp>
    </p:spTree>
    <p:extLst>
      <p:ext uri="{BB962C8B-B14F-4D97-AF65-F5344CB8AC3E}">
        <p14:creationId xmlns:p14="http://schemas.microsoft.com/office/powerpoint/2010/main" val="39912209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I’m treating these results as empirical associations, not experimental proof of causation. The value is that they identify relationships that can be tested, compared across taxa, and eventually translated into predictive response functions.</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14</a:t>
            </a:fld>
            <a:endParaRPr lang="en-US"/>
          </a:p>
        </p:txBody>
      </p:sp>
    </p:spTree>
    <p:extLst>
      <p:ext uri="{BB962C8B-B14F-4D97-AF65-F5344CB8AC3E}">
        <p14:creationId xmlns:p14="http://schemas.microsoft.com/office/powerpoint/2010/main" val="13784872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15</a:t>
            </a:fld>
            <a:endParaRPr lang="en-US"/>
          </a:p>
        </p:txBody>
      </p:sp>
    </p:spTree>
    <p:extLst>
      <p:ext uri="{BB962C8B-B14F-4D97-AF65-F5344CB8AC3E}">
        <p14:creationId xmlns:p14="http://schemas.microsoft.com/office/powerpoint/2010/main" val="31282282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16</a:t>
            </a:fld>
            <a:endParaRPr lang="en-US"/>
          </a:p>
        </p:txBody>
      </p:sp>
    </p:spTree>
    <p:extLst>
      <p:ext uri="{BB962C8B-B14F-4D97-AF65-F5344CB8AC3E}">
        <p14:creationId xmlns:p14="http://schemas.microsoft.com/office/powerpoint/2010/main" val="38887854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also why I think the projects in this session fit together. Hydrology gives us environmental scenarios. Fish models and experiments give us mechanisms for movement and survival. Zooplankton work gives us information about the prey field. Together, these lines of evidence can eventually answer questions that no single model can answer alone.</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17</a:t>
            </a:fld>
            <a:endParaRPr lang="en-US"/>
          </a:p>
        </p:txBody>
      </p:sp>
    </p:spTree>
    <p:extLst>
      <p:ext uri="{BB962C8B-B14F-4D97-AF65-F5344CB8AC3E}">
        <p14:creationId xmlns:p14="http://schemas.microsoft.com/office/powerpoint/2010/main" val="32768621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management relevance is not that one </a:t>
            </a:r>
            <a:r>
              <a:rPr lang="en-US" sz="1200" b="0" i="0" kern="1200" dirty="0" err="1">
                <a:solidFill>
                  <a:schemeClr val="tx1"/>
                </a:solidFill>
                <a:effectLst/>
                <a:latin typeface="+mn-lt"/>
                <a:ea typeface="+mn-ea"/>
                <a:cs typeface="+mn-cs"/>
              </a:rPr>
              <a:t>Eurytemora</a:t>
            </a:r>
            <a:r>
              <a:rPr lang="en-US" sz="1200" b="0" i="0" kern="1200" dirty="0">
                <a:solidFill>
                  <a:schemeClr val="tx1"/>
                </a:solidFill>
                <a:effectLst/>
                <a:latin typeface="+mn-lt"/>
                <a:ea typeface="+mn-ea"/>
                <a:cs typeface="+mn-cs"/>
              </a:rPr>
              <a:t> curve will immediately change operations. The nearer-term value is better understanding of current trophic linkages and developing biological relationships that can eventually be used alongside quantitative water-management models.</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18</a:t>
            </a:fld>
            <a:endParaRPr lang="en-US"/>
          </a:p>
        </p:txBody>
      </p:sp>
    </p:spTree>
    <p:extLst>
      <p:ext uri="{BB962C8B-B14F-4D97-AF65-F5344CB8AC3E}">
        <p14:creationId xmlns:p14="http://schemas.microsoft.com/office/powerpoint/2010/main" val="2230232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My three take-home points are: water conditions are ecological conditions; zooplankton provide a measurable bridge between those conditions and the food web; and long-term monitoring can be used to develop biological response relationships when we respect its limitations. </a:t>
            </a:r>
            <a:r>
              <a:rPr lang="en-US" sz="1200" b="0" i="0" kern="1200" dirty="0" err="1">
                <a:solidFill>
                  <a:schemeClr val="tx1"/>
                </a:solidFill>
                <a:effectLst/>
                <a:latin typeface="+mn-lt"/>
                <a:ea typeface="+mn-ea"/>
                <a:cs typeface="+mn-cs"/>
              </a:rPr>
              <a:t>Eurytemora</a:t>
            </a:r>
            <a:r>
              <a:rPr lang="en-US" sz="1200" b="0" i="0" kern="1200" dirty="0">
                <a:solidFill>
                  <a:schemeClr val="tx1"/>
                </a:solidFill>
                <a:effectLst/>
                <a:latin typeface="+mn-lt"/>
                <a:ea typeface="+mn-ea"/>
                <a:cs typeface="+mn-cs"/>
              </a:rPr>
              <a:t> is the first step toward a broader framework for connecting water-management scenarios to ecosystem response.</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19</a:t>
            </a:fld>
            <a:endParaRPr lang="en-US"/>
          </a:p>
        </p:txBody>
      </p:sp>
    </p:spTree>
    <p:extLst>
      <p:ext uri="{BB962C8B-B14F-4D97-AF65-F5344CB8AC3E}">
        <p14:creationId xmlns:p14="http://schemas.microsoft.com/office/powerpoint/2010/main" val="2707441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hyperlink" Target="http://www.pixnio.com/fauna-animals/fishes/bass-fishes-pictures/striped-bass-morone-saxatilis-fish" TargetMode="External"/><Relationship Id="rId3" Type="http://schemas.openxmlformats.org/officeDocument/2006/relationships/image" Target="../media/image2.jpg"/><Relationship Id="rId7" Type="http://schemas.openxmlformats.org/officeDocument/2006/relationships/image" Target="../media/image4.jpg"/><Relationship Id="rId12" Type="http://schemas.openxmlformats.org/officeDocument/2006/relationships/hyperlink" Target="https://nl.wikipedia.org/wiki/Eurytemora_carolleeae"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hyperlink" Target="https://www.flickr.com/photos/blmoregon/16335492972" TargetMode="External"/><Relationship Id="rId11" Type="http://schemas.openxmlformats.org/officeDocument/2006/relationships/image" Target="../media/image6.jpg"/><Relationship Id="rId5" Type="http://schemas.openxmlformats.org/officeDocument/2006/relationships/image" Target="../media/image3.jpg"/><Relationship Id="rId10" Type="http://schemas.openxmlformats.org/officeDocument/2006/relationships/hyperlink" Target="https://www.flickr.com/photos/usfws_pacificsw/5159686684/" TargetMode="External"/><Relationship Id="rId4" Type="http://schemas.openxmlformats.org/officeDocument/2006/relationships/hyperlink" Target="https://www.flickr.com/photos/infospigot/16363578806/" TargetMode="External"/><Relationship Id="rId9" Type="http://schemas.openxmlformats.org/officeDocument/2006/relationships/image" Target="../media/image5.jpg"/></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hyperlink" Target="https://www.flickr.com/photos/usfws_pacificsw/32251531984" TargetMode="External"/><Relationship Id="rId13" Type="http://schemas.openxmlformats.org/officeDocument/2006/relationships/hyperlink" Target="https://www.flickr.com/photos/oakridgelab/51153045788/" TargetMode="External"/><Relationship Id="rId3" Type="http://schemas.openxmlformats.org/officeDocument/2006/relationships/image" Target="../media/image8.jpg"/><Relationship Id="rId7" Type="http://schemas.openxmlformats.org/officeDocument/2006/relationships/image" Target="../media/image10.jpg"/><Relationship Id="rId12" Type="http://schemas.openxmlformats.org/officeDocument/2006/relationships/image" Target="../media/image13.jp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hyperlink" Target="https://en.wikipedia.org/wiki/List_of_United_States_Bureau_of_Reclamation_dams" TargetMode="External"/><Relationship Id="rId11" Type="http://schemas.openxmlformats.org/officeDocument/2006/relationships/image" Target="../media/image12.png"/><Relationship Id="rId5" Type="http://schemas.openxmlformats.org/officeDocument/2006/relationships/image" Target="../media/image9.jpg"/><Relationship Id="rId10" Type="http://schemas.openxmlformats.org/officeDocument/2006/relationships/hyperlink" Target="https://en.wikipedia.org/wiki/Big-scale_sand_smelt" TargetMode="External"/><Relationship Id="rId4" Type="http://schemas.openxmlformats.org/officeDocument/2006/relationships/hyperlink" Target="https://pixnio.com/architecture/bridges/the-john-a-roebling-suspension-bridge" TargetMode="External"/><Relationship Id="rId9" Type="http://schemas.openxmlformats.org/officeDocument/2006/relationships/image" Target="../media/image11.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jp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3.jpg"/><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hyperlink" Target="https://pxhere.com/en/photo/1418318" TargetMode="External"/><Relationship Id="rId5" Type="http://schemas.openxmlformats.org/officeDocument/2006/relationships/image" Target="../media/image27.jp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8" Type="http://schemas.openxmlformats.org/officeDocument/2006/relationships/image" Target="../media/image31.jpg"/><Relationship Id="rId3" Type="http://schemas.openxmlformats.org/officeDocument/2006/relationships/image" Target="../media/image28.jpg"/><Relationship Id="rId7" Type="http://schemas.openxmlformats.org/officeDocument/2006/relationships/image" Target="../media/image30.jp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hyperlink" Target="https://www.flickr.com/photos/pnnl/3633160809" TargetMode="External"/><Relationship Id="rId5" Type="http://schemas.openxmlformats.org/officeDocument/2006/relationships/image" Target="../media/image29.jpg"/><Relationship Id="rId4" Type="http://schemas.openxmlformats.org/officeDocument/2006/relationships/hyperlink" Target="https://www.flickr.com/photos/ibm_research_zurich/32953060818/" TargetMode="Externa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36.JP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5.jpeg"/><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AFC"/>
        </a:solidFill>
        <a:effectLst/>
      </p:bgPr>
    </p:bg>
    <p:spTree>
      <p:nvGrpSpPr>
        <p:cNvPr id="1" name=""/>
        <p:cNvGrpSpPr/>
        <p:nvPr/>
      </p:nvGrpSpPr>
      <p:grpSpPr>
        <a:xfrm>
          <a:off x="0" y="0"/>
          <a:ext cx="0" cy="0"/>
          <a:chOff x="0" y="0"/>
          <a:chExt cx="0" cy="0"/>
        </a:xfrm>
      </p:grpSpPr>
      <p:sp>
        <p:nvSpPr>
          <p:cNvPr id="38" name="NAV_2">
            <a:extLst>
              <a:ext uri="{FF2B5EF4-FFF2-40B4-BE49-F238E27FC236}">
                <a16:creationId xmlns:a16="http://schemas.microsoft.com/office/drawing/2014/main" id="{6863DCAC-4CA3-2BD4-68DC-60CD11AD69D1}"/>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a:extLst>
              <a:ext uri="{FF2B5EF4-FFF2-40B4-BE49-F238E27FC236}">
                <a16:creationId xmlns:a16="http://schemas.microsoft.com/office/drawing/2014/main" id="{C7C3FC47-E7FA-64F4-0072-678590CF77FF}"/>
              </a:ext>
            </a:extLst>
          </p:cNvPr>
          <p:cNvPicPr>
            <a:picLocks noChangeAspect="1"/>
          </p:cNvPicPr>
          <p:nvPr/>
        </p:nvPicPr>
        <p:blipFill>
          <a:blip r:embed="rId3"/>
          <a:stretch>
            <a:fillRect/>
          </a:stretch>
        </p:blipFill>
        <p:spPr>
          <a:xfrm>
            <a:off x="6203646" y="260728"/>
            <a:ext cx="5256504" cy="3494941"/>
          </a:xfrm>
          <a:prstGeom prst="rect">
            <a:avLst/>
          </a:prstGeom>
        </p:spPr>
      </p:pic>
      <p:sp>
        <p:nvSpPr>
          <p:cNvPr id="7" name="TextBox 6"/>
          <p:cNvSpPr txBox="1"/>
          <p:nvPr/>
        </p:nvSpPr>
        <p:spPr>
          <a:xfrm>
            <a:off x="685800" y="685800"/>
            <a:ext cx="8046720" cy="307777"/>
          </a:xfrm>
          <a:prstGeom prst="rect">
            <a:avLst/>
          </a:prstGeom>
          <a:noFill/>
        </p:spPr>
        <p:txBody>
          <a:bodyPr wrap="square" lIns="0" tIns="0" rIns="0" bIns="0">
            <a:spAutoFit/>
          </a:bodyPr>
          <a:lstStyle/>
          <a:p>
            <a:pPr algn="l"/>
            <a:r>
              <a:rPr sz="2000" b="1" i="0" dirty="0">
                <a:solidFill>
                  <a:srgbClr val="2A9DA1"/>
                </a:solidFill>
                <a:latin typeface="Aptos"/>
              </a:rPr>
              <a:t>UNDERSTANDING THE DRIVERS OF</a:t>
            </a:r>
          </a:p>
        </p:txBody>
      </p:sp>
      <p:sp>
        <p:nvSpPr>
          <p:cNvPr id="8" name="TextBox 7"/>
          <p:cNvSpPr txBox="1"/>
          <p:nvPr/>
        </p:nvSpPr>
        <p:spPr>
          <a:xfrm>
            <a:off x="685800" y="1143000"/>
            <a:ext cx="5410200" cy="1384995"/>
          </a:xfrm>
          <a:prstGeom prst="rect">
            <a:avLst/>
          </a:prstGeom>
          <a:noFill/>
        </p:spPr>
        <p:txBody>
          <a:bodyPr wrap="square" lIns="0" tIns="0" rIns="0" bIns="0">
            <a:spAutoFit/>
          </a:bodyPr>
          <a:lstStyle/>
          <a:p>
            <a:r>
              <a:rPr sz="3600" b="1" i="0" dirty="0">
                <a:solidFill>
                  <a:srgbClr val="143052"/>
                </a:solidFill>
                <a:latin typeface="Aptos"/>
              </a:rPr>
              <a:t>Zooplankton abundanc</a:t>
            </a:r>
            <a:r>
              <a:rPr lang="en-US" sz="3600" b="1" i="0" dirty="0">
                <a:solidFill>
                  <a:schemeClr val="tx2">
                    <a:lumMod val="75000"/>
                  </a:schemeClr>
                </a:solidFill>
                <a:latin typeface="Aptos"/>
              </a:rPr>
              <a:t>e </a:t>
            </a:r>
            <a:r>
              <a:rPr lang="en-US" sz="3600" b="1" dirty="0">
                <a:solidFill>
                  <a:schemeClr val="tx2">
                    <a:lumMod val="75000"/>
                  </a:schemeClr>
                </a:solidFill>
                <a:latin typeface="Aptos" panose="020B0004020202020204" pitchFamily="34" charset="0"/>
              </a:rPr>
              <a:t>and spatial patterns</a:t>
            </a:r>
            <a:br>
              <a:rPr dirty="0">
                <a:solidFill>
                  <a:schemeClr val="tx2">
                    <a:lumMod val="75000"/>
                  </a:schemeClr>
                </a:solidFill>
              </a:rPr>
            </a:br>
            <a:endParaRPr dirty="0">
              <a:solidFill>
                <a:schemeClr val="tx2">
                  <a:lumMod val="75000"/>
                </a:schemeClr>
              </a:solidFill>
            </a:endParaRPr>
          </a:p>
        </p:txBody>
      </p:sp>
      <p:sp>
        <p:nvSpPr>
          <p:cNvPr id="9" name="TextBox 8"/>
          <p:cNvSpPr txBox="1"/>
          <p:nvPr/>
        </p:nvSpPr>
        <p:spPr>
          <a:xfrm>
            <a:off x="685800" y="2514600"/>
            <a:ext cx="6858000" cy="457200"/>
          </a:xfrm>
          <a:prstGeom prst="rect">
            <a:avLst/>
          </a:prstGeom>
          <a:noFill/>
        </p:spPr>
        <p:txBody>
          <a:bodyPr wrap="square" lIns="0" tIns="0" rIns="0" bIns="0">
            <a:spAutoFit/>
          </a:bodyPr>
          <a:lstStyle/>
          <a:p>
            <a:pPr algn="l"/>
            <a:r>
              <a:rPr sz="2400" b="0" i="0" dirty="0">
                <a:solidFill>
                  <a:srgbClr val="143052"/>
                </a:solidFill>
                <a:latin typeface="Aptos"/>
              </a:rPr>
              <a:t>San Francisco Bay–Delta</a:t>
            </a:r>
          </a:p>
        </p:txBody>
      </p:sp>
      <p:sp>
        <p:nvSpPr>
          <p:cNvPr id="10" name="Rounded Rectangle 9"/>
          <p:cNvSpPr/>
          <p:nvPr/>
        </p:nvSpPr>
        <p:spPr>
          <a:xfrm>
            <a:off x="656336" y="3034551"/>
            <a:ext cx="3703997" cy="566928"/>
          </a:xfrm>
          <a:prstGeom prst="roundRect">
            <a:avLst/>
          </a:prstGeom>
          <a:solidFill>
            <a:srgbClr val="DEF1F9"/>
          </a:solidFill>
          <a:ln>
            <a:solidFill>
              <a:srgbClr val="DEF1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850" y="3126206"/>
            <a:ext cx="4297680" cy="307777"/>
          </a:xfrm>
          <a:prstGeom prst="rect">
            <a:avLst/>
          </a:prstGeom>
          <a:noFill/>
        </p:spPr>
        <p:txBody>
          <a:bodyPr wrap="square" lIns="0" tIns="0" rIns="0" bIns="0">
            <a:spAutoFit/>
          </a:bodyPr>
          <a:lstStyle/>
          <a:p>
            <a:pPr algn="l"/>
            <a:r>
              <a:rPr sz="2000" b="1" i="0" dirty="0" err="1">
                <a:solidFill>
                  <a:srgbClr val="2A9DA1"/>
                </a:solidFill>
                <a:latin typeface="Aptos"/>
              </a:rPr>
              <a:t>Eurytemora</a:t>
            </a:r>
            <a:r>
              <a:rPr sz="2000" b="1" i="0" dirty="0">
                <a:solidFill>
                  <a:srgbClr val="2A9DA1"/>
                </a:solidFill>
                <a:latin typeface="Aptos"/>
              </a:rPr>
              <a:t> as a case study</a:t>
            </a:r>
          </a:p>
        </p:txBody>
      </p:sp>
      <p:sp>
        <p:nvSpPr>
          <p:cNvPr id="12" name="Oval 11"/>
          <p:cNvSpPr/>
          <p:nvPr/>
        </p:nvSpPr>
        <p:spPr>
          <a:xfrm>
            <a:off x="4776767" y="3943144"/>
            <a:ext cx="1544574" cy="1547738"/>
          </a:xfrm>
          <a:prstGeom prst="ellipse">
            <a:avLst/>
          </a:prstGeom>
          <a:solidFill>
            <a:srgbClr val="FFFFFF"/>
          </a:solidFill>
          <a:ln w="381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09499" y="4429554"/>
            <a:ext cx="1618488" cy="553998"/>
          </a:xfrm>
          <a:prstGeom prst="rect">
            <a:avLst/>
          </a:prstGeom>
          <a:noFill/>
        </p:spPr>
        <p:txBody>
          <a:bodyPr wrap="square" lIns="0" tIns="0" rIns="0" bIns="0">
            <a:spAutoFit/>
          </a:bodyPr>
          <a:lstStyle/>
          <a:p>
            <a:pPr algn="ctr"/>
            <a:r>
              <a:rPr sz="1800" b="1" i="0" dirty="0">
                <a:solidFill>
                  <a:srgbClr val="143052"/>
                </a:solidFill>
                <a:latin typeface="Aptos"/>
              </a:rPr>
              <a:t>WATER</a:t>
            </a:r>
            <a:br>
              <a:rPr dirty="0"/>
            </a:br>
            <a:r>
              <a:rPr sz="1800" dirty="0"/>
              <a:t>CONDITIONS</a:t>
            </a:r>
          </a:p>
        </p:txBody>
      </p:sp>
      <p:sp>
        <p:nvSpPr>
          <p:cNvPr id="14" name="Oval 13"/>
          <p:cNvSpPr/>
          <p:nvPr/>
        </p:nvSpPr>
        <p:spPr>
          <a:xfrm>
            <a:off x="7094982" y="3923920"/>
            <a:ext cx="1650852" cy="1547738"/>
          </a:xfrm>
          <a:prstGeom prst="ellipse">
            <a:avLst/>
          </a:prstGeom>
          <a:solidFill>
            <a:srgbClr val="FFFFFF"/>
          </a:solidFill>
          <a:ln w="381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000854" y="4578514"/>
            <a:ext cx="1831044" cy="261610"/>
          </a:xfrm>
          <a:prstGeom prst="rect">
            <a:avLst/>
          </a:prstGeom>
          <a:noFill/>
        </p:spPr>
        <p:txBody>
          <a:bodyPr wrap="square" lIns="0" tIns="0" rIns="0" bIns="0">
            <a:spAutoFit/>
          </a:bodyPr>
          <a:lstStyle/>
          <a:p>
            <a:pPr algn="ctr"/>
            <a:r>
              <a:rPr sz="1800" b="1" i="0" dirty="0">
                <a:solidFill>
                  <a:srgbClr val="143052"/>
                </a:solidFill>
                <a:latin typeface="Aptos"/>
              </a:rPr>
              <a:t>ZOOPLANKTON</a:t>
            </a:r>
          </a:p>
        </p:txBody>
      </p:sp>
      <p:sp>
        <p:nvSpPr>
          <p:cNvPr id="16" name="Oval 15"/>
          <p:cNvSpPr/>
          <p:nvPr/>
        </p:nvSpPr>
        <p:spPr>
          <a:xfrm>
            <a:off x="9367668" y="3964440"/>
            <a:ext cx="1532742" cy="1547738"/>
          </a:xfrm>
          <a:prstGeom prst="ellipse">
            <a:avLst/>
          </a:prstGeom>
          <a:solidFill>
            <a:srgbClr val="FFFFFF"/>
          </a:solidFill>
          <a:ln w="381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8259" y="4440014"/>
            <a:ext cx="1051560" cy="553998"/>
          </a:xfrm>
          <a:prstGeom prst="rect">
            <a:avLst/>
          </a:prstGeom>
          <a:noFill/>
        </p:spPr>
        <p:txBody>
          <a:bodyPr wrap="square" lIns="0" tIns="0" rIns="0" bIns="0">
            <a:spAutoFit/>
          </a:bodyPr>
          <a:lstStyle/>
          <a:p>
            <a:pPr algn="ctr"/>
            <a:r>
              <a:rPr sz="1800" b="1" i="0" dirty="0">
                <a:solidFill>
                  <a:srgbClr val="143052"/>
                </a:solidFill>
                <a:latin typeface="Aptos"/>
              </a:rPr>
              <a:t>FISH</a:t>
            </a:r>
            <a:br>
              <a:rPr dirty="0"/>
            </a:br>
            <a:r>
              <a:rPr sz="1800" dirty="0"/>
              <a:t>FOOD WEB</a:t>
            </a:r>
          </a:p>
        </p:txBody>
      </p:sp>
      <p:sp>
        <p:nvSpPr>
          <p:cNvPr id="18" name="Right Arrow 17"/>
          <p:cNvSpPr/>
          <p:nvPr/>
        </p:nvSpPr>
        <p:spPr>
          <a:xfrm>
            <a:off x="6431047" y="4535616"/>
            <a:ext cx="578359" cy="399401"/>
          </a:xfrm>
          <a:prstGeom prst="rightArrow">
            <a:avLst/>
          </a:prstGeom>
          <a:solidFill>
            <a:srgbClr val="2A7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ight Arrow 18"/>
          <p:cNvSpPr/>
          <p:nvPr/>
        </p:nvSpPr>
        <p:spPr>
          <a:xfrm>
            <a:off x="8834607" y="4538811"/>
            <a:ext cx="530352" cy="383981"/>
          </a:xfrm>
          <a:prstGeom prst="rightArrow">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 y="4316221"/>
            <a:ext cx="3533987" cy="923330"/>
          </a:xfrm>
          <a:prstGeom prst="rect">
            <a:avLst/>
          </a:prstGeom>
          <a:noFill/>
        </p:spPr>
        <p:txBody>
          <a:bodyPr wrap="square" lIns="0" tIns="0" rIns="0" bIns="0">
            <a:spAutoFit/>
          </a:bodyPr>
          <a:lstStyle/>
          <a:p>
            <a:pPr algn="l"/>
            <a:r>
              <a:rPr sz="2000" b="0" i="0" dirty="0">
                <a:solidFill>
                  <a:srgbClr val="5B6773"/>
                </a:solidFill>
                <a:latin typeface="Aptos"/>
              </a:rPr>
              <a:t>A biological link between changing hydrology and ecosystem response</a:t>
            </a:r>
          </a:p>
        </p:txBody>
      </p:sp>
      <p:sp>
        <p:nvSpPr>
          <p:cNvPr id="21" name="TextBox 20"/>
          <p:cNvSpPr txBox="1"/>
          <p:nvPr/>
        </p:nvSpPr>
        <p:spPr>
          <a:xfrm>
            <a:off x="182879" y="5997438"/>
            <a:ext cx="8283787" cy="307777"/>
          </a:xfrm>
          <a:prstGeom prst="rect">
            <a:avLst/>
          </a:prstGeom>
          <a:noFill/>
        </p:spPr>
        <p:txBody>
          <a:bodyPr wrap="square" lIns="0" tIns="0" rIns="0" bIns="0">
            <a:spAutoFit/>
          </a:bodyPr>
          <a:lstStyle/>
          <a:p>
            <a:pPr algn="l"/>
            <a:r>
              <a:rPr sz="2000" b="0" i="0" dirty="0">
                <a:solidFill>
                  <a:srgbClr val="5B6773"/>
                </a:solidFill>
                <a:latin typeface="Aptos"/>
              </a:rPr>
              <a:t>Alyse Lacey  •  Bay–Delta Science Conference  •  September 2026</a:t>
            </a:r>
          </a:p>
        </p:txBody>
      </p:sp>
      <p:sp>
        <p:nvSpPr>
          <p:cNvPr id="22" name="NAV_0"/>
          <p:cNvSpPr/>
          <p:nvPr/>
        </p:nvSpPr>
        <p:spPr>
          <a:xfrm>
            <a:off x="502920" y="6528816"/>
            <a:ext cx="1225296" cy="219456"/>
          </a:xfrm>
          <a:prstGeom prst="roundRect">
            <a:avLst/>
          </a:prstGeom>
          <a:solidFill>
            <a:srgbClr val="2A7EBE"/>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6501384"/>
            <a:ext cx="1225296" cy="277063"/>
          </a:xfrm>
          <a:prstGeom prst="rect">
            <a:avLst/>
          </a:prstGeom>
          <a:noFill/>
        </p:spPr>
        <p:txBody>
          <a:bodyPr wrap="square" lIns="0" tIns="0" rIns="0" bIns="0">
            <a:spAutoFit/>
          </a:bodyPr>
          <a:lstStyle/>
          <a:p>
            <a:pPr algn="ctr"/>
            <a:r>
              <a:rPr sz="1800" b="1" i="0" dirty="0">
                <a:solidFill>
                  <a:srgbClr val="FFFFFF"/>
                </a:solidFill>
                <a:latin typeface="Aptos"/>
              </a:rPr>
              <a:t>STORY</a:t>
            </a:r>
          </a:p>
        </p:txBody>
      </p:sp>
      <p:sp>
        <p:nvSpPr>
          <p:cNvPr id="24"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892808" y="6501384"/>
            <a:ext cx="1225296" cy="277063"/>
          </a:xfrm>
          <a:prstGeom prst="rect">
            <a:avLst/>
          </a:prstGeom>
          <a:noFill/>
        </p:spPr>
        <p:txBody>
          <a:bodyPr wrap="square" lIns="0" tIns="0" rIns="0" bIns="0">
            <a:spAutoFit/>
          </a:bodyPr>
          <a:lstStyle/>
          <a:p>
            <a:pPr algn="ctr"/>
            <a:r>
              <a:rPr sz="1800" b="1" i="0" dirty="0">
                <a:solidFill>
                  <a:srgbClr val="2A9DA1"/>
                </a:solidFill>
                <a:latin typeface="Aptos"/>
              </a:rPr>
              <a:t>SYSTEM</a:t>
            </a:r>
            <a:endParaRPr sz="700" b="1" i="0" dirty="0">
              <a:solidFill>
                <a:srgbClr val="2A9DA1"/>
              </a:solidFill>
              <a:latin typeface="Aptos"/>
            </a:endParaRPr>
          </a:p>
        </p:txBody>
      </p:sp>
      <p:sp>
        <p:nvSpPr>
          <p:cNvPr id="26"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73521" y="6501384"/>
            <a:ext cx="1225296" cy="277063"/>
          </a:xfrm>
          <a:prstGeom prst="rect">
            <a:avLst/>
          </a:prstGeom>
          <a:noFill/>
        </p:spPr>
        <p:txBody>
          <a:bodyPr wrap="square" lIns="0" tIns="0" rIns="0" bIns="0">
            <a:spAutoFit/>
          </a:bodyPr>
          <a:lstStyle/>
          <a:p>
            <a:pPr algn="ctr"/>
            <a:r>
              <a:rPr sz="1800" b="1" i="0" dirty="0">
                <a:solidFill>
                  <a:srgbClr val="E7AD46"/>
                </a:solidFill>
                <a:latin typeface="Aptos"/>
              </a:rPr>
              <a:t>DATA</a:t>
            </a:r>
          </a:p>
        </p:txBody>
      </p:sp>
      <p:sp>
        <p:nvSpPr>
          <p:cNvPr id="28"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672584" y="6501384"/>
            <a:ext cx="1225296" cy="277063"/>
          </a:xfrm>
          <a:prstGeom prst="rect">
            <a:avLst/>
          </a:prstGeom>
          <a:noFill/>
        </p:spPr>
        <p:txBody>
          <a:bodyPr wrap="square" lIns="0" tIns="0" rIns="0" bIns="0">
            <a:spAutoFit/>
          </a:bodyPr>
          <a:lstStyle/>
          <a:p>
            <a:pPr algn="ctr"/>
            <a:r>
              <a:rPr sz="1800" b="1" i="0" dirty="0">
                <a:solidFill>
                  <a:srgbClr val="E26954"/>
                </a:solidFill>
                <a:latin typeface="Aptos"/>
              </a:rPr>
              <a:t>RESULTS</a:t>
            </a:r>
            <a:endParaRPr sz="700" b="1" i="0" dirty="0">
              <a:solidFill>
                <a:srgbClr val="E26954"/>
              </a:solidFill>
              <a:latin typeface="Aptos"/>
            </a:endParaRPr>
          </a:p>
        </p:txBody>
      </p:sp>
      <p:sp>
        <p:nvSpPr>
          <p:cNvPr id="30" name="NAV_4"/>
          <p:cNvSpPr/>
          <p:nvPr/>
        </p:nvSpPr>
        <p:spPr>
          <a:xfrm>
            <a:off x="6062472" y="6528816"/>
            <a:ext cx="1564470" cy="219456"/>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069859" y="6501384"/>
            <a:ext cx="1574461" cy="277063"/>
          </a:xfrm>
          <a:prstGeom prst="rect">
            <a:avLst/>
          </a:prstGeom>
          <a:noFill/>
        </p:spPr>
        <p:txBody>
          <a:bodyPr wrap="square" lIns="0" tIns="0" rIns="0" bIns="0">
            <a:spAutoFit/>
          </a:bodyPr>
          <a:lstStyle/>
          <a:p>
            <a:pPr algn="ctr"/>
            <a:r>
              <a:rPr sz="1800" b="1" i="0" dirty="0">
                <a:solidFill>
                  <a:srgbClr val="5B975C"/>
                </a:solidFill>
                <a:latin typeface="Aptos"/>
              </a:rPr>
              <a:t>IMPLICATIONS</a:t>
            </a:r>
            <a:endParaRPr sz="700" b="1" i="0" dirty="0">
              <a:solidFill>
                <a:srgbClr val="5B975C"/>
              </a:solidFill>
              <a:latin typeface="Aptos"/>
            </a:endParaRPr>
          </a:p>
        </p:txBody>
      </p:sp>
      <p:sp>
        <p:nvSpPr>
          <p:cNvPr id="3" name="TextBox 2">
            <a:extLst>
              <a:ext uri="{FF2B5EF4-FFF2-40B4-BE49-F238E27FC236}">
                <a16:creationId xmlns:a16="http://schemas.microsoft.com/office/drawing/2014/main" id="{F45000D1-645E-207F-4554-52A4B390B4DB}"/>
              </a:ext>
            </a:extLst>
          </p:cNvPr>
          <p:cNvSpPr txBox="1"/>
          <p:nvPr/>
        </p:nvSpPr>
        <p:spPr>
          <a:xfrm>
            <a:off x="7693185" y="6485544"/>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NAV_4">
            <a:extLst>
              <a:ext uri="{FF2B5EF4-FFF2-40B4-BE49-F238E27FC236}">
                <a16:creationId xmlns:a16="http://schemas.microsoft.com/office/drawing/2014/main" id="{E8F58B9F-2A69-6E61-6F86-6EF594948909}"/>
              </a:ext>
            </a:extLst>
          </p:cNvPr>
          <p:cNvSpPr/>
          <p:nvPr/>
        </p:nvSpPr>
        <p:spPr>
          <a:xfrm>
            <a:off x="6007778" y="6521588"/>
            <a:ext cx="1564470" cy="219456"/>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566928"/>
          </a:xfrm>
          <a:prstGeom prst="rect">
            <a:avLst/>
          </a:prstGeom>
          <a:noFill/>
        </p:spPr>
        <p:txBody>
          <a:bodyPr wrap="square" lIns="0" tIns="0" rIns="0" bIns="0">
            <a:spAutoFit/>
          </a:bodyPr>
          <a:lstStyle/>
          <a:p>
            <a:pPr algn="l"/>
            <a:r>
              <a:rPr sz="2700" b="1" i="0" dirty="0">
                <a:solidFill>
                  <a:srgbClr val="143052"/>
                </a:solidFill>
                <a:latin typeface="Aptos"/>
              </a:rPr>
              <a:t>Where this talk fits in the session</a:t>
            </a:r>
          </a:p>
        </p:txBody>
      </p:sp>
      <p:sp>
        <p:nvSpPr>
          <p:cNvPr id="5" name="TextBox 4"/>
          <p:cNvSpPr txBox="1"/>
          <p:nvPr/>
        </p:nvSpPr>
        <p:spPr>
          <a:xfrm>
            <a:off x="11201400" y="393192"/>
            <a:ext cx="502920" cy="320040"/>
          </a:xfrm>
          <a:prstGeom prst="rect">
            <a:avLst/>
          </a:prstGeom>
          <a:noFill/>
        </p:spPr>
        <p:txBody>
          <a:bodyPr wrap="square" lIns="0" tIns="0" rIns="0" bIns="0">
            <a:spAutoFit/>
          </a:bodyPr>
          <a:lstStyle/>
          <a:p>
            <a:pPr algn="r"/>
            <a:r>
              <a:rPr sz="1800" b="1" i="0">
                <a:solidFill>
                  <a:srgbClr val="5B6773"/>
                </a:solidFill>
                <a:latin typeface="Aptos"/>
              </a:rPr>
              <a:t>02</a:t>
            </a:r>
          </a:p>
        </p:txBody>
      </p:sp>
      <p:sp>
        <p:nvSpPr>
          <p:cNvPr id="7" name="TextBox 6"/>
          <p:cNvSpPr txBox="1"/>
          <p:nvPr/>
        </p:nvSpPr>
        <p:spPr>
          <a:xfrm>
            <a:off x="502920" y="1064969"/>
            <a:ext cx="10789920" cy="276999"/>
          </a:xfrm>
          <a:prstGeom prst="rect">
            <a:avLst/>
          </a:prstGeom>
          <a:noFill/>
        </p:spPr>
        <p:txBody>
          <a:bodyPr wrap="square" lIns="0" tIns="0" rIns="0" bIns="0">
            <a:spAutoFit/>
          </a:bodyPr>
          <a:lstStyle/>
          <a:p>
            <a:pPr algn="l"/>
            <a:r>
              <a:rPr sz="1800" b="0" i="0" dirty="0">
                <a:solidFill>
                  <a:srgbClr val="5B6773"/>
                </a:solidFill>
                <a:latin typeface="Aptos"/>
              </a:rPr>
              <a:t>Different projects address different links in the same decision-support chain.</a:t>
            </a:r>
          </a:p>
        </p:txBody>
      </p:sp>
      <p:sp>
        <p:nvSpPr>
          <p:cNvPr id="8" name="Rounded Rectangle 7"/>
          <p:cNvSpPr>
            <a:spLocks noGrp="1" noRot="1" noMove="1" noResize="1" noEditPoints="1" noAdjustHandles="1" noChangeArrowheads="1" noChangeShapeType="1"/>
          </p:cNvSpPr>
          <p:nvPr/>
        </p:nvSpPr>
        <p:spPr>
          <a:xfrm>
            <a:off x="79924" y="2933806"/>
            <a:ext cx="2123779" cy="1314135"/>
          </a:xfrm>
          <a:prstGeom prst="roundRect">
            <a:avLst/>
          </a:prstGeom>
          <a:solidFill>
            <a:srgbClr val="FFFFFF"/>
          </a:solidFill>
          <a:ln w="3175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descr="Aerial view of bridge and Hoover Dam over river"/>
          <p:cNvSpPr>
            <a:spLocks noGrp="1" noRot="1" noMove="1" noResize="1" noEditPoints="1" noAdjustHandles="1" noChangeArrowheads="1" noChangeShapeType="1"/>
          </p:cNvSpPr>
          <p:nvPr/>
        </p:nvSpPr>
        <p:spPr>
          <a:xfrm>
            <a:off x="416326" y="1604440"/>
            <a:ext cx="1354837" cy="1307822"/>
          </a:xfrm>
          <a:prstGeom prst="ellipse">
            <a:avLst/>
          </a:prstGeom>
          <a:blipFill dpi="0"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a:fillRect/>
            </a:stretch>
          </a:blipFill>
          <a:ln w="1905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3431" y="1963453"/>
            <a:ext cx="585216" cy="492443"/>
          </a:xfrm>
          <a:prstGeom prst="rect">
            <a:avLst/>
          </a:prstGeom>
          <a:noFill/>
        </p:spPr>
        <p:txBody>
          <a:bodyPr wrap="square" lIns="0" tIns="0" rIns="0" bIns="0">
            <a:spAutoFit/>
          </a:bodyPr>
          <a:lstStyle/>
          <a:p>
            <a:pPr algn="ctr"/>
            <a:r>
              <a:rPr sz="3200" b="1" i="0" dirty="0">
                <a:latin typeface="Aptos"/>
              </a:rPr>
              <a:t>1</a:t>
            </a:r>
          </a:p>
        </p:txBody>
      </p:sp>
      <p:sp>
        <p:nvSpPr>
          <p:cNvPr id="11" name="TextBox 10"/>
          <p:cNvSpPr txBox="1"/>
          <p:nvPr/>
        </p:nvSpPr>
        <p:spPr>
          <a:xfrm>
            <a:off x="224791" y="2990641"/>
            <a:ext cx="1682496" cy="338554"/>
          </a:xfrm>
          <a:prstGeom prst="rect">
            <a:avLst/>
          </a:prstGeom>
          <a:noFill/>
        </p:spPr>
        <p:txBody>
          <a:bodyPr wrap="square" lIns="0" tIns="0" rIns="0" bIns="0">
            <a:spAutoFit/>
          </a:bodyPr>
          <a:lstStyle/>
          <a:p>
            <a:pPr algn="ctr"/>
            <a:r>
              <a:rPr sz="2200" b="1" i="0" dirty="0">
                <a:solidFill>
                  <a:srgbClr val="143052"/>
                </a:solidFill>
                <a:latin typeface="Aptos"/>
              </a:rPr>
              <a:t>CALSIM3</a:t>
            </a:r>
          </a:p>
        </p:txBody>
      </p:sp>
      <p:sp>
        <p:nvSpPr>
          <p:cNvPr id="12" name="TextBox 11"/>
          <p:cNvSpPr txBox="1"/>
          <p:nvPr/>
        </p:nvSpPr>
        <p:spPr>
          <a:xfrm>
            <a:off x="306324" y="3385820"/>
            <a:ext cx="1682496" cy="830997"/>
          </a:xfrm>
          <a:prstGeom prst="rect">
            <a:avLst/>
          </a:prstGeom>
          <a:noFill/>
        </p:spPr>
        <p:txBody>
          <a:bodyPr wrap="square" lIns="0" tIns="0" rIns="0" bIns="0">
            <a:spAutoFit/>
          </a:bodyPr>
          <a:lstStyle/>
          <a:p>
            <a:pPr algn="ctr"/>
            <a:r>
              <a:rPr sz="1800" b="0" i="0" dirty="0">
                <a:solidFill>
                  <a:srgbClr val="5B6773"/>
                </a:solidFill>
                <a:latin typeface="Aptos"/>
              </a:rPr>
              <a:t>Hydrologic forecasts</a:t>
            </a:r>
            <a:br>
              <a:rPr dirty="0"/>
            </a:br>
            <a:r>
              <a:rPr sz="1800" dirty="0"/>
              <a:t>&amp; operations</a:t>
            </a:r>
          </a:p>
        </p:txBody>
      </p:sp>
      <p:sp>
        <p:nvSpPr>
          <p:cNvPr id="13" name="Right Arrow 12"/>
          <p:cNvSpPr/>
          <p:nvPr/>
        </p:nvSpPr>
        <p:spPr>
          <a:xfrm>
            <a:off x="2211662" y="3469863"/>
            <a:ext cx="274320" cy="292608"/>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a:spLocks noGrp="1" noRot="1" noMove="1" noResize="1" noEditPoints="1" noAdjustHandles="1" noChangeArrowheads="1" noChangeShapeType="1"/>
          </p:cNvSpPr>
          <p:nvPr/>
        </p:nvSpPr>
        <p:spPr>
          <a:xfrm>
            <a:off x="2503594" y="2933806"/>
            <a:ext cx="2157985" cy="1375897"/>
          </a:xfrm>
          <a:prstGeom prst="roundRect">
            <a:avLst/>
          </a:prstGeom>
          <a:solidFill>
            <a:srgbClr val="FFFFFF"/>
          </a:solidFill>
          <a:ln w="3175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806868" y="1573599"/>
            <a:ext cx="1433064" cy="1307822"/>
          </a:xfrm>
          <a:prstGeom prst="ellipse">
            <a:avLst/>
          </a:prstGeom>
          <a:blipFill dpi="0"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a:stretch>
              <a:fillRect/>
            </a:stretch>
          </a:blipFill>
          <a:ln w="1905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30792" y="1918979"/>
            <a:ext cx="585216" cy="492443"/>
          </a:xfrm>
          <a:prstGeom prst="rect">
            <a:avLst/>
          </a:prstGeom>
          <a:noFill/>
        </p:spPr>
        <p:txBody>
          <a:bodyPr wrap="square" lIns="0" tIns="0" rIns="0" bIns="0">
            <a:spAutoFit/>
          </a:bodyPr>
          <a:lstStyle/>
          <a:p>
            <a:pPr algn="ctr"/>
            <a:r>
              <a:rPr sz="3200" b="1" i="0" dirty="0">
                <a:solidFill>
                  <a:schemeClr val="bg1"/>
                </a:solidFill>
                <a:latin typeface="Aptos"/>
              </a:rPr>
              <a:t>2</a:t>
            </a:r>
          </a:p>
        </p:txBody>
      </p:sp>
      <p:sp>
        <p:nvSpPr>
          <p:cNvPr id="17" name="TextBox 16"/>
          <p:cNvSpPr txBox="1"/>
          <p:nvPr/>
        </p:nvSpPr>
        <p:spPr>
          <a:xfrm>
            <a:off x="2785363" y="3048781"/>
            <a:ext cx="1682496" cy="338554"/>
          </a:xfrm>
          <a:prstGeom prst="rect">
            <a:avLst/>
          </a:prstGeom>
          <a:noFill/>
        </p:spPr>
        <p:txBody>
          <a:bodyPr wrap="square" lIns="0" tIns="0" rIns="0" bIns="0">
            <a:spAutoFit/>
          </a:bodyPr>
          <a:lstStyle/>
          <a:p>
            <a:pPr algn="ctr"/>
            <a:r>
              <a:rPr lang="en-US" sz="2200" b="1" i="0" dirty="0">
                <a:solidFill>
                  <a:srgbClr val="143052"/>
                </a:solidFill>
                <a:latin typeface="Aptos"/>
              </a:rPr>
              <a:t>ECO-PTM</a:t>
            </a:r>
            <a:endParaRPr sz="2200" b="1" i="0" dirty="0">
              <a:solidFill>
                <a:srgbClr val="143052"/>
              </a:solidFill>
              <a:latin typeface="Aptos"/>
            </a:endParaRPr>
          </a:p>
        </p:txBody>
      </p:sp>
      <p:sp>
        <p:nvSpPr>
          <p:cNvPr id="18" name="TextBox 17"/>
          <p:cNvSpPr txBox="1"/>
          <p:nvPr/>
        </p:nvSpPr>
        <p:spPr>
          <a:xfrm>
            <a:off x="2732107" y="3539987"/>
            <a:ext cx="1682496" cy="553998"/>
          </a:xfrm>
          <a:prstGeom prst="rect">
            <a:avLst/>
          </a:prstGeom>
          <a:noFill/>
        </p:spPr>
        <p:txBody>
          <a:bodyPr wrap="square" lIns="0" tIns="0" rIns="0" bIns="0">
            <a:spAutoFit/>
          </a:bodyPr>
          <a:lstStyle/>
          <a:p>
            <a:pPr algn="ctr"/>
            <a:r>
              <a:rPr sz="1800" b="0" i="0" dirty="0">
                <a:solidFill>
                  <a:srgbClr val="5B6773"/>
                </a:solidFill>
                <a:latin typeface="Aptos"/>
              </a:rPr>
              <a:t>Fish movement</a:t>
            </a:r>
            <a:br>
              <a:rPr dirty="0"/>
            </a:br>
            <a:r>
              <a:rPr sz="1800" dirty="0"/>
              <a:t>&amp; survival</a:t>
            </a:r>
          </a:p>
        </p:txBody>
      </p:sp>
      <p:sp>
        <p:nvSpPr>
          <p:cNvPr id="19" name="Right Arrow 18"/>
          <p:cNvSpPr/>
          <p:nvPr/>
        </p:nvSpPr>
        <p:spPr>
          <a:xfrm>
            <a:off x="4670723" y="3429000"/>
            <a:ext cx="274320" cy="292608"/>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a:spLocks noGrp="1" noRot="1" noMove="1" noResize="1" noEditPoints="1" noAdjustHandles="1" noChangeArrowheads="1" noChangeShapeType="1"/>
          </p:cNvSpPr>
          <p:nvPr/>
        </p:nvSpPr>
        <p:spPr>
          <a:xfrm>
            <a:off x="4945043" y="2933806"/>
            <a:ext cx="2231134" cy="1364722"/>
          </a:xfrm>
          <a:prstGeom prst="roundRect">
            <a:avLst/>
          </a:prstGeom>
          <a:solidFill>
            <a:srgbClr val="FFFFFF"/>
          </a:solidFill>
          <a:ln w="3175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293189" y="1558775"/>
            <a:ext cx="1433064" cy="1312718"/>
          </a:xfrm>
          <a:prstGeom prst="ellipse">
            <a:avLst/>
          </a:prstGeom>
          <a:blipFill dpi="0"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a:stretch>
              <a:fillRect/>
            </a:stretch>
          </a:blipFill>
          <a:ln w="1905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715000" y="2007689"/>
            <a:ext cx="585216" cy="492443"/>
          </a:xfrm>
          <a:prstGeom prst="rect">
            <a:avLst/>
          </a:prstGeom>
          <a:noFill/>
        </p:spPr>
        <p:txBody>
          <a:bodyPr wrap="square" lIns="0" tIns="0" rIns="0" bIns="0">
            <a:spAutoFit/>
          </a:bodyPr>
          <a:lstStyle/>
          <a:p>
            <a:pPr algn="ctr"/>
            <a:r>
              <a:rPr sz="3200" b="1" i="0" dirty="0">
                <a:latin typeface="Aptos"/>
              </a:rPr>
              <a:t>3</a:t>
            </a:r>
          </a:p>
        </p:txBody>
      </p:sp>
      <p:sp>
        <p:nvSpPr>
          <p:cNvPr id="23" name="TextBox 22"/>
          <p:cNvSpPr txBox="1"/>
          <p:nvPr/>
        </p:nvSpPr>
        <p:spPr>
          <a:xfrm>
            <a:off x="5239512" y="2999232"/>
            <a:ext cx="1682496" cy="338554"/>
          </a:xfrm>
          <a:prstGeom prst="rect">
            <a:avLst/>
          </a:prstGeom>
          <a:noFill/>
        </p:spPr>
        <p:txBody>
          <a:bodyPr wrap="square" lIns="0" tIns="0" rIns="0" bIns="0">
            <a:spAutoFit/>
          </a:bodyPr>
          <a:lstStyle/>
          <a:p>
            <a:pPr algn="ctr"/>
            <a:r>
              <a:rPr sz="2200" b="1" i="0" dirty="0">
                <a:solidFill>
                  <a:srgbClr val="143052"/>
                </a:solidFill>
                <a:latin typeface="Aptos"/>
              </a:rPr>
              <a:t>Predation</a:t>
            </a:r>
          </a:p>
        </p:txBody>
      </p:sp>
      <p:sp>
        <p:nvSpPr>
          <p:cNvPr id="24" name="TextBox 23"/>
          <p:cNvSpPr txBox="1"/>
          <p:nvPr/>
        </p:nvSpPr>
        <p:spPr>
          <a:xfrm>
            <a:off x="5219362" y="3453440"/>
            <a:ext cx="1682496" cy="830997"/>
          </a:xfrm>
          <a:prstGeom prst="rect">
            <a:avLst/>
          </a:prstGeom>
          <a:noFill/>
        </p:spPr>
        <p:txBody>
          <a:bodyPr wrap="square" lIns="0" tIns="0" rIns="0" bIns="0">
            <a:spAutoFit/>
          </a:bodyPr>
          <a:lstStyle/>
          <a:p>
            <a:pPr algn="ctr"/>
            <a:r>
              <a:rPr sz="1800" b="0" i="0" dirty="0">
                <a:solidFill>
                  <a:srgbClr val="5B6773"/>
                </a:solidFill>
                <a:latin typeface="Aptos"/>
              </a:rPr>
              <a:t>Experimental</a:t>
            </a:r>
            <a:br>
              <a:rPr dirty="0"/>
            </a:br>
            <a:r>
              <a:rPr sz="1800" dirty="0"/>
              <a:t>survival mechanisms</a:t>
            </a:r>
          </a:p>
        </p:txBody>
      </p:sp>
      <p:sp>
        <p:nvSpPr>
          <p:cNvPr id="26" name="Rounded Rectangle 25"/>
          <p:cNvSpPr>
            <a:spLocks noGrp="1" noRot="1" noMove="1" noResize="1" noEditPoints="1" noAdjustHandles="1" noChangeArrowheads="1" noChangeShapeType="1"/>
          </p:cNvSpPr>
          <p:nvPr/>
        </p:nvSpPr>
        <p:spPr>
          <a:xfrm>
            <a:off x="7475558" y="2933806"/>
            <a:ext cx="2212848" cy="1334242"/>
          </a:xfrm>
          <a:prstGeom prst="roundRect">
            <a:avLst/>
          </a:prstGeom>
          <a:solidFill>
            <a:srgbClr val="FFFFFF"/>
          </a:solidFill>
          <a:ln w="3175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865450" y="1532095"/>
            <a:ext cx="1354837" cy="1372504"/>
          </a:xfrm>
          <a:prstGeom prst="ellipse">
            <a:avLst/>
          </a:prstGeom>
          <a:blipFill dpi="0" rotWithShape="1">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rcRect/>
            <a:stretch>
              <a:fillRect/>
            </a:stretch>
          </a:blipFill>
          <a:ln w="1905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89374" y="1940854"/>
            <a:ext cx="585216" cy="492443"/>
          </a:xfrm>
          <a:prstGeom prst="rect">
            <a:avLst/>
          </a:prstGeom>
          <a:noFill/>
        </p:spPr>
        <p:txBody>
          <a:bodyPr wrap="square" lIns="0" tIns="0" rIns="0" bIns="0">
            <a:spAutoFit/>
          </a:bodyPr>
          <a:lstStyle/>
          <a:p>
            <a:pPr algn="ctr"/>
            <a:r>
              <a:rPr sz="3200" b="1" i="0" dirty="0">
                <a:latin typeface="Aptos"/>
              </a:rPr>
              <a:t>4</a:t>
            </a:r>
          </a:p>
        </p:txBody>
      </p:sp>
      <p:sp>
        <p:nvSpPr>
          <p:cNvPr id="29" name="TextBox 28"/>
          <p:cNvSpPr txBox="1"/>
          <p:nvPr/>
        </p:nvSpPr>
        <p:spPr>
          <a:xfrm>
            <a:off x="7581984" y="3053249"/>
            <a:ext cx="1999997" cy="338554"/>
          </a:xfrm>
          <a:prstGeom prst="rect">
            <a:avLst/>
          </a:prstGeom>
          <a:noFill/>
        </p:spPr>
        <p:txBody>
          <a:bodyPr wrap="square" lIns="0" tIns="0" rIns="0" bIns="0">
            <a:spAutoFit/>
          </a:bodyPr>
          <a:lstStyle/>
          <a:p>
            <a:pPr algn="ctr"/>
            <a:r>
              <a:rPr sz="2200" b="1" i="0" dirty="0">
                <a:solidFill>
                  <a:srgbClr val="143052"/>
                </a:solidFill>
                <a:latin typeface="Aptos"/>
              </a:rPr>
              <a:t>Prey + salinity</a:t>
            </a:r>
          </a:p>
        </p:txBody>
      </p:sp>
      <p:sp>
        <p:nvSpPr>
          <p:cNvPr id="30" name="TextBox 29"/>
          <p:cNvSpPr txBox="1"/>
          <p:nvPr/>
        </p:nvSpPr>
        <p:spPr>
          <a:xfrm>
            <a:off x="7740734" y="3566960"/>
            <a:ext cx="1682496" cy="553998"/>
          </a:xfrm>
          <a:prstGeom prst="rect">
            <a:avLst/>
          </a:prstGeom>
          <a:noFill/>
        </p:spPr>
        <p:txBody>
          <a:bodyPr wrap="square" lIns="0" tIns="0" rIns="0" bIns="0">
            <a:spAutoFit/>
          </a:bodyPr>
          <a:lstStyle/>
          <a:p>
            <a:pPr algn="ctr"/>
            <a:r>
              <a:rPr sz="1800" b="0" i="0" dirty="0">
                <a:solidFill>
                  <a:srgbClr val="5B6773"/>
                </a:solidFill>
                <a:latin typeface="Aptos"/>
              </a:rPr>
              <a:t>Delta smelt prey</a:t>
            </a:r>
            <a:br>
              <a:rPr dirty="0"/>
            </a:br>
            <a:r>
              <a:rPr sz="1800" dirty="0"/>
              <a:t>relationships</a:t>
            </a:r>
          </a:p>
        </p:txBody>
      </p:sp>
      <p:sp>
        <p:nvSpPr>
          <p:cNvPr id="31" name="Right Arrow 30"/>
          <p:cNvSpPr/>
          <p:nvPr/>
        </p:nvSpPr>
        <p:spPr>
          <a:xfrm>
            <a:off x="9679262" y="3453440"/>
            <a:ext cx="274320" cy="292608"/>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a:spLocks noGrp="1" noRot="1" noMove="1" noResize="1" noEditPoints="1" noAdjustHandles="1" noChangeArrowheads="1" noChangeShapeType="1"/>
          </p:cNvSpPr>
          <p:nvPr/>
        </p:nvSpPr>
        <p:spPr>
          <a:xfrm>
            <a:off x="9980338" y="2933806"/>
            <a:ext cx="2154259" cy="1309009"/>
          </a:xfrm>
          <a:prstGeom prst="roundRect">
            <a:avLst/>
          </a:prstGeom>
          <a:solidFill>
            <a:srgbClr val="FFFFFF"/>
          </a:solidFill>
          <a:ln w="31750">
            <a:solidFill>
              <a:srgbClr val="84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293647" y="1585670"/>
            <a:ext cx="1437216" cy="1270443"/>
          </a:xfrm>
          <a:prstGeom prst="ellipse">
            <a:avLst/>
          </a:prstGeom>
          <a:blipFill dpi="0"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a:stretch>
              <a:fillRect/>
            </a:stretch>
          </a:blipFill>
          <a:ln w="19050">
            <a:solidFill>
              <a:srgbClr val="84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764859" y="1947558"/>
            <a:ext cx="585216" cy="492443"/>
          </a:xfrm>
          <a:prstGeom prst="rect">
            <a:avLst/>
          </a:prstGeom>
          <a:noFill/>
        </p:spPr>
        <p:txBody>
          <a:bodyPr wrap="square" lIns="0" tIns="0" rIns="0" bIns="0">
            <a:spAutoFit/>
          </a:bodyPr>
          <a:lstStyle/>
          <a:p>
            <a:pPr algn="ctr"/>
            <a:r>
              <a:rPr sz="3200" b="1" i="0" dirty="0">
                <a:solidFill>
                  <a:schemeClr val="bg1"/>
                </a:solidFill>
                <a:latin typeface="Aptos"/>
              </a:rPr>
              <a:t>5</a:t>
            </a:r>
          </a:p>
        </p:txBody>
      </p:sp>
      <p:sp>
        <p:nvSpPr>
          <p:cNvPr id="35" name="TextBox 34"/>
          <p:cNvSpPr txBox="1"/>
          <p:nvPr/>
        </p:nvSpPr>
        <p:spPr>
          <a:xfrm>
            <a:off x="10216219" y="3008037"/>
            <a:ext cx="1682496" cy="338554"/>
          </a:xfrm>
          <a:prstGeom prst="rect">
            <a:avLst/>
          </a:prstGeom>
          <a:noFill/>
        </p:spPr>
        <p:txBody>
          <a:bodyPr wrap="square" lIns="0" tIns="0" rIns="0" bIns="0">
            <a:spAutoFit/>
          </a:bodyPr>
          <a:lstStyle/>
          <a:p>
            <a:pPr algn="ctr"/>
            <a:r>
              <a:rPr sz="2200" b="1" i="0" dirty="0">
                <a:solidFill>
                  <a:srgbClr val="143052"/>
                </a:solidFill>
                <a:latin typeface="Aptos"/>
              </a:rPr>
              <a:t>THIS TALK</a:t>
            </a:r>
          </a:p>
        </p:txBody>
      </p:sp>
      <p:sp>
        <p:nvSpPr>
          <p:cNvPr id="36" name="TextBox 35"/>
          <p:cNvSpPr txBox="1"/>
          <p:nvPr/>
        </p:nvSpPr>
        <p:spPr>
          <a:xfrm>
            <a:off x="10216219" y="3401488"/>
            <a:ext cx="1682496" cy="830997"/>
          </a:xfrm>
          <a:prstGeom prst="rect">
            <a:avLst/>
          </a:prstGeom>
          <a:noFill/>
        </p:spPr>
        <p:txBody>
          <a:bodyPr wrap="square" lIns="0" tIns="0" rIns="0" bIns="0">
            <a:spAutoFit/>
          </a:bodyPr>
          <a:lstStyle/>
          <a:p>
            <a:pPr algn="ctr"/>
            <a:r>
              <a:rPr sz="1800" b="0" i="0" dirty="0">
                <a:solidFill>
                  <a:srgbClr val="5B6773"/>
                </a:solidFill>
                <a:latin typeface="Aptos"/>
              </a:rPr>
              <a:t>Zooplankton +</a:t>
            </a:r>
            <a:br>
              <a:rPr dirty="0"/>
            </a:br>
            <a:r>
              <a:rPr sz="1800" dirty="0"/>
              <a:t>environmental drivers</a:t>
            </a:r>
          </a:p>
        </p:txBody>
      </p:sp>
      <p:sp>
        <p:nvSpPr>
          <p:cNvPr id="37" name="Rounded Rectangle 36"/>
          <p:cNvSpPr/>
          <p:nvPr/>
        </p:nvSpPr>
        <p:spPr>
          <a:xfrm>
            <a:off x="1645920" y="4617720"/>
            <a:ext cx="8869680" cy="914400"/>
          </a:xfrm>
          <a:prstGeom prst="roundRect">
            <a:avLst/>
          </a:prstGeom>
          <a:solidFill>
            <a:srgbClr val="DEF1F9"/>
          </a:solidFill>
          <a:ln>
            <a:solidFill>
              <a:srgbClr val="DEF1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795611" y="4764024"/>
            <a:ext cx="1554480" cy="615553"/>
          </a:xfrm>
          <a:prstGeom prst="rect">
            <a:avLst/>
          </a:prstGeom>
          <a:noFill/>
        </p:spPr>
        <p:txBody>
          <a:bodyPr wrap="square" lIns="0" tIns="0" rIns="0" bIns="0">
            <a:spAutoFit/>
          </a:bodyPr>
          <a:lstStyle/>
          <a:p>
            <a:pPr algn="l"/>
            <a:r>
              <a:rPr sz="2000" b="1" i="0" dirty="0">
                <a:solidFill>
                  <a:srgbClr val="2A9DA1"/>
                </a:solidFill>
                <a:latin typeface="Aptos"/>
              </a:rPr>
              <a:t>COMMON THREAD</a:t>
            </a:r>
          </a:p>
        </p:txBody>
      </p:sp>
      <p:sp>
        <p:nvSpPr>
          <p:cNvPr id="39" name="TextBox 38"/>
          <p:cNvSpPr txBox="1"/>
          <p:nvPr/>
        </p:nvSpPr>
        <p:spPr>
          <a:xfrm>
            <a:off x="3337560" y="4718304"/>
            <a:ext cx="6675120" cy="553998"/>
          </a:xfrm>
          <a:prstGeom prst="rect">
            <a:avLst/>
          </a:prstGeom>
          <a:noFill/>
        </p:spPr>
        <p:txBody>
          <a:bodyPr wrap="square" lIns="0" tIns="0" rIns="0" bIns="0">
            <a:spAutoFit/>
          </a:bodyPr>
          <a:lstStyle/>
          <a:p>
            <a:pPr algn="l"/>
            <a:r>
              <a:rPr sz="1800" b="1" i="0" dirty="0">
                <a:solidFill>
                  <a:srgbClr val="143052"/>
                </a:solidFill>
                <a:latin typeface="Aptos"/>
              </a:rPr>
              <a:t>Models need biological relationships that are current, interpretable, and connect across disciplines.</a:t>
            </a:r>
          </a:p>
        </p:txBody>
      </p:sp>
      <p:sp>
        <p:nvSpPr>
          <p:cNvPr id="40" name="NAV_0"/>
          <p:cNvSpPr/>
          <p:nvPr/>
        </p:nvSpPr>
        <p:spPr>
          <a:xfrm>
            <a:off x="502920" y="6528816"/>
            <a:ext cx="1225296" cy="219456"/>
          </a:xfrm>
          <a:prstGeom prst="roundRect">
            <a:avLst/>
          </a:prstGeom>
          <a:solidFill>
            <a:srgbClr val="2A7EBE"/>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02920" y="6501384"/>
            <a:ext cx="1225296" cy="277063"/>
          </a:xfrm>
          <a:prstGeom prst="rect">
            <a:avLst/>
          </a:prstGeom>
          <a:noFill/>
        </p:spPr>
        <p:txBody>
          <a:bodyPr wrap="square" lIns="0" tIns="0" rIns="0" bIns="0">
            <a:spAutoFit/>
          </a:bodyPr>
          <a:lstStyle/>
          <a:p>
            <a:pPr algn="ctr"/>
            <a:r>
              <a:rPr sz="1800" b="1" i="0" dirty="0">
                <a:solidFill>
                  <a:srgbClr val="FFFFFF"/>
                </a:solidFill>
                <a:latin typeface="Aptos"/>
              </a:rPr>
              <a:t>STORY</a:t>
            </a:r>
          </a:p>
        </p:txBody>
      </p:sp>
      <p:sp>
        <p:nvSpPr>
          <p:cNvPr id="42"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892808" y="6501384"/>
            <a:ext cx="1225296" cy="277063"/>
          </a:xfrm>
          <a:prstGeom prst="rect">
            <a:avLst/>
          </a:prstGeom>
          <a:noFill/>
        </p:spPr>
        <p:txBody>
          <a:bodyPr wrap="square" lIns="0" tIns="0" rIns="0" bIns="0">
            <a:spAutoFit/>
          </a:bodyPr>
          <a:lstStyle/>
          <a:p>
            <a:pPr algn="ctr"/>
            <a:r>
              <a:rPr sz="1800" b="1" i="0" dirty="0">
                <a:solidFill>
                  <a:srgbClr val="2A9DA1"/>
                </a:solidFill>
                <a:latin typeface="Aptos"/>
              </a:rPr>
              <a:t>SYSTEM</a:t>
            </a:r>
          </a:p>
        </p:txBody>
      </p:sp>
      <p:sp>
        <p:nvSpPr>
          <p:cNvPr id="44"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282696" y="6501384"/>
            <a:ext cx="1225296" cy="277063"/>
          </a:xfrm>
          <a:prstGeom prst="rect">
            <a:avLst/>
          </a:prstGeom>
          <a:noFill/>
        </p:spPr>
        <p:txBody>
          <a:bodyPr wrap="square" lIns="0" tIns="0" rIns="0" bIns="0">
            <a:spAutoFit/>
          </a:bodyPr>
          <a:lstStyle/>
          <a:p>
            <a:pPr algn="ctr"/>
            <a:r>
              <a:rPr sz="1800" b="1" i="0" dirty="0">
                <a:solidFill>
                  <a:srgbClr val="E7AD46"/>
                </a:solidFill>
                <a:latin typeface="Aptos"/>
              </a:rPr>
              <a:t>DATA</a:t>
            </a:r>
          </a:p>
        </p:txBody>
      </p:sp>
      <p:sp>
        <p:nvSpPr>
          <p:cNvPr id="46"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672584" y="6501384"/>
            <a:ext cx="1225296" cy="277063"/>
          </a:xfrm>
          <a:prstGeom prst="rect">
            <a:avLst/>
          </a:prstGeom>
          <a:noFill/>
        </p:spPr>
        <p:txBody>
          <a:bodyPr wrap="square" lIns="0" tIns="0" rIns="0" bIns="0">
            <a:spAutoFit/>
          </a:bodyPr>
          <a:lstStyle/>
          <a:p>
            <a:pPr algn="ctr"/>
            <a:r>
              <a:rPr sz="1800" b="1" i="0" dirty="0">
                <a:solidFill>
                  <a:srgbClr val="E26954"/>
                </a:solidFill>
                <a:latin typeface="Aptos"/>
              </a:rPr>
              <a:t>RESULTS</a:t>
            </a:r>
          </a:p>
        </p:txBody>
      </p:sp>
      <p:sp>
        <p:nvSpPr>
          <p:cNvPr id="49" name="TextBox 48"/>
          <p:cNvSpPr txBox="1"/>
          <p:nvPr/>
        </p:nvSpPr>
        <p:spPr>
          <a:xfrm>
            <a:off x="6030257" y="6501384"/>
            <a:ext cx="1519512"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52" name="NAV_2">
            <a:extLst>
              <a:ext uri="{FF2B5EF4-FFF2-40B4-BE49-F238E27FC236}">
                <a16:creationId xmlns:a16="http://schemas.microsoft.com/office/drawing/2014/main" id="{A5E2989E-1E89-5C58-E811-2B67696D2B25}"/>
              </a:ext>
            </a:extLst>
          </p:cNvPr>
          <p:cNvSpPr/>
          <p:nvPr/>
        </p:nvSpPr>
        <p:spPr>
          <a:xfrm>
            <a:off x="7642055" y="6513986"/>
            <a:ext cx="2535387" cy="227058"/>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a:extLst>
              <a:ext uri="{FF2B5EF4-FFF2-40B4-BE49-F238E27FC236}">
                <a16:creationId xmlns:a16="http://schemas.microsoft.com/office/drawing/2014/main" id="{80362251-3DA7-8446-4510-BC67F87D4281}"/>
              </a:ext>
            </a:extLst>
          </p:cNvPr>
          <p:cNvSpPr txBox="1"/>
          <p:nvPr/>
        </p:nvSpPr>
        <p:spPr>
          <a:xfrm>
            <a:off x="7594727" y="6501384"/>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
        <p:nvSpPr>
          <p:cNvPr id="25" name="Right Arrow 24"/>
          <p:cNvSpPr/>
          <p:nvPr/>
        </p:nvSpPr>
        <p:spPr>
          <a:xfrm>
            <a:off x="7167033" y="3457843"/>
            <a:ext cx="274320" cy="292608"/>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5ADDD15D-987F-FB61-D99F-E48EB9290C87}"/>
              </a:ext>
            </a:extLst>
          </p:cNvPr>
          <p:cNvPicPr>
            <a:picLocks noChangeAspect="1"/>
          </p:cNvPicPr>
          <p:nvPr/>
        </p:nvPicPr>
        <p:blipFill>
          <a:blip r:embed="rId2"/>
          <a:srcRect t="17229" b="7785"/>
          <a:stretch>
            <a:fillRect/>
          </a:stretch>
        </p:blipFill>
        <p:spPr>
          <a:xfrm>
            <a:off x="20" y="1282"/>
            <a:ext cx="12191980" cy="6856718"/>
          </a:xfrm>
          <a:prstGeom prst="rect">
            <a:avLst/>
          </a:prstGeom>
        </p:spPr>
      </p:pic>
    </p:spTree>
    <p:extLst>
      <p:ext uri="{BB962C8B-B14F-4D97-AF65-F5344CB8AC3E}">
        <p14:creationId xmlns:p14="http://schemas.microsoft.com/office/powerpoint/2010/main" val="1841182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NAV_2">
            <a:extLst>
              <a:ext uri="{FF2B5EF4-FFF2-40B4-BE49-F238E27FC236}">
                <a16:creationId xmlns:a16="http://schemas.microsoft.com/office/drawing/2014/main" id="{F8B18B2C-9EC1-B14E-E3CF-F0733B22250F}"/>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566928"/>
          </a:xfrm>
          <a:prstGeom prst="rect">
            <a:avLst/>
          </a:prstGeom>
          <a:noFill/>
        </p:spPr>
        <p:txBody>
          <a:bodyPr wrap="square" lIns="0" tIns="0" rIns="0" bIns="0">
            <a:spAutoFit/>
          </a:bodyPr>
          <a:lstStyle/>
          <a:p>
            <a:pPr algn="l"/>
            <a:r>
              <a:rPr sz="2700" b="1" i="0" dirty="0">
                <a:solidFill>
                  <a:srgbClr val="143052"/>
                </a:solidFill>
                <a:latin typeface="Aptos"/>
              </a:rPr>
              <a:t>The modeling problem</a:t>
            </a:r>
          </a:p>
        </p:txBody>
      </p:sp>
      <p:sp>
        <p:nvSpPr>
          <p:cNvPr id="5" name="TextBox 4"/>
          <p:cNvSpPr txBox="1"/>
          <p:nvPr/>
        </p:nvSpPr>
        <p:spPr>
          <a:xfrm>
            <a:off x="11201400" y="393192"/>
            <a:ext cx="502920" cy="320040"/>
          </a:xfrm>
          <a:prstGeom prst="rect">
            <a:avLst/>
          </a:prstGeom>
          <a:noFill/>
        </p:spPr>
        <p:txBody>
          <a:bodyPr wrap="square" lIns="0" tIns="0" rIns="0" bIns="0">
            <a:spAutoFit/>
          </a:bodyPr>
          <a:lstStyle/>
          <a:p>
            <a:pPr algn="r"/>
            <a:r>
              <a:rPr sz="1800" b="1" i="0">
                <a:solidFill>
                  <a:srgbClr val="5B6773"/>
                </a:solidFill>
                <a:latin typeface="Aptos"/>
              </a:rPr>
              <a:t>03</a:t>
            </a:r>
          </a:p>
        </p:txBody>
      </p:sp>
      <p:sp>
        <p:nvSpPr>
          <p:cNvPr id="7" name="TextBox 6"/>
          <p:cNvSpPr txBox="1"/>
          <p:nvPr/>
        </p:nvSpPr>
        <p:spPr>
          <a:xfrm>
            <a:off x="502920" y="1234440"/>
            <a:ext cx="10515600" cy="411480"/>
          </a:xfrm>
          <a:prstGeom prst="rect">
            <a:avLst/>
          </a:prstGeom>
          <a:noFill/>
        </p:spPr>
        <p:txBody>
          <a:bodyPr wrap="square" lIns="0" tIns="0" rIns="0" bIns="0">
            <a:spAutoFit/>
          </a:bodyPr>
          <a:lstStyle/>
          <a:p>
            <a:pPr algn="l"/>
            <a:r>
              <a:rPr sz="2000" b="1" i="0" dirty="0">
                <a:solidFill>
                  <a:srgbClr val="143052"/>
                </a:solidFill>
                <a:latin typeface="Aptos"/>
              </a:rPr>
              <a:t>Predicting water conditions is not the same as predicting ecosystem response.</a:t>
            </a:r>
          </a:p>
        </p:txBody>
      </p:sp>
      <p:sp>
        <p:nvSpPr>
          <p:cNvPr id="8" name="Rounded Rectangle 7"/>
          <p:cNvSpPr/>
          <p:nvPr/>
        </p:nvSpPr>
        <p:spPr>
          <a:xfrm>
            <a:off x="685800" y="2148840"/>
            <a:ext cx="3246120" cy="2057400"/>
          </a:xfrm>
          <a:prstGeom prst="roundRect">
            <a:avLst/>
          </a:prstGeom>
          <a:solidFill>
            <a:srgbClr val="FFFFFF"/>
          </a:solidFill>
          <a:ln w="2794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404872"/>
            <a:ext cx="548640" cy="274320"/>
          </a:xfrm>
          <a:prstGeom prst="rect">
            <a:avLst/>
          </a:prstGeom>
          <a:noFill/>
        </p:spPr>
        <p:txBody>
          <a:bodyPr wrap="square" lIns="0" tIns="0" rIns="0" bIns="0">
            <a:spAutoFit/>
          </a:bodyPr>
          <a:lstStyle/>
          <a:p>
            <a:pPr algn="l"/>
            <a:r>
              <a:rPr sz="1800" b="1" i="0">
                <a:solidFill>
                  <a:srgbClr val="2A7EBE"/>
                </a:solidFill>
                <a:latin typeface="Aptos"/>
              </a:rPr>
              <a:t>01</a:t>
            </a:r>
          </a:p>
        </p:txBody>
      </p:sp>
      <p:sp>
        <p:nvSpPr>
          <p:cNvPr id="10" name="TextBox 9"/>
          <p:cNvSpPr txBox="1"/>
          <p:nvPr/>
        </p:nvSpPr>
        <p:spPr>
          <a:xfrm>
            <a:off x="914400" y="2816352"/>
            <a:ext cx="2651760" cy="320040"/>
          </a:xfrm>
          <a:prstGeom prst="rect">
            <a:avLst/>
          </a:prstGeom>
          <a:noFill/>
        </p:spPr>
        <p:txBody>
          <a:bodyPr wrap="square" lIns="0" tIns="0" rIns="0" bIns="0">
            <a:spAutoFit/>
          </a:bodyPr>
          <a:lstStyle/>
          <a:p>
            <a:pPr algn="l"/>
            <a:r>
              <a:rPr sz="1800" b="1" i="0">
                <a:solidFill>
                  <a:srgbClr val="143052"/>
                </a:solidFill>
                <a:latin typeface="Aptos"/>
              </a:rPr>
              <a:t>MANAGEMENT</a:t>
            </a:r>
          </a:p>
        </p:txBody>
      </p:sp>
      <p:sp>
        <p:nvSpPr>
          <p:cNvPr id="11" name="TextBox 10"/>
          <p:cNvSpPr txBox="1"/>
          <p:nvPr/>
        </p:nvSpPr>
        <p:spPr>
          <a:xfrm>
            <a:off x="914400" y="3310128"/>
            <a:ext cx="2651760" cy="411480"/>
          </a:xfrm>
          <a:prstGeom prst="rect">
            <a:avLst/>
          </a:prstGeom>
          <a:noFill/>
        </p:spPr>
        <p:txBody>
          <a:bodyPr wrap="square" lIns="0" tIns="0" rIns="0" bIns="0">
            <a:spAutoFit/>
          </a:bodyPr>
          <a:lstStyle/>
          <a:p>
            <a:pPr algn="l"/>
            <a:r>
              <a:rPr sz="1800" b="0" i="0" dirty="0">
                <a:solidFill>
                  <a:srgbClr val="5B6773"/>
                </a:solidFill>
                <a:latin typeface="Aptos"/>
              </a:rPr>
              <a:t>Flow • exports • salinity</a:t>
            </a:r>
          </a:p>
        </p:txBody>
      </p:sp>
      <p:sp>
        <p:nvSpPr>
          <p:cNvPr id="12" name="Right Arrow 11"/>
          <p:cNvSpPr/>
          <p:nvPr/>
        </p:nvSpPr>
        <p:spPr>
          <a:xfrm>
            <a:off x="3977639" y="2999232"/>
            <a:ext cx="411480" cy="320040"/>
          </a:xfrm>
          <a:prstGeom prst="rightArrow">
            <a:avLst/>
          </a:prstGeom>
          <a:solidFill>
            <a:srgbClr val="2A7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480560" y="2148840"/>
            <a:ext cx="3246120" cy="2057400"/>
          </a:xfrm>
          <a:prstGeom prst="roundRect">
            <a:avLst/>
          </a:prstGeom>
          <a:solidFill>
            <a:srgbClr val="FFFFFF"/>
          </a:solidFill>
          <a:ln w="2794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09160" y="2404872"/>
            <a:ext cx="548640" cy="274320"/>
          </a:xfrm>
          <a:prstGeom prst="rect">
            <a:avLst/>
          </a:prstGeom>
          <a:noFill/>
        </p:spPr>
        <p:txBody>
          <a:bodyPr wrap="square" lIns="0" tIns="0" rIns="0" bIns="0">
            <a:spAutoFit/>
          </a:bodyPr>
          <a:lstStyle/>
          <a:p>
            <a:pPr algn="l"/>
            <a:r>
              <a:rPr sz="1800" b="1" i="0">
                <a:solidFill>
                  <a:srgbClr val="2A9DA1"/>
                </a:solidFill>
                <a:latin typeface="Aptos"/>
              </a:rPr>
              <a:t>02</a:t>
            </a:r>
          </a:p>
        </p:txBody>
      </p:sp>
      <p:sp>
        <p:nvSpPr>
          <p:cNvPr id="15" name="TextBox 14"/>
          <p:cNvSpPr txBox="1"/>
          <p:nvPr/>
        </p:nvSpPr>
        <p:spPr>
          <a:xfrm>
            <a:off x="4709160" y="2816352"/>
            <a:ext cx="2651760" cy="320040"/>
          </a:xfrm>
          <a:prstGeom prst="rect">
            <a:avLst/>
          </a:prstGeom>
          <a:noFill/>
        </p:spPr>
        <p:txBody>
          <a:bodyPr wrap="square" lIns="0" tIns="0" rIns="0" bIns="0">
            <a:spAutoFit/>
          </a:bodyPr>
          <a:lstStyle/>
          <a:p>
            <a:pPr algn="l"/>
            <a:r>
              <a:rPr sz="1800" b="1" i="0">
                <a:solidFill>
                  <a:srgbClr val="143052"/>
                </a:solidFill>
                <a:latin typeface="Aptos"/>
              </a:rPr>
              <a:t>ENVIRONMENT</a:t>
            </a:r>
          </a:p>
        </p:txBody>
      </p:sp>
      <p:sp>
        <p:nvSpPr>
          <p:cNvPr id="16" name="TextBox 15"/>
          <p:cNvSpPr txBox="1"/>
          <p:nvPr/>
        </p:nvSpPr>
        <p:spPr>
          <a:xfrm>
            <a:off x="4709160" y="3310128"/>
            <a:ext cx="2651760" cy="411480"/>
          </a:xfrm>
          <a:prstGeom prst="rect">
            <a:avLst/>
          </a:prstGeom>
          <a:noFill/>
        </p:spPr>
        <p:txBody>
          <a:bodyPr wrap="square" lIns="0" tIns="0" rIns="0" bIns="0">
            <a:spAutoFit/>
          </a:bodyPr>
          <a:lstStyle/>
          <a:p>
            <a:pPr algn="l"/>
            <a:r>
              <a:rPr sz="1800" b="0" i="0">
                <a:solidFill>
                  <a:srgbClr val="5B6773"/>
                </a:solidFill>
                <a:latin typeface="Aptos"/>
              </a:rPr>
              <a:t>Conditions organisms experience</a:t>
            </a:r>
          </a:p>
        </p:txBody>
      </p:sp>
      <p:sp>
        <p:nvSpPr>
          <p:cNvPr id="17" name="Right Arrow 16"/>
          <p:cNvSpPr/>
          <p:nvPr/>
        </p:nvSpPr>
        <p:spPr>
          <a:xfrm>
            <a:off x="7772400" y="2999232"/>
            <a:ext cx="411480" cy="320040"/>
          </a:xfrm>
          <a:prstGeom prst="rightArrow">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275320" y="2148840"/>
            <a:ext cx="3246120" cy="2057400"/>
          </a:xfrm>
          <a:prstGeom prst="roundRect">
            <a:avLst/>
          </a:prstGeom>
          <a:solidFill>
            <a:srgbClr val="FFFFFF"/>
          </a:solidFill>
          <a:ln w="2794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03920" y="2404872"/>
            <a:ext cx="548640" cy="274320"/>
          </a:xfrm>
          <a:prstGeom prst="rect">
            <a:avLst/>
          </a:prstGeom>
          <a:noFill/>
        </p:spPr>
        <p:txBody>
          <a:bodyPr wrap="square" lIns="0" tIns="0" rIns="0" bIns="0">
            <a:spAutoFit/>
          </a:bodyPr>
          <a:lstStyle/>
          <a:p>
            <a:pPr algn="l"/>
            <a:r>
              <a:rPr sz="1800" b="1" i="0">
                <a:solidFill>
                  <a:srgbClr val="E26954"/>
                </a:solidFill>
                <a:latin typeface="Aptos"/>
              </a:rPr>
              <a:t>03</a:t>
            </a:r>
          </a:p>
        </p:txBody>
      </p:sp>
      <p:sp>
        <p:nvSpPr>
          <p:cNvPr id="20" name="TextBox 19"/>
          <p:cNvSpPr txBox="1"/>
          <p:nvPr/>
        </p:nvSpPr>
        <p:spPr>
          <a:xfrm>
            <a:off x="8503920" y="2816352"/>
            <a:ext cx="2651760" cy="320040"/>
          </a:xfrm>
          <a:prstGeom prst="rect">
            <a:avLst/>
          </a:prstGeom>
          <a:noFill/>
        </p:spPr>
        <p:txBody>
          <a:bodyPr wrap="square" lIns="0" tIns="0" rIns="0" bIns="0">
            <a:spAutoFit/>
          </a:bodyPr>
          <a:lstStyle/>
          <a:p>
            <a:pPr algn="l"/>
            <a:r>
              <a:rPr sz="1800" b="1" i="0">
                <a:solidFill>
                  <a:srgbClr val="143052"/>
                </a:solidFill>
                <a:latin typeface="Aptos"/>
              </a:rPr>
              <a:t>BIOLOGY</a:t>
            </a:r>
          </a:p>
        </p:txBody>
      </p:sp>
      <p:sp>
        <p:nvSpPr>
          <p:cNvPr id="21" name="TextBox 20"/>
          <p:cNvSpPr txBox="1"/>
          <p:nvPr/>
        </p:nvSpPr>
        <p:spPr>
          <a:xfrm>
            <a:off x="8503920" y="3310128"/>
            <a:ext cx="2651760" cy="411480"/>
          </a:xfrm>
          <a:prstGeom prst="rect">
            <a:avLst/>
          </a:prstGeom>
          <a:noFill/>
        </p:spPr>
        <p:txBody>
          <a:bodyPr wrap="square" lIns="0" tIns="0" rIns="0" bIns="0">
            <a:spAutoFit/>
          </a:bodyPr>
          <a:lstStyle/>
          <a:p>
            <a:pPr algn="l"/>
            <a:r>
              <a:rPr sz="1800" b="0" i="0">
                <a:solidFill>
                  <a:srgbClr val="5B6773"/>
                </a:solidFill>
                <a:latin typeface="Aptos"/>
              </a:rPr>
              <a:t>Abundance • distribution • survival</a:t>
            </a:r>
          </a:p>
        </p:txBody>
      </p:sp>
      <p:sp>
        <p:nvSpPr>
          <p:cNvPr id="22" name="Rounded Rectangle 21"/>
          <p:cNvSpPr/>
          <p:nvPr/>
        </p:nvSpPr>
        <p:spPr>
          <a:xfrm>
            <a:off x="1965960" y="4800600"/>
            <a:ext cx="8229600" cy="822960"/>
          </a:xfrm>
          <a:prstGeom prst="roundRect">
            <a:avLst/>
          </a:prstGeom>
          <a:solidFill>
            <a:srgbClr val="FFFFFF"/>
          </a:solidFill>
          <a:ln w="254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079413" y="4923197"/>
            <a:ext cx="1280160" cy="553998"/>
          </a:xfrm>
          <a:prstGeom prst="rect">
            <a:avLst/>
          </a:prstGeom>
          <a:noFill/>
        </p:spPr>
        <p:txBody>
          <a:bodyPr wrap="square" lIns="0" tIns="0" rIns="0" bIns="0">
            <a:spAutoFit/>
          </a:bodyPr>
          <a:lstStyle/>
          <a:p>
            <a:pPr algn="ctr"/>
            <a:r>
              <a:rPr sz="1800" b="1" i="0" dirty="0">
                <a:solidFill>
                  <a:srgbClr val="E7AD46"/>
                </a:solidFill>
                <a:latin typeface="Aptos"/>
              </a:rPr>
              <a:t>MY QUESTION</a:t>
            </a:r>
          </a:p>
        </p:txBody>
      </p:sp>
      <p:sp>
        <p:nvSpPr>
          <p:cNvPr id="24" name="TextBox 23"/>
          <p:cNvSpPr txBox="1"/>
          <p:nvPr/>
        </p:nvSpPr>
        <p:spPr>
          <a:xfrm>
            <a:off x="3611880" y="4901184"/>
            <a:ext cx="6126480" cy="615553"/>
          </a:xfrm>
          <a:prstGeom prst="rect">
            <a:avLst/>
          </a:prstGeom>
          <a:noFill/>
        </p:spPr>
        <p:txBody>
          <a:bodyPr wrap="square" lIns="0" tIns="0" rIns="0" bIns="0">
            <a:spAutoFit/>
          </a:bodyPr>
          <a:lstStyle/>
          <a:p>
            <a:pPr algn="l"/>
            <a:r>
              <a:rPr sz="2000" b="1" i="0" dirty="0">
                <a:solidFill>
                  <a:srgbClr val="143052"/>
                </a:solidFill>
                <a:latin typeface="Aptos"/>
              </a:rPr>
              <a:t>How do environmental conditions relate to zooplankton abundance and spatial distribution?</a:t>
            </a:r>
          </a:p>
        </p:txBody>
      </p:sp>
      <p:sp>
        <p:nvSpPr>
          <p:cNvPr id="25" name="NAV_0"/>
          <p:cNvSpPr/>
          <p:nvPr/>
        </p:nvSpPr>
        <p:spPr>
          <a:xfrm>
            <a:off x="502920" y="6528816"/>
            <a:ext cx="1225296" cy="219456"/>
          </a:xfrm>
          <a:prstGeom prst="roundRect">
            <a:avLst/>
          </a:prstGeom>
          <a:solidFill>
            <a:srgbClr val="2A7EBE"/>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FFFFFF"/>
                </a:solidFill>
                <a:latin typeface="Aptos"/>
              </a:rPr>
              <a:t>STORY</a:t>
            </a:r>
          </a:p>
        </p:txBody>
      </p:sp>
      <p:sp>
        <p:nvSpPr>
          <p:cNvPr id="27"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2A9DA1"/>
                </a:solidFill>
                <a:latin typeface="Aptos"/>
              </a:rPr>
              <a:t>SYSTEM</a:t>
            </a:r>
          </a:p>
        </p:txBody>
      </p:sp>
      <p:sp>
        <p:nvSpPr>
          <p:cNvPr id="29"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E7AD46"/>
                </a:solidFill>
                <a:latin typeface="Aptos"/>
              </a:rPr>
              <a:t>DATA</a:t>
            </a:r>
          </a:p>
        </p:txBody>
      </p:sp>
      <p:sp>
        <p:nvSpPr>
          <p:cNvPr id="31"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E26954"/>
                </a:solidFill>
                <a:latin typeface="Aptos"/>
              </a:rPr>
              <a:t>RESULTS</a:t>
            </a:r>
          </a:p>
        </p:txBody>
      </p:sp>
      <p:sp>
        <p:nvSpPr>
          <p:cNvPr id="33" name="NAV_4"/>
          <p:cNvSpPr/>
          <p:nvPr/>
        </p:nvSpPr>
        <p:spPr>
          <a:xfrm>
            <a:off x="6062471" y="6528816"/>
            <a:ext cx="1547029" cy="219456"/>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035040" y="6501384"/>
            <a:ext cx="1574461"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6" name="TextBox 5">
            <a:extLst>
              <a:ext uri="{FF2B5EF4-FFF2-40B4-BE49-F238E27FC236}">
                <a16:creationId xmlns:a16="http://schemas.microsoft.com/office/drawing/2014/main" id="{C91F55E1-6DC6-8D1F-3A74-CF458DACA552}"/>
              </a:ext>
            </a:extLst>
          </p:cNvPr>
          <p:cNvSpPr txBox="1"/>
          <p:nvPr/>
        </p:nvSpPr>
        <p:spPr>
          <a:xfrm>
            <a:off x="7695881" y="6501384"/>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NAV_2">
            <a:extLst>
              <a:ext uri="{FF2B5EF4-FFF2-40B4-BE49-F238E27FC236}">
                <a16:creationId xmlns:a16="http://schemas.microsoft.com/office/drawing/2014/main" id="{FDD28052-ED11-EC0D-6959-CEE37998FEA1}"/>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566928"/>
          </a:xfrm>
          <a:prstGeom prst="rect">
            <a:avLst/>
          </a:prstGeom>
          <a:noFill/>
        </p:spPr>
        <p:txBody>
          <a:bodyPr wrap="square" lIns="0" tIns="0" rIns="0" bIns="0">
            <a:spAutoFit/>
          </a:bodyPr>
          <a:lstStyle/>
          <a:p>
            <a:pPr algn="l"/>
            <a:r>
              <a:rPr sz="2700" b="1" i="0">
                <a:solidFill>
                  <a:srgbClr val="143052"/>
                </a:solidFill>
                <a:latin typeface="Aptos"/>
              </a:rPr>
              <a:t>Connecting the projects</a:t>
            </a:r>
          </a:p>
        </p:txBody>
      </p:sp>
      <p:sp>
        <p:nvSpPr>
          <p:cNvPr id="5" name="TextBox 4"/>
          <p:cNvSpPr txBox="1"/>
          <p:nvPr/>
        </p:nvSpPr>
        <p:spPr>
          <a:xfrm>
            <a:off x="11201400" y="393192"/>
            <a:ext cx="502920" cy="320040"/>
          </a:xfrm>
          <a:prstGeom prst="rect">
            <a:avLst/>
          </a:prstGeom>
          <a:noFill/>
        </p:spPr>
        <p:txBody>
          <a:bodyPr wrap="square" lIns="0" tIns="0" rIns="0" bIns="0">
            <a:spAutoFit/>
          </a:bodyPr>
          <a:lstStyle/>
          <a:p>
            <a:pPr algn="r"/>
            <a:r>
              <a:rPr sz="1800" b="1" i="0">
                <a:solidFill>
                  <a:srgbClr val="5B6773"/>
                </a:solidFill>
                <a:latin typeface="Aptos"/>
              </a:rPr>
              <a:t>04</a:t>
            </a:r>
          </a:p>
        </p:txBody>
      </p:sp>
      <p:sp>
        <p:nvSpPr>
          <p:cNvPr id="7" name="TextBox 6"/>
          <p:cNvSpPr txBox="1"/>
          <p:nvPr/>
        </p:nvSpPr>
        <p:spPr>
          <a:xfrm>
            <a:off x="502920" y="1234440"/>
            <a:ext cx="10607040" cy="261610"/>
          </a:xfrm>
          <a:prstGeom prst="rect">
            <a:avLst/>
          </a:prstGeom>
          <a:noFill/>
        </p:spPr>
        <p:txBody>
          <a:bodyPr wrap="square" lIns="0" tIns="0" rIns="0" bIns="0">
            <a:spAutoFit/>
          </a:bodyPr>
          <a:lstStyle/>
          <a:p>
            <a:pPr algn="l"/>
            <a:r>
              <a:rPr sz="1800" b="0" i="0" dirty="0">
                <a:solidFill>
                  <a:srgbClr val="5B6773"/>
                </a:solidFill>
                <a:latin typeface="Aptos"/>
              </a:rPr>
              <a:t>Think of the session as a chain</a:t>
            </a:r>
            <a:r>
              <a:rPr lang="en-US" sz="1800" b="0" i="0" dirty="0">
                <a:solidFill>
                  <a:srgbClr val="5B6773"/>
                </a:solidFill>
                <a:latin typeface="Aptos"/>
              </a:rPr>
              <a:t>, </a:t>
            </a:r>
            <a:r>
              <a:rPr sz="1800" b="0" i="0" dirty="0">
                <a:solidFill>
                  <a:srgbClr val="5B6773"/>
                </a:solidFill>
                <a:latin typeface="Aptos"/>
              </a:rPr>
              <a:t>not a collection of separate models.</a:t>
            </a:r>
          </a:p>
        </p:txBody>
      </p:sp>
      <p:sp>
        <p:nvSpPr>
          <p:cNvPr id="8" name="Rounded Rectangle 7"/>
          <p:cNvSpPr/>
          <p:nvPr/>
        </p:nvSpPr>
        <p:spPr>
          <a:xfrm>
            <a:off x="502920" y="2331720"/>
            <a:ext cx="1572768" cy="2264146"/>
          </a:xfrm>
          <a:prstGeom prst="roundRect">
            <a:avLst/>
          </a:prstGeom>
          <a:solidFill>
            <a:srgbClr val="FFFFFF"/>
          </a:solidFill>
          <a:ln w="254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7492" y="3595394"/>
            <a:ext cx="1563624" cy="553998"/>
          </a:xfrm>
          <a:prstGeom prst="rect">
            <a:avLst/>
          </a:prstGeom>
          <a:noFill/>
        </p:spPr>
        <p:txBody>
          <a:bodyPr wrap="square" lIns="0" tIns="0" rIns="0" bIns="0">
            <a:spAutoFit/>
          </a:bodyPr>
          <a:lstStyle/>
          <a:p>
            <a:pPr algn="ctr"/>
            <a:r>
              <a:rPr sz="1750" b="1" i="0" dirty="0">
                <a:solidFill>
                  <a:srgbClr val="143052"/>
                </a:solidFill>
                <a:latin typeface="Aptos"/>
              </a:rPr>
              <a:t>MANAGEMENT</a:t>
            </a:r>
            <a:br>
              <a:rPr dirty="0"/>
            </a:br>
            <a:r>
              <a:rPr sz="1800" dirty="0"/>
              <a:t>SCENARIOS</a:t>
            </a:r>
          </a:p>
        </p:txBody>
      </p:sp>
      <p:sp>
        <p:nvSpPr>
          <p:cNvPr id="11" name="TextBox 10"/>
          <p:cNvSpPr txBox="1"/>
          <p:nvPr/>
        </p:nvSpPr>
        <p:spPr>
          <a:xfrm>
            <a:off x="612648" y="4192524"/>
            <a:ext cx="1353312" cy="228600"/>
          </a:xfrm>
          <a:prstGeom prst="rect">
            <a:avLst/>
          </a:prstGeom>
          <a:noFill/>
        </p:spPr>
        <p:txBody>
          <a:bodyPr wrap="square" lIns="0" tIns="0" rIns="0" bIns="0">
            <a:spAutoFit/>
          </a:bodyPr>
          <a:lstStyle/>
          <a:p>
            <a:pPr algn="ctr"/>
            <a:r>
              <a:rPr sz="1800" b="0" i="0" dirty="0">
                <a:solidFill>
                  <a:srgbClr val="5B6773"/>
                </a:solidFill>
                <a:latin typeface="Aptos"/>
              </a:rPr>
              <a:t>CALSIM3</a:t>
            </a:r>
          </a:p>
        </p:txBody>
      </p:sp>
      <p:sp>
        <p:nvSpPr>
          <p:cNvPr id="12" name="Right Arrow 11"/>
          <p:cNvSpPr/>
          <p:nvPr/>
        </p:nvSpPr>
        <p:spPr>
          <a:xfrm>
            <a:off x="2103120" y="3127248"/>
            <a:ext cx="274320" cy="274320"/>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2423160" y="2331720"/>
            <a:ext cx="1572768" cy="2264146"/>
          </a:xfrm>
          <a:prstGeom prst="roundRect">
            <a:avLst/>
          </a:prstGeom>
          <a:solidFill>
            <a:srgbClr val="FFFFFF"/>
          </a:solidFill>
          <a:ln w="254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706624" y="2518270"/>
            <a:ext cx="969264" cy="967578"/>
          </a:xfrm>
          <a:prstGeom prst="ellipse">
            <a:avLst/>
          </a:prstGeom>
          <a:blipFill dpi="0"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a:fillRect/>
            </a:stretch>
          </a:blipFill>
          <a:ln w="1905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42032" y="3637626"/>
            <a:ext cx="1353312" cy="502920"/>
          </a:xfrm>
          <a:prstGeom prst="rect">
            <a:avLst/>
          </a:prstGeom>
          <a:noFill/>
        </p:spPr>
        <p:txBody>
          <a:bodyPr wrap="square" lIns="0" tIns="0" rIns="0" bIns="0">
            <a:spAutoFit/>
          </a:bodyPr>
          <a:lstStyle/>
          <a:p>
            <a:pPr algn="ctr"/>
            <a:r>
              <a:rPr sz="1800" b="1" i="0" dirty="0">
                <a:solidFill>
                  <a:srgbClr val="143052"/>
                </a:solidFill>
                <a:latin typeface="Aptos"/>
              </a:rPr>
              <a:t>FLOW /</a:t>
            </a:r>
            <a:br>
              <a:rPr dirty="0"/>
            </a:br>
            <a:r>
              <a:rPr sz="1800" dirty="0"/>
              <a:t>SALINITY</a:t>
            </a:r>
          </a:p>
        </p:txBody>
      </p:sp>
      <p:sp>
        <p:nvSpPr>
          <p:cNvPr id="16" name="TextBox 15"/>
          <p:cNvSpPr txBox="1"/>
          <p:nvPr/>
        </p:nvSpPr>
        <p:spPr>
          <a:xfrm>
            <a:off x="2542032" y="4203191"/>
            <a:ext cx="1353312" cy="228600"/>
          </a:xfrm>
          <a:prstGeom prst="rect">
            <a:avLst/>
          </a:prstGeom>
          <a:noFill/>
        </p:spPr>
        <p:txBody>
          <a:bodyPr wrap="square" lIns="0" tIns="0" rIns="0" bIns="0">
            <a:spAutoFit/>
          </a:bodyPr>
          <a:lstStyle/>
          <a:p>
            <a:pPr algn="ctr"/>
            <a:r>
              <a:rPr sz="1800" b="0" i="0" dirty="0">
                <a:solidFill>
                  <a:srgbClr val="5B6773"/>
                </a:solidFill>
                <a:latin typeface="Aptos"/>
              </a:rPr>
              <a:t>Hydrology</a:t>
            </a:r>
          </a:p>
        </p:txBody>
      </p:sp>
      <p:sp>
        <p:nvSpPr>
          <p:cNvPr id="17" name="Right Arrow 16"/>
          <p:cNvSpPr/>
          <p:nvPr/>
        </p:nvSpPr>
        <p:spPr>
          <a:xfrm>
            <a:off x="4023360" y="3127248"/>
            <a:ext cx="274320" cy="274320"/>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343400" y="2331719"/>
            <a:ext cx="1572768" cy="2264145"/>
          </a:xfrm>
          <a:prstGeom prst="roundRect">
            <a:avLst/>
          </a:prstGeom>
          <a:solidFill>
            <a:srgbClr val="FFFFFF"/>
          </a:solidFill>
          <a:ln w="25400">
            <a:solidFill>
              <a:srgbClr val="84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53128" y="3614588"/>
            <a:ext cx="1353312" cy="502920"/>
          </a:xfrm>
          <a:prstGeom prst="rect">
            <a:avLst/>
          </a:prstGeom>
          <a:noFill/>
        </p:spPr>
        <p:txBody>
          <a:bodyPr wrap="square" lIns="0" tIns="0" rIns="0" bIns="0">
            <a:spAutoFit/>
          </a:bodyPr>
          <a:lstStyle/>
          <a:p>
            <a:pPr algn="ctr"/>
            <a:r>
              <a:rPr sz="1800" b="1" i="0" dirty="0">
                <a:solidFill>
                  <a:srgbClr val="143052"/>
                </a:solidFill>
                <a:latin typeface="Aptos"/>
              </a:rPr>
              <a:t>HABITAT /</a:t>
            </a:r>
            <a:br>
              <a:rPr dirty="0"/>
            </a:br>
            <a:r>
              <a:rPr sz="1800" dirty="0"/>
              <a:t>MOVEMENT</a:t>
            </a:r>
          </a:p>
        </p:txBody>
      </p:sp>
      <p:sp>
        <p:nvSpPr>
          <p:cNvPr id="21" name="TextBox 20"/>
          <p:cNvSpPr txBox="1"/>
          <p:nvPr/>
        </p:nvSpPr>
        <p:spPr>
          <a:xfrm>
            <a:off x="4453128" y="4219956"/>
            <a:ext cx="1353312" cy="228600"/>
          </a:xfrm>
          <a:prstGeom prst="rect">
            <a:avLst/>
          </a:prstGeom>
          <a:noFill/>
        </p:spPr>
        <p:txBody>
          <a:bodyPr wrap="square" lIns="0" tIns="0" rIns="0" bIns="0">
            <a:spAutoFit/>
          </a:bodyPr>
          <a:lstStyle/>
          <a:p>
            <a:pPr algn="ctr"/>
            <a:r>
              <a:rPr sz="1800" b="0" i="0" dirty="0">
                <a:solidFill>
                  <a:srgbClr val="5B6773"/>
                </a:solidFill>
                <a:latin typeface="Aptos"/>
              </a:rPr>
              <a:t>ECO-PTM</a:t>
            </a:r>
          </a:p>
        </p:txBody>
      </p:sp>
      <p:sp>
        <p:nvSpPr>
          <p:cNvPr id="22" name="Right Arrow 21"/>
          <p:cNvSpPr/>
          <p:nvPr/>
        </p:nvSpPr>
        <p:spPr>
          <a:xfrm>
            <a:off x="5943600" y="3127248"/>
            <a:ext cx="274320" cy="274320"/>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263640" y="2331720"/>
            <a:ext cx="1572768" cy="2264144"/>
          </a:xfrm>
          <a:prstGeom prst="roundRect">
            <a:avLst/>
          </a:prstGeom>
          <a:solidFill>
            <a:srgbClr val="FFFFFF"/>
          </a:solidFill>
          <a:ln w="254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5203" y="3614588"/>
            <a:ext cx="1399032" cy="553998"/>
          </a:xfrm>
          <a:prstGeom prst="rect">
            <a:avLst/>
          </a:prstGeom>
          <a:noFill/>
        </p:spPr>
        <p:txBody>
          <a:bodyPr wrap="square" lIns="0" tIns="0" rIns="0" bIns="0">
            <a:spAutoFit/>
          </a:bodyPr>
          <a:lstStyle/>
          <a:p>
            <a:pPr algn="ctr"/>
            <a:r>
              <a:rPr sz="1800" b="1" i="0" dirty="0">
                <a:solidFill>
                  <a:srgbClr val="143052"/>
                </a:solidFill>
                <a:latin typeface="Aptos"/>
              </a:rPr>
              <a:t>PREDATION </a:t>
            </a:r>
            <a:r>
              <a:rPr lang="en-US" sz="1800" b="1" i="0" dirty="0">
                <a:solidFill>
                  <a:srgbClr val="143052"/>
                </a:solidFill>
                <a:latin typeface="Aptos"/>
              </a:rPr>
              <a:t>/</a:t>
            </a:r>
            <a:br>
              <a:rPr lang="en-US" dirty="0"/>
            </a:br>
            <a:r>
              <a:rPr lang="en-US" sz="1800" dirty="0"/>
              <a:t>SURVIVAL</a:t>
            </a:r>
          </a:p>
        </p:txBody>
      </p:sp>
      <p:sp>
        <p:nvSpPr>
          <p:cNvPr id="26" name="TextBox 25"/>
          <p:cNvSpPr txBox="1"/>
          <p:nvPr/>
        </p:nvSpPr>
        <p:spPr>
          <a:xfrm>
            <a:off x="6405203" y="4203191"/>
            <a:ext cx="1353312" cy="228600"/>
          </a:xfrm>
          <a:prstGeom prst="rect">
            <a:avLst/>
          </a:prstGeom>
          <a:noFill/>
        </p:spPr>
        <p:txBody>
          <a:bodyPr wrap="square" lIns="0" tIns="0" rIns="0" bIns="0">
            <a:spAutoFit/>
          </a:bodyPr>
          <a:lstStyle/>
          <a:p>
            <a:pPr algn="ctr"/>
            <a:r>
              <a:rPr sz="1800" b="0" i="0" dirty="0">
                <a:solidFill>
                  <a:srgbClr val="5B6773"/>
                </a:solidFill>
                <a:latin typeface="Aptos"/>
              </a:rPr>
              <a:t>Experiments</a:t>
            </a:r>
          </a:p>
        </p:txBody>
      </p:sp>
      <p:sp>
        <p:nvSpPr>
          <p:cNvPr id="27" name="Right Arrow 26"/>
          <p:cNvSpPr/>
          <p:nvPr/>
        </p:nvSpPr>
        <p:spPr>
          <a:xfrm>
            <a:off x="7863840" y="3127248"/>
            <a:ext cx="274320" cy="274320"/>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183880" y="2331720"/>
            <a:ext cx="1572768" cy="2264144"/>
          </a:xfrm>
          <a:prstGeom prst="roundRect">
            <a:avLst/>
          </a:prstGeom>
          <a:solidFill>
            <a:srgbClr val="FFFFFF"/>
          </a:solidFill>
          <a:ln w="254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70240" y="3614588"/>
            <a:ext cx="1463040" cy="553998"/>
          </a:xfrm>
          <a:prstGeom prst="rect">
            <a:avLst/>
          </a:prstGeom>
          <a:noFill/>
        </p:spPr>
        <p:txBody>
          <a:bodyPr wrap="square" lIns="0" tIns="0" rIns="0" bIns="0">
            <a:spAutoFit/>
          </a:bodyPr>
          <a:lstStyle/>
          <a:p>
            <a:pPr algn="ctr"/>
            <a:r>
              <a:rPr sz="1800" b="1" i="0" dirty="0">
                <a:solidFill>
                  <a:srgbClr val="143052"/>
                </a:solidFill>
                <a:latin typeface="Aptos"/>
              </a:rPr>
              <a:t>PREY /</a:t>
            </a:r>
            <a:br>
              <a:rPr dirty="0"/>
            </a:br>
            <a:r>
              <a:rPr sz="1800" dirty="0"/>
              <a:t>ZOOPLANKTON</a:t>
            </a:r>
          </a:p>
        </p:txBody>
      </p:sp>
      <p:sp>
        <p:nvSpPr>
          <p:cNvPr id="31" name="TextBox 30"/>
          <p:cNvSpPr txBox="1"/>
          <p:nvPr/>
        </p:nvSpPr>
        <p:spPr>
          <a:xfrm>
            <a:off x="8300381" y="4192524"/>
            <a:ext cx="1353312" cy="228600"/>
          </a:xfrm>
          <a:prstGeom prst="rect">
            <a:avLst/>
          </a:prstGeom>
          <a:noFill/>
        </p:spPr>
        <p:txBody>
          <a:bodyPr wrap="square" lIns="0" tIns="0" rIns="0" bIns="0">
            <a:spAutoFit/>
          </a:bodyPr>
          <a:lstStyle/>
          <a:p>
            <a:pPr algn="ctr"/>
            <a:r>
              <a:rPr sz="1800" b="0" i="0" dirty="0">
                <a:solidFill>
                  <a:srgbClr val="5B6773"/>
                </a:solidFill>
                <a:latin typeface="Aptos"/>
              </a:rPr>
              <a:t>This work</a:t>
            </a:r>
          </a:p>
        </p:txBody>
      </p:sp>
      <p:sp>
        <p:nvSpPr>
          <p:cNvPr id="32" name="Right Arrow 31"/>
          <p:cNvSpPr/>
          <p:nvPr/>
        </p:nvSpPr>
        <p:spPr>
          <a:xfrm>
            <a:off x="9784080" y="3127248"/>
            <a:ext cx="274320" cy="274320"/>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10104120" y="2331719"/>
            <a:ext cx="1572768" cy="2264143"/>
          </a:xfrm>
          <a:prstGeom prst="roundRect">
            <a:avLst/>
          </a:prstGeom>
          <a:solidFill>
            <a:srgbClr val="FFFFFF"/>
          </a:solidFill>
          <a:ln w="254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13848" y="3638305"/>
            <a:ext cx="1353312" cy="502920"/>
          </a:xfrm>
          <a:prstGeom prst="rect">
            <a:avLst/>
          </a:prstGeom>
          <a:noFill/>
        </p:spPr>
        <p:txBody>
          <a:bodyPr wrap="square" lIns="0" tIns="0" rIns="0" bIns="0">
            <a:spAutoFit/>
          </a:bodyPr>
          <a:lstStyle/>
          <a:p>
            <a:pPr algn="ctr"/>
            <a:r>
              <a:rPr sz="1800" b="1" i="0" dirty="0">
                <a:solidFill>
                  <a:srgbClr val="143052"/>
                </a:solidFill>
                <a:latin typeface="Aptos"/>
              </a:rPr>
              <a:t>FISH /</a:t>
            </a:r>
            <a:br>
              <a:rPr dirty="0"/>
            </a:br>
            <a:r>
              <a:rPr sz="1800" dirty="0"/>
              <a:t>ECOSYSTEM</a:t>
            </a:r>
          </a:p>
        </p:txBody>
      </p:sp>
      <p:sp>
        <p:nvSpPr>
          <p:cNvPr id="36" name="TextBox 35"/>
          <p:cNvSpPr txBox="1"/>
          <p:nvPr/>
        </p:nvSpPr>
        <p:spPr>
          <a:xfrm>
            <a:off x="10213848" y="4203191"/>
            <a:ext cx="1353312" cy="228600"/>
          </a:xfrm>
          <a:prstGeom prst="rect">
            <a:avLst/>
          </a:prstGeom>
          <a:noFill/>
        </p:spPr>
        <p:txBody>
          <a:bodyPr wrap="square" lIns="0" tIns="0" rIns="0" bIns="0">
            <a:spAutoFit/>
          </a:bodyPr>
          <a:lstStyle/>
          <a:p>
            <a:pPr algn="ctr"/>
            <a:r>
              <a:rPr sz="1800" b="0" i="0" dirty="0">
                <a:solidFill>
                  <a:srgbClr val="5B6773"/>
                </a:solidFill>
                <a:latin typeface="Aptos"/>
              </a:rPr>
              <a:t>Synthesis</a:t>
            </a:r>
          </a:p>
        </p:txBody>
      </p:sp>
      <p:sp>
        <p:nvSpPr>
          <p:cNvPr id="37" name="TextBox 36"/>
          <p:cNvSpPr txBox="1"/>
          <p:nvPr/>
        </p:nvSpPr>
        <p:spPr>
          <a:xfrm>
            <a:off x="2926080" y="5074920"/>
            <a:ext cx="6309360" cy="320040"/>
          </a:xfrm>
          <a:prstGeom prst="rect">
            <a:avLst/>
          </a:prstGeom>
          <a:noFill/>
        </p:spPr>
        <p:txBody>
          <a:bodyPr wrap="square" lIns="0" tIns="0" rIns="0" bIns="0">
            <a:spAutoFit/>
          </a:bodyPr>
          <a:lstStyle/>
          <a:p>
            <a:pPr algn="ctr"/>
            <a:r>
              <a:rPr sz="1800" b="1" i="0">
                <a:solidFill>
                  <a:srgbClr val="143052"/>
                </a:solidFill>
                <a:latin typeface="Aptos"/>
              </a:rPr>
              <a:t>No single model captures the whole system.</a:t>
            </a:r>
          </a:p>
        </p:txBody>
      </p:sp>
      <p:sp>
        <p:nvSpPr>
          <p:cNvPr id="38" name="TextBox 37"/>
          <p:cNvSpPr txBox="1"/>
          <p:nvPr/>
        </p:nvSpPr>
        <p:spPr>
          <a:xfrm>
            <a:off x="2423160" y="5486400"/>
            <a:ext cx="7315200" cy="274320"/>
          </a:xfrm>
          <a:prstGeom prst="rect">
            <a:avLst/>
          </a:prstGeom>
          <a:noFill/>
        </p:spPr>
        <p:txBody>
          <a:bodyPr wrap="square" lIns="0" tIns="0" rIns="0" bIns="0">
            <a:spAutoFit/>
          </a:bodyPr>
          <a:lstStyle/>
          <a:p>
            <a:pPr algn="ctr"/>
            <a:r>
              <a:rPr sz="1800" b="0" i="0">
                <a:solidFill>
                  <a:srgbClr val="5B6773"/>
                </a:solidFill>
                <a:latin typeface="Aptos"/>
              </a:rPr>
              <a:t>The value comes from connecting complementary lines of evidence.</a:t>
            </a:r>
          </a:p>
        </p:txBody>
      </p:sp>
      <p:sp>
        <p:nvSpPr>
          <p:cNvPr id="39" name="NAV_0"/>
          <p:cNvSpPr/>
          <p:nvPr/>
        </p:nvSpPr>
        <p:spPr>
          <a:xfrm>
            <a:off x="502920" y="6528816"/>
            <a:ext cx="1225296" cy="219456"/>
          </a:xfrm>
          <a:prstGeom prst="roundRect">
            <a:avLst/>
          </a:prstGeom>
          <a:solidFill>
            <a:srgbClr val="2A7EBE"/>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FFFFFF"/>
                </a:solidFill>
                <a:latin typeface="Aptos"/>
              </a:rPr>
              <a:t>STORY</a:t>
            </a:r>
          </a:p>
        </p:txBody>
      </p:sp>
      <p:sp>
        <p:nvSpPr>
          <p:cNvPr id="41"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2A9DA1"/>
                </a:solidFill>
                <a:latin typeface="Aptos"/>
              </a:rPr>
              <a:t>SYSTEM</a:t>
            </a:r>
          </a:p>
        </p:txBody>
      </p:sp>
      <p:sp>
        <p:nvSpPr>
          <p:cNvPr id="43"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E7AD46"/>
                </a:solidFill>
                <a:latin typeface="Aptos"/>
              </a:rPr>
              <a:t>DATA</a:t>
            </a:r>
          </a:p>
        </p:txBody>
      </p:sp>
      <p:sp>
        <p:nvSpPr>
          <p:cNvPr id="45"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E26954"/>
                </a:solidFill>
                <a:latin typeface="Aptos"/>
              </a:rPr>
              <a:t>RESULTS</a:t>
            </a:r>
          </a:p>
        </p:txBody>
      </p:sp>
      <p:sp>
        <p:nvSpPr>
          <p:cNvPr id="47" name="NAV_4"/>
          <p:cNvSpPr/>
          <p:nvPr/>
        </p:nvSpPr>
        <p:spPr>
          <a:xfrm>
            <a:off x="6062472" y="6528816"/>
            <a:ext cx="1621538" cy="219456"/>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019802" y="6494434"/>
            <a:ext cx="1664208"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6" name="Oval 5">
            <a:extLst>
              <a:ext uri="{FF2B5EF4-FFF2-40B4-BE49-F238E27FC236}">
                <a16:creationId xmlns:a16="http://schemas.microsoft.com/office/drawing/2014/main" id="{31B1E75D-5161-6CA3-77B9-D4C4B0981AEF}"/>
              </a:ext>
            </a:extLst>
          </p:cNvPr>
          <p:cNvSpPr/>
          <p:nvPr/>
        </p:nvSpPr>
        <p:spPr>
          <a:xfrm>
            <a:off x="781812" y="2518270"/>
            <a:ext cx="969264" cy="967578"/>
          </a:xfrm>
          <a:prstGeom prst="ellipse">
            <a:avLst/>
          </a:prstGeom>
          <a:blipFill dpi="0"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a:stretch>
              <a:fillRect/>
            </a:stretch>
          </a:blipFill>
          <a:ln w="190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a:extLst>
              <a:ext uri="{FF2B5EF4-FFF2-40B4-BE49-F238E27FC236}">
                <a16:creationId xmlns:a16="http://schemas.microsoft.com/office/drawing/2014/main" id="{192A5A0D-7FB2-F20A-ED0E-F3004EB24CF2}"/>
              </a:ext>
            </a:extLst>
          </p:cNvPr>
          <p:cNvSpPr/>
          <p:nvPr/>
        </p:nvSpPr>
        <p:spPr>
          <a:xfrm>
            <a:off x="4636008" y="2496212"/>
            <a:ext cx="969264" cy="967578"/>
          </a:xfrm>
          <a:prstGeom prst="ellipse">
            <a:avLst/>
          </a:prstGeom>
          <a:blipFill dpi="0"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a:stretch>
              <a:fillRect/>
            </a:stretch>
          </a:blipFill>
          <a:ln w="1905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a:extLst>
              <a:ext uri="{FF2B5EF4-FFF2-40B4-BE49-F238E27FC236}">
                <a16:creationId xmlns:a16="http://schemas.microsoft.com/office/drawing/2014/main" id="{14D5ADD5-333A-A3A5-D122-D2A3528295B1}"/>
              </a:ext>
            </a:extLst>
          </p:cNvPr>
          <p:cNvSpPr/>
          <p:nvPr/>
        </p:nvSpPr>
        <p:spPr>
          <a:xfrm>
            <a:off x="10440924" y="2496212"/>
            <a:ext cx="969264" cy="967578"/>
          </a:xfrm>
          <a:prstGeom prst="ellipse">
            <a:avLst/>
          </a:prstGeom>
          <a:blipFill dpi="0" rotWithShape="1">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rcRect/>
            <a:stretch>
              <a:fillRect/>
            </a:stretch>
          </a:blipFill>
          <a:ln w="190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a:extLst>
              <a:ext uri="{FF2B5EF4-FFF2-40B4-BE49-F238E27FC236}">
                <a16:creationId xmlns:a16="http://schemas.microsoft.com/office/drawing/2014/main" id="{250556E2-C8F0-B997-3AA4-B473429F43A2}"/>
              </a:ext>
            </a:extLst>
          </p:cNvPr>
          <p:cNvSpPr/>
          <p:nvPr/>
        </p:nvSpPr>
        <p:spPr>
          <a:xfrm>
            <a:off x="8517467" y="2518270"/>
            <a:ext cx="969264" cy="967578"/>
          </a:xfrm>
          <a:prstGeom prst="ellipse">
            <a:avLst/>
          </a:prstGeom>
          <a:blipFill dpi="0" rotWithShape="1">
            <a:blip r:embed="rId11">
              <a:extLst>
                <a:ext uri="{28A0092B-C50C-407E-A947-70E740481C1C}">
                  <a14:useLocalDpi xmlns:a14="http://schemas.microsoft.com/office/drawing/2010/main" val="0"/>
                </a:ext>
              </a:extLst>
            </a:blip>
            <a:srcRect/>
            <a:stretch>
              <a:fillRect/>
            </a:stretch>
          </a:blipFill>
          <a:ln w="1905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a:extLst>
              <a:ext uri="{FF2B5EF4-FFF2-40B4-BE49-F238E27FC236}">
                <a16:creationId xmlns:a16="http://schemas.microsoft.com/office/drawing/2014/main" id="{1D1D8ECC-6D66-93BF-BA56-4F181393B8F9}"/>
              </a:ext>
            </a:extLst>
          </p:cNvPr>
          <p:cNvSpPr/>
          <p:nvPr/>
        </p:nvSpPr>
        <p:spPr>
          <a:xfrm>
            <a:off x="6565392" y="2518270"/>
            <a:ext cx="969264" cy="967578"/>
          </a:xfrm>
          <a:prstGeom prst="ellipse">
            <a:avLst/>
          </a:prstGeom>
          <a:blipFill dpi="0" rotWithShape="1">
            <a:blip r:embed="rId12">
              <a:extLst>
                <a:ext uri="{28A0092B-C50C-407E-A947-70E740481C1C}">
                  <a14:useLocalDpi xmlns:a14="http://schemas.microsoft.com/office/drawing/2010/main" val="0"/>
                </a:ext>
                <a:ext uri="{837473B0-CC2E-450A-ABE3-18F120FF3D39}">
                  <a1611:picAttrSrcUrl xmlns:a1611="http://schemas.microsoft.com/office/drawing/2016/11/main" r:id="rId13"/>
                </a:ext>
              </a:extLst>
            </a:blip>
            <a:srcRect/>
            <a:stretch>
              <a:fillRect/>
            </a:stretch>
          </a:blipFill>
          <a:ln w="1905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a:extLst>
              <a:ext uri="{FF2B5EF4-FFF2-40B4-BE49-F238E27FC236}">
                <a16:creationId xmlns:a16="http://schemas.microsoft.com/office/drawing/2014/main" id="{E26362AD-285A-6421-A3F4-617DB63C6793}"/>
              </a:ext>
            </a:extLst>
          </p:cNvPr>
          <p:cNvSpPr txBox="1"/>
          <p:nvPr/>
        </p:nvSpPr>
        <p:spPr>
          <a:xfrm>
            <a:off x="7695881" y="6501384"/>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1234440"/>
            <a:ext cx="10881360" cy="42062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600200"/>
            <a:ext cx="914400" cy="594360"/>
          </a:xfrm>
          <a:prstGeom prst="rect">
            <a:avLst/>
          </a:prstGeom>
          <a:noFill/>
        </p:spPr>
        <p:txBody>
          <a:bodyPr wrap="square" lIns="0" tIns="0" rIns="0" bIns="0">
            <a:spAutoFit/>
          </a:bodyPr>
          <a:lstStyle/>
          <a:p>
            <a:pPr algn="l"/>
            <a:r>
              <a:rPr sz="3000" b="1" i="0">
                <a:solidFill>
                  <a:srgbClr val="2A9DA1"/>
                </a:solidFill>
                <a:latin typeface="Aptos"/>
              </a:rPr>
              <a:t>05</a:t>
            </a:r>
          </a:p>
        </p:txBody>
      </p:sp>
      <p:sp>
        <p:nvSpPr>
          <p:cNvPr id="5" name="TextBox 4"/>
          <p:cNvSpPr txBox="1"/>
          <p:nvPr/>
        </p:nvSpPr>
        <p:spPr>
          <a:xfrm>
            <a:off x="1005840" y="2286000"/>
            <a:ext cx="9784080" cy="685800"/>
          </a:xfrm>
          <a:prstGeom prst="rect">
            <a:avLst/>
          </a:prstGeom>
          <a:noFill/>
        </p:spPr>
        <p:txBody>
          <a:bodyPr wrap="square" lIns="0" tIns="0" rIns="0" bIns="0">
            <a:spAutoFit/>
          </a:bodyPr>
          <a:lstStyle/>
          <a:p>
            <a:pPr algn="l"/>
            <a:r>
              <a:rPr sz="3400" b="1" i="0">
                <a:solidFill>
                  <a:srgbClr val="143052"/>
                </a:solidFill>
                <a:latin typeface="Aptos"/>
              </a:rPr>
              <a:t>From water conditions to food web</a:t>
            </a:r>
          </a:p>
        </p:txBody>
      </p:sp>
      <p:sp>
        <p:nvSpPr>
          <p:cNvPr id="6" name="TextBox 5"/>
          <p:cNvSpPr txBox="1"/>
          <p:nvPr/>
        </p:nvSpPr>
        <p:spPr>
          <a:xfrm>
            <a:off x="1005840" y="3063240"/>
            <a:ext cx="9784080" cy="548640"/>
          </a:xfrm>
          <a:prstGeom prst="rect">
            <a:avLst/>
          </a:prstGeom>
          <a:noFill/>
        </p:spPr>
        <p:txBody>
          <a:bodyPr wrap="square" lIns="0" tIns="0" rIns="0" bIns="0">
            <a:spAutoFit/>
          </a:bodyPr>
          <a:lstStyle/>
          <a:p>
            <a:pPr algn="l"/>
            <a:r>
              <a:rPr sz="1900" b="0" i="0" dirty="0">
                <a:solidFill>
                  <a:srgbClr val="5B6773"/>
                </a:solidFill>
                <a:latin typeface="Aptos"/>
              </a:rPr>
              <a:t>Why zooplankton are the biological bridge</a:t>
            </a:r>
          </a:p>
        </p:txBody>
      </p:sp>
      <p:cxnSp>
        <p:nvCxnSpPr>
          <p:cNvPr id="7" name="Connector 6"/>
          <p:cNvCxnSpPr/>
          <p:nvPr/>
        </p:nvCxnSpPr>
        <p:spPr>
          <a:xfrm>
            <a:off x="1005840" y="3840480"/>
            <a:ext cx="10058400" cy="0"/>
          </a:xfrm>
          <a:prstGeom prst="line">
            <a:avLst/>
          </a:prstGeom>
          <a:ln w="50800">
            <a:solidFill>
              <a:srgbClr val="2A9DA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05840" y="4160520"/>
            <a:ext cx="9784080" cy="731520"/>
          </a:xfrm>
          <a:prstGeom prst="rect">
            <a:avLst/>
          </a:prstGeom>
          <a:noFill/>
        </p:spPr>
        <p:txBody>
          <a:bodyPr wrap="square" lIns="0" tIns="0" rIns="0" bIns="0">
            <a:spAutoFit/>
          </a:bodyPr>
          <a:lstStyle/>
          <a:p>
            <a:pPr algn="l"/>
            <a:r>
              <a:rPr sz="1800" b="0" i="0" dirty="0">
                <a:solidFill>
                  <a:srgbClr val="143052"/>
                </a:solidFill>
                <a:latin typeface="Aptos"/>
              </a:rPr>
              <a:t>If management changes the environment, what does that mean for the organisms at the center of the food web?</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NAV_2">
            <a:extLst>
              <a:ext uri="{FF2B5EF4-FFF2-40B4-BE49-F238E27FC236}">
                <a16:creationId xmlns:a16="http://schemas.microsoft.com/office/drawing/2014/main" id="{CAAD5437-7FBC-CABE-1C95-F3602C3C864F}"/>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566928"/>
          </a:xfrm>
          <a:prstGeom prst="rect">
            <a:avLst/>
          </a:prstGeom>
          <a:noFill/>
        </p:spPr>
        <p:txBody>
          <a:bodyPr wrap="square" lIns="0" tIns="0" rIns="0" bIns="0">
            <a:spAutoFit/>
          </a:bodyPr>
          <a:lstStyle/>
          <a:p>
            <a:pPr algn="l"/>
            <a:r>
              <a:rPr sz="2700" b="1" i="0">
                <a:solidFill>
                  <a:srgbClr val="143052"/>
                </a:solidFill>
                <a:latin typeface="Aptos"/>
              </a:rPr>
              <a:t>Why zooplankton?</a:t>
            </a:r>
          </a:p>
        </p:txBody>
      </p:sp>
      <p:sp>
        <p:nvSpPr>
          <p:cNvPr id="5" name="TextBox 4"/>
          <p:cNvSpPr txBox="1"/>
          <p:nvPr/>
        </p:nvSpPr>
        <p:spPr>
          <a:xfrm>
            <a:off x="11201400" y="393192"/>
            <a:ext cx="502920" cy="320040"/>
          </a:xfrm>
          <a:prstGeom prst="rect">
            <a:avLst/>
          </a:prstGeom>
          <a:noFill/>
        </p:spPr>
        <p:txBody>
          <a:bodyPr wrap="square" lIns="0" tIns="0" rIns="0" bIns="0">
            <a:spAutoFit/>
          </a:bodyPr>
          <a:lstStyle/>
          <a:p>
            <a:pPr algn="r"/>
            <a:r>
              <a:rPr sz="1800" b="1" i="0">
                <a:solidFill>
                  <a:srgbClr val="5B6773"/>
                </a:solidFill>
                <a:latin typeface="Aptos"/>
              </a:rPr>
              <a:t>06</a:t>
            </a:r>
          </a:p>
        </p:txBody>
      </p:sp>
      <p:sp>
        <p:nvSpPr>
          <p:cNvPr id="7" name="TextBox 6"/>
          <p:cNvSpPr txBox="1"/>
          <p:nvPr/>
        </p:nvSpPr>
        <p:spPr>
          <a:xfrm>
            <a:off x="640080" y="1234440"/>
            <a:ext cx="2011680" cy="274320"/>
          </a:xfrm>
          <a:prstGeom prst="rect">
            <a:avLst/>
          </a:prstGeom>
          <a:noFill/>
        </p:spPr>
        <p:txBody>
          <a:bodyPr wrap="square" lIns="0" tIns="0" rIns="0" bIns="0">
            <a:spAutoFit/>
          </a:bodyPr>
          <a:lstStyle/>
          <a:p>
            <a:pPr algn="l"/>
            <a:r>
              <a:rPr sz="1800" b="1" i="0">
                <a:solidFill>
                  <a:srgbClr val="2A9DA1"/>
                </a:solidFill>
                <a:latin typeface="Aptos"/>
              </a:rPr>
              <a:t>THE FOOD WEB</a:t>
            </a:r>
          </a:p>
        </p:txBody>
      </p:sp>
      <p:sp>
        <p:nvSpPr>
          <p:cNvPr id="8" name="Rounded Rectangle 7"/>
          <p:cNvSpPr/>
          <p:nvPr/>
        </p:nvSpPr>
        <p:spPr>
          <a:xfrm>
            <a:off x="914400" y="1828800"/>
            <a:ext cx="2286000" cy="621792"/>
          </a:xfrm>
          <a:prstGeom prst="roundRect">
            <a:avLst/>
          </a:prstGeom>
          <a:solidFill>
            <a:srgbClr val="FFFFFF"/>
          </a:solidFill>
          <a:ln w="254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984248"/>
            <a:ext cx="2286000" cy="274320"/>
          </a:xfrm>
          <a:prstGeom prst="rect">
            <a:avLst/>
          </a:prstGeom>
          <a:noFill/>
        </p:spPr>
        <p:txBody>
          <a:bodyPr wrap="square" lIns="0" tIns="0" rIns="0" bIns="0">
            <a:spAutoFit/>
          </a:bodyPr>
          <a:lstStyle/>
          <a:p>
            <a:pPr algn="ctr"/>
            <a:r>
              <a:rPr sz="1800" b="1" i="0">
                <a:solidFill>
                  <a:srgbClr val="143052"/>
                </a:solidFill>
                <a:latin typeface="Aptos"/>
              </a:rPr>
              <a:t>Phytoplankton</a:t>
            </a:r>
          </a:p>
        </p:txBody>
      </p:sp>
      <p:sp>
        <p:nvSpPr>
          <p:cNvPr id="10" name="TextBox 9"/>
          <p:cNvSpPr txBox="1"/>
          <p:nvPr/>
        </p:nvSpPr>
        <p:spPr>
          <a:xfrm>
            <a:off x="1892807" y="2441448"/>
            <a:ext cx="320040" cy="274320"/>
          </a:xfrm>
          <a:prstGeom prst="rect">
            <a:avLst/>
          </a:prstGeom>
          <a:noFill/>
        </p:spPr>
        <p:txBody>
          <a:bodyPr wrap="square" lIns="0" tIns="0" rIns="0" bIns="0">
            <a:spAutoFit/>
          </a:bodyPr>
          <a:lstStyle/>
          <a:p>
            <a:pPr algn="ctr"/>
            <a:r>
              <a:rPr sz="1800" b="1" i="0">
                <a:solidFill>
                  <a:srgbClr val="5B975C"/>
                </a:solidFill>
                <a:latin typeface="Aptos"/>
              </a:rPr>
              <a:t>↓</a:t>
            </a:r>
          </a:p>
        </p:txBody>
      </p:sp>
      <p:sp>
        <p:nvSpPr>
          <p:cNvPr id="11" name="Rounded Rectangle 10"/>
          <p:cNvSpPr/>
          <p:nvPr/>
        </p:nvSpPr>
        <p:spPr>
          <a:xfrm>
            <a:off x="914400" y="2788920"/>
            <a:ext cx="2286000" cy="621792"/>
          </a:xfrm>
          <a:prstGeom prst="roundRect">
            <a:avLst/>
          </a:prstGeom>
          <a:solidFill>
            <a:srgbClr val="FFFFFF"/>
          </a:solidFill>
          <a:ln w="254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2944368"/>
            <a:ext cx="2286000" cy="274320"/>
          </a:xfrm>
          <a:prstGeom prst="rect">
            <a:avLst/>
          </a:prstGeom>
          <a:noFill/>
        </p:spPr>
        <p:txBody>
          <a:bodyPr wrap="square" lIns="0" tIns="0" rIns="0" bIns="0">
            <a:spAutoFit/>
          </a:bodyPr>
          <a:lstStyle/>
          <a:p>
            <a:pPr algn="ctr"/>
            <a:r>
              <a:rPr sz="1800" b="1" i="0">
                <a:solidFill>
                  <a:srgbClr val="143052"/>
                </a:solidFill>
                <a:latin typeface="Aptos"/>
              </a:rPr>
              <a:t>Zooplankton</a:t>
            </a:r>
          </a:p>
        </p:txBody>
      </p:sp>
      <p:sp>
        <p:nvSpPr>
          <p:cNvPr id="13" name="TextBox 12"/>
          <p:cNvSpPr txBox="1"/>
          <p:nvPr/>
        </p:nvSpPr>
        <p:spPr>
          <a:xfrm>
            <a:off x="1892807" y="3401568"/>
            <a:ext cx="320040" cy="274320"/>
          </a:xfrm>
          <a:prstGeom prst="rect">
            <a:avLst/>
          </a:prstGeom>
          <a:noFill/>
        </p:spPr>
        <p:txBody>
          <a:bodyPr wrap="square" lIns="0" tIns="0" rIns="0" bIns="0">
            <a:spAutoFit/>
          </a:bodyPr>
          <a:lstStyle/>
          <a:p>
            <a:pPr algn="ctr"/>
            <a:r>
              <a:rPr sz="1800" b="1" i="0">
                <a:solidFill>
                  <a:srgbClr val="2A9DA1"/>
                </a:solidFill>
                <a:latin typeface="Aptos"/>
              </a:rPr>
              <a:t>↓</a:t>
            </a:r>
          </a:p>
        </p:txBody>
      </p:sp>
      <p:sp>
        <p:nvSpPr>
          <p:cNvPr id="14" name="Rounded Rectangle 13"/>
          <p:cNvSpPr/>
          <p:nvPr/>
        </p:nvSpPr>
        <p:spPr>
          <a:xfrm>
            <a:off x="914400" y="3749039"/>
            <a:ext cx="2286000" cy="621792"/>
          </a:xfrm>
          <a:prstGeom prst="roundRect">
            <a:avLst/>
          </a:prstGeom>
          <a:solidFill>
            <a:srgbClr val="FFFFFF"/>
          </a:solidFill>
          <a:ln w="254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3904487"/>
            <a:ext cx="2286000" cy="274320"/>
          </a:xfrm>
          <a:prstGeom prst="rect">
            <a:avLst/>
          </a:prstGeom>
          <a:noFill/>
        </p:spPr>
        <p:txBody>
          <a:bodyPr wrap="square" lIns="0" tIns="0" rIns="0" bIns="0">
            <a:spAutoFit/>
          </a:bodyPr>
          <a:lstStyle/>
          <a:p>
            <a:pPr algn="ctr"/>
            <a:r>
              <a:rPr sz="1800" b="1" i="0">
                <a:solidFill>
                  <a:srgbClr val="143052"/>
                </a:solidFill>
                <a:latin typeface="Aptos"/>
              </a:rPr>
              <a:t>Small fish</a:t>
            </a:r>
          </a:p>
        </p:txBody>
      </p:sp>
      <p:sp>
        <p:nvSpPr>
          <p:cNvPr id="16" name="TextBox 15"/>
          <p:cNvSpPr txBox="1"/>
          <p:nvPr/>
        </p:nvSpPr>
        <p:spPr>
          <a:xfrm>
            <a:off x="1892807" y="4361688"/>
            <a:ext cx="320040" cy="274320"/>
          </a:xfrm>
          <a:prstGeom prst="rect">
            <a:avLst/>
          </a:prstGeom>
          <a:noFill/>
        </p:spPr>
        <p:txBody>
          <a:bodyPr wrap="square" lIns="0" tIns="0" rIns="0" bIns="0">
            <a:spAutoFit/>
          </a:bodyPr>
          <a:lstStyle/>
          <a:p>
            <a:pPr algn="ctr"/>
            <a:r>
              <a:rPr sz="1800" b="1" i="0">
                <a:solidFill>
                  <a:srgbClr val="2A7EBE"/>
                </a:solidFill>
                <a:latin typeface="Aptos"/>
              </a:rPr>
              <a:t>↓</a:t>
            </a:r>
          </a:p>
        </p:txBody>
      </p:sp>
      <p:sp>
        <p:nvSpPr>
          <p:cNvPr id="17" name="Rounded Rectangle 16"/>
          <p:cNvSpPr/>
          <p:nvPr/>
        </p:nvSpPr>
        <p:spPr>
          <a:xfrm>
            <a:off x="914400" y="4709160"/>
            <a:ext cx="2286000" cy="621792"/>
          </a:xfrm>
          <a:prstGeom prst="roundRect">
            <a:avLst/>
          </a:prstGeom>
          <a:solidFill>
            <a:srgbClr val="FFFFFF"/>
          </a:solidFill>
          <a:ln w="254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4864608"/>
            <a:ext cx="2286000" cy="274320"/>
          </a:xfrm>
          <a:prstGeom prst="rect">
            <a:avLst/>
          </a:prstGeom>
          <a:noFill/>
        </p:spPr>
        <p:txBody>
          <a:bodyPr wrap="square" lIns="0" tIns="0" rIns="0" bIns="0">
            <a:spAutoFit/>
          </a:bodyPr>
          <a:lstStyle/>
          <a:p>
            <a:pPr algn="ctr"/>
            <a:r>
              <a:rPr sz="1800" b="1" i="0">
                <a:solidFill>
                  <a:srgbClr val="143052"/>
                </a:solidFill>
                <a:latin typeface="Aptos"/>
              </a:rPr>
              <a:t>Predators</a:t>
            </a:r>
          </a:p>
        </p:txBody>
      </p:sp>
      <p:sp>
        <p:nvSpPr>
          <p:cNvPr id="19" name="Rounded Rectangle 18"/>
          <p:cNvSpPr/>
          <p:nvPr/>
        </p:nvSpPr>
        <p:spPr>
          <a:xfrm>
            <a:off x="3977639" y="1600200"/>
            <a:ext cx="7132320" cy="1234440"/>
          </a:xfrm>
          <a:prstGeom prst="roundRect">
            <a:avLst/>
          </a:prstGeom>
          <a:solidFill>
            <a:srgbClr val="FFFFFF"/>
          </a:solidFill>
          <a:ln w="13970">
            <a:solidFill>
              <a:srgbClr val="E0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977639" y="1600200"/>
            <a:ext cx="73152" cy="1234440"/>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4187952" y="1801368"/>
            <a:ext cx="420624" cy="420624"/>
          </a:xfrm>
          <a:prstGeom prst="ellipse">
            <a:avLst/>
          </a:prstGeom>
          <a:solidFill>
            <a:srgbClr val="2A9DA1"/>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87952" y="1837943"/>
            <a:ext cx="420624" cy="256032"/>
          </a:xfrm>
          <a:prstGeom prst="rect">
            <a:avLst/>
          </a:prstGeom>
          <a:noFill/>
        </p:spPr>
        <p:txBody>
          <a:bodyPr wrap="square" lIns="0" tIns="0" rIns="0" bIns="0">
            <a:spAutoFit/>
          </a:bodyPr>
          <a:lstStyle/>
          <a:p>
            <a:pPr algn="ctr"/>
            <a:r>
              <a:rPr sz="1800" b="1" i="0">
                <a:solidFill>
                  <a:srgbClr val="FFFFFF"/>
                </a:solidFill>
                <a:latin typeface="Aptos"/>
              </a:rPr>
              <a:t>1</a:t>
            </a:r>
          </a:p>
        </p:txBody>
      </p:sp>
      <p:sp>
        <p:nvSpPr>
          <p:cNvPr id="23" name="TextBox 22"/>
          <p:cNvSpPr txBox="1"/>
          <p:nvPr/>
        </p:nvSpPr>
        <p:spPr>
          <a:xfrm>
            <a:off x="4727448" y="1801368"/>
            <a:ext cx="6199631" cy="292608"/>
          </a:xfrm>
          <a:prstGeom prst="rect">
            <a:avLst/>
          </a:prstGeom>
          <a:noFill/>
        </p:spPr>
        <p:txBody>
          <a:bodyPr wrap="square" lIns="0" tIns="0" rIns="0" bIns="0">
            <a:spAutoFit/>
          </a:bodyPr>
          <a:lstStyle/>
          <a:p>
            <a:pPr algn="l"/>
            <a:r>
              <a:rPr sz="1800" b="1" i="0">
                <a:solidFill>
                  <a:srgbClr val="143052"/>
                </a:solidFill>
                <a:latin typeface="Aptos"/>
              </a:rPr>
              <a:t>They respond to environmental conditions</a:t>
            </a:r>
          </a:p>
        </p:txBody>
      </p:sp>
      <p:sp>
        <p:nvSpPr>
          <p:cNvPr id="24" name="TextBox 23"/>
          <p:cNvSpPr txBox="1"/>
          <p:nvPr/>
        </p:nvSpPr>
        <p:spPr>
          <a:xfrm>
            <a:off x="4727448" y="2167128"/>
            <a:ext cx="6153912" cy="521208"/>
          </a:xfrm>
          <a:prstGeom prst="rect">
            <a:avLst/>
          </a:prstGeom>
          <a:noFill/>
        </p:spPr>
        <p:txBody>
          <a:bodyPr wrap="square" lIns="0" tIns="0" rIns="0" bIns="0">
            <a:spAutoFit/>
          </a:bodyPr>
          <a:lstStyle/>
          <a:p>
            <a:pPr algn="l"/>
            <a:r>
              <a:rPr sz="1800" b="0" i="0">
                <a:solidFill>
                  <a:srgbClr val="5B6773"/>
                </a:solidFill>
                <a:latin typeface="Aptos"/>
              </a:rPr>
              <a:t>Salinity, temperature, food availability, turbidity, and water quality can shape abundance and distribution.</a:t>
            </a:r>
          </a:p>
        </p:txBody>
      </p:sp>
      <p:sp>
        <p:nvSpPr>
          <p:cNvPr id="25" name="Rounded Rectangle 24"/>
          <p:cNvSpPr/>
          <p:nvPr/>
        </p:nvSpPr>
        <p:spPr>
          <a:xfrm>
            <a:off x="3977639" y="3063240"/>
            <a:ext cx="7132320" cy="1234440"/>
          </a:xfrm>
          <a:prstGeom prst="roundRect">
            <a:avLst/>
          </a:prstGeom>
          <a:solidFill>
            <a:srgbClr val="FFFFFF"/>
          </a:solidFill>
          <a:ln w="13970">
            <a:solidFill>
              <a:srgbClr val="E0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977639" y="3063240"/>
            <a:ext cx="73152" cy="1234440"/>
          </a:xfrm>
          <a:prstGeom prst="rect">
            <a:avLst/>
          </a:prstGeom>
          <a:solidFill>
            <a:srgbClr val="5B9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187952" y="3264408"/>
            <a:ext cx="420624" cy="420624"/>
          </a:xfrm>
          <a:prstGeom prst="ellipse">
            <a:avLst/>
          </a:prstGeom>
          <a:solidFill>
            <a:srgbClr val="5B975C"/>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187952" y="3300984"/>
            <a:ext cx="420624" cy="256032"/>
          </a:xfrm>
          <a:prstGeom prst="rect">
            <a:avLst/>
          </a:prstGeom>
          <a:noFill/>
        </p:spPr>
        <p:txBody>
          <a:bodyPr wrap="square" lIns="0" tIns="0" rIns="0" bIns="0">
            <a:spAutoFit/>
          </a:bodyPr>
          <a:lstStyle/>
          <a:p>
            <a:pPr algn="ctr"/>
            <a:r>
              <a:rPr sz="1800" b="1" i="0">
                <a:solidFill>
                  <a:srgbClr val="FFFFFF"/>
                </a:solidFill>
                <a:latin typeface="Aptos"/>
              </a:rPr>
              <a:t>2</a:t>
            </a:r>
          </a:p>
        </p:txBody>
      </p:sp>
      <p:sp>
        <p:nvSpPr>
          <p:cNvPr id="29" name="TextBox 28"/>
          <p:cNvSpPr txBox="1"/>
          <p:nvPr/>
        </p:nvSpPr>
        <p:spPr>
          <a:xfrm>
            <a:off x="4727448" y="3264408"/>
            <a:ext cx="6199631" cy="292608"/>
          </a:xfrm>
          <a:prstGeom prst="rect">
            <a:avLst/>
          </a:prstGeom>
          <a:noFill/>
        </p:spPr>
        <p:txBody>
          <a:bodyPr wrap="square" lIns="0" tIns="0" rIns="0" bIns="0">
            <a:spAutoFit/>
          </a:bodyPr>
          <a:lstStyle/>
          <a:p>
            <a:pPr algn="l"/>
            <a:r>
              <a:rPr sz="1800" b="1" i="0">
                <a:solidFill>
                  <a:srgbClr val="143052"/>
                </a:solidFill>
                <a:latin typeface="Aptos"/>
              </a:rPr>
              <a:t>They transfer energy through the food web</a:t>
            </a:r>
          </a:p>
        </p:txBody>
      </p:sp>
      <p:sp>
        <p:nvSpPr>
          <p:cNvPr id="30" name="TextBox 29"/>
          <p:cNvSpPr txBox="1"/>
          <p:nvPr/>
        </p:nvSpPr>
        <p:spPr>
          <a:xfrm>
            <a:off x="4727448" y="3630168"/>
            <a:ext cx="6153912" cy="521208"/>
          </a:xfrm>
          <a:prstGeom prst="rect">
            <a:avLst/>
          </a:prstGeom>
          <a:noFill/>
        </p:spPr>
        <p:txBody>
          <a:bodyPr wrap="square" lIns="0" tIns="0" rIns="0" bIns="0">
            <a:spAutoFit/>
          </a:bodyPr>
          <a:lstStyle/>
          <a:p>
            <a:pPr algn="l"/>
            <a:r>
              <a:rPr sz="1800" b="0" i="0">
                <a:solidFill>
                  <a:srgbClr val="5B6773"/>
                </a:solidFill>
                <a:latin typeface="Aptos"/>
              </a:rPr>
              <a:t>Changes in abundance or distribution alter the prey field available to fish.</a:t>
            </a:r>
          </a:p>
        </p:txBody>
      </p:sp>
      <p:sp>
        <p:nvSpPr>
          <p:cNvPr id="31" name="Rounded Rectangle 30"/>
          <p:cNvSpPr/>
          <p:nvPr/>
        </p:nvSpPr>
        <p:spPr>
          <a:xfrm>
            <a:off x="3977639" y="4526280"/>
            <a:ext cx="7132320" cy="1234440"/>
          </a:xfrm>
          <a:prstGeom prst="roundRect">
            <a:avLst/>
          </a:prstGeom>
          <a:solidFill>
            <a:srgbClr val="FFFFFF"/>
          </a:solidFill>
          <a:ln w="13970">
            <a:solidFill>
              <a:srgbClr val="E0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977639" y="4526280"/>
            <a:ext cx="73152" cy="1234440"/>
          </a:xfrm>
          <a:prstGeom prst="rect">
            <a:avLst/>
          </a:prstGeom>
          <a:solidFill>
            <a:srgbClr val="E7A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4187952" y="4727448"/>
            <a:ext cx="420624" cy="420624"/>
          </a:xfrm>
          <a:prstGeom prst="ellipse">
            <a:avLst/>
          </a:prstGeom>
          <a:solidFill>
            <a:srgbClr val="E7AD46"/>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187952" y="4764024"/>
            <a:ext cx="420624" cy="256032"/>
          </a:xfrm>
          <a:prstGeom prst="rect">
            <a:avLst/>
          </a:prstGeom>
          <a:noFill/>
        </p:spPr>
        <p:txBody>
          <a:bodyPr wrap="square" lIns="0" tIns="0" rIns="0" bIns="0">
            <a:spAutoFit/>
          </a:bodyPr>
          <a:lstStyle/>
          <a:p>
            <a:pPr algn="ctr"/>
            <a:r>
              <a:rPr sz="1800" b="1" i="0">
                <a:solidFill>
                  <a:srgbClr val="FFFFFF"/>
                </a:solidFill>
                <a:latin typeface="Aptos"/>
              </a:rPr>
              <a:t>3</a:t>
            </a:r>
          </a:p>
        </p:txBody>
      </p:sp>
      <p:sp>
        <p:nvSpPr>
          <p:cNvPr id="35" name="TextBox 34"/>
          <p:cNvSpPr txBox="1"/>
          <p:nvPr/>
        </p:nvSpPr>
        <p:spPr>
          <a:xfrm>
            <a:off x="4727448" y="4727448"/>
            <a:ext cx="6199631" cy="292608"/>
          </a:xfrm>
          <a:prstGeom prst="rect">
            <a:avLst/>
          </a:prstGeom>
          <a:noFill/>
        </p:spPr>
        <p:txBody>
          <a:bodyPr wrap="square" lIns="0" tIns="0" rIns="0" bIns="0">
            <a:spAutoFit/>
          </a:bodyPr>
          <a:lstStyle/>
          <a:p>
            <a:pPr algn="l"/>
            <a:r>
              <a:rPr sz="1800" b="1" i="0">
                <a:solidFill>
                  <a:srgbClr val="143052"/>
                </a:solidFill>
                <a:latin typeface="Aptos"/>
              </a:rPr>
              <a:t>They can connect to decision models</a:t>
            </a:r>
          </a:p>
        </p:txBody>
      </p:sp>
      <p:sp>
        <p:nvSpPr>
          <p:cNvPr id="36" name="TextBox 35"/>
          <p:cNvSpPr txBox="1"/>
          <p:nvPr/>
        </p:nvSpPr>
        <p:spPr>
          <a:xfrm>
            <a:off x="4727448" y="5093208"/>
            <a:ext cx="6153912" cy="521208"/>
          </a:xfrm>
          <a:prstGeom prst="rect">
            <a:avLst/>
          </a:prstGeom>
          <a:noFill/>
        </p:spPr>
        <p:txBody>
          <a:bodyPr wrap="square" lIns="0" tIns="0" rIns="0" bIns="0">
            <a:spAutoFit/>
          </a:bodyPr>
          <a:lstStyle/>
          <a:p>
            <a:pPr algn="l"/>
            <a:r>
              <a:rPr sz="1800" b="0" i="0" dirty="0">
                <a:solidFill>
                  <a:srgbClr val="5B6773"/>
                </a:solidFill>
                <a:latin typeface="Aptos"/>
              </a:rPr>
              <a:t>Quantified relationships provide a potential bridge from predicted environmental conditions to biological response.</a:t>
            </a:r>
          </a:p>
        </p:txBody>
      </p:sp>
      <p:sp>
        <p:nvSpPr>
          <p:cNvPr id="37"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2A7EBE"/>
                </a:solidFill>
                <a:latin typeface="Aptos"/>
              </a:rPr>
              <a:t>STORY</a:t>
            </a:r>
          </a:p>
        </p:txBody>
      </p:sp>
      <p:sp>
        <p:nvSpPr>
          <p:cNvPr id="39" name="NAV_1"/>
          <p:cNvSpPr/>
          <p:nvPr/>
        </p:nvSpPr>
        <p:spPr>
          <a:xfrm>
            <a:off x="1892808" y="6528816"/>
            <a:ext cx="1225296" cy="219456"/>
          </a:xfrm>
          <a:prstGeom prst="roundRect">
            <a:avLst/>
          </a:prstGeom>
          <a:solidFill>
            <a:srgbClr val="2A9DA1"/>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FFFFFF"/>
                </a:solidFill>
                <a:latin typeface="Aptos"/>
              </a:rPr>
              <a:t>SYSTEM</a:t>
            </a:r>
          </a:p>
        </p:txBody>
      </p:sp>
      <p:sp>
        <p:nvSpPr>
          <p:cNvPr id="41"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E7AD46"/>
                </a:solidFill>
                <a:latin typeface="Aptos"/>
              </a:rPr>
              <a:t>DATA</a:t>
            </a:r>
          </a:p>
        </p:txBody>
      </p:sp>
      <p:sp>
        <p:nvSpPr>
          <p:cNvPr id="43"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E26954"/>
                </a:solidFill>
                <a:latin typeface="Aptos"/>
              </a:rPr>
              <a:t>RESULTS</a:t>
            </a:r>
          </a:p>
        </p:txBody>
      </p:sp>
      <p:sp>
        <p:nvSpPr>
          <p:cNvPr id="45" name="NAV_4"/>
          <p:cNvSpPr/>
          <p:nvPr/>
        </p:nvSpPr>
        <p:spPr>
          <a:xfrm>
            <a:off x="6062471" y="6528816"/>
            <a:ext cx="1616795" cy="219456"/>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096337" y="6498996"/>
            <a:ext cx="1549061"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6" name="TextBox 5">
            <a:extLst>
              <a:ext uri="{FF2B5EF4-FFF2-40B4-BE49-F238E27FC236}">
                <a16:creationId xmlns:a16="http://schemas.microsoft.com/office/drawing/2014/main" id="{36EDC68B-F0F0-92A7-00E6-FF77A071838D}"/>
              </a:ext>
            </a:extLst>
          </p:cNvPr>
          <p:cNvSpPr txBox="1"/>
          <p:nvPr/>
        </p:nvSpPr>
        <p:spPr>
          <a:xfrm>
            <a:off x="7713132" y="6492597"/>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566928"/>
          </a:xfrm>
          <a:prstGeom prst="rect">
            <a:avLst/>
          </a:prstGeom>
          <a:noFill/>
        </p:spPr>
        <p:txBody>
          <a:bodyPr wrap="square" lIns="0" tIns="0" rIns="0" bIns="0">
            <a:spAutoFit/>
          </a:bodyPr>
          <a:lstStyle/>
          <a:p>
            <a:pPr algn="l"/>
            <a:r>
              <a:rPr sz="2700" b="1" i="0">
                <a:solidFill>
                  <a:srgbClr val="143052"/>
                </a:solidFill>
                <a:latin typeface="Aptos"/>
              </a:rPr>
              <a:t>Study system</a:t>
            </a:r>
          </a:p>
        </p:txBody>
      </p:sp>
      <p:sp>
        <p:nvSpPr>
          <p:cNvPr id="5" name="TextBox 4"/>
          <p:cNvSpPr txBox="1"/>
          <p:nvPr/>
        </p:nvSpPr>
        <p:spPr>
          <a:xfrm>
            <a:off x="11201400" y="393192"/>
            <a:ext cx="502920" cy="320040"/>
          </a:xfrm>
          <a:prstGeom prst="rect">
            <a:avLst/>
          </a:prstGeom>
          <a:noFill/>
        </p:spPr>
        <p:txBody>
          <a:bodyPr wrap="square" lIns="0" tIns="0" rIns="0" bIns="0">
            <a:spAutoFit/>
          </a:bodyPr>
          <a:lstStyle/>
          <a:p>
            <a:pPr algn="r"/>
            <a:r>
              <a:rPr sz="1800" b="1" i="0">
                <a:solidFill>
                  <a:srgbClr val="5B6773"/>
                </a:solidFill>
                <a:latin typeface="Aptos"/>
              </a:rPr>
              <a:t>07</a:t>
            </a:r>
          </a:p>
        </p:txBody>
      </p:sp>
      <p:sp>
        <p:nvSpPr>
          <p:cNvPr id="7" name="TextBox 6"/>
          <p:cNvSpPr txBox="1"/>
          <p:nvPr/>
        </p:nvSpPr>
        <p:spPr>
          <a:xfrm>
            <a:off x="594360" y="1234440"/>
            <a:ext cx="5029200" cy="457200"/>
          </a:xfrm>
          <a:prstGeom prst="rect">
            <a:avLst/>
          </a:prstGeom>
          <a:noFill/>
        </p:spPr>
        <p:txBody>
          <a:bodyPr wrap="square" lIns="0" tIns="0" rIns="0" bIns="0">
            <a:spAutoFit/>
          </a:bodyPr>
          <a:lstStyle/>
          <a:p>
            <a:pPr algn="l"/>
            <a:r>
              <a:rPr sz="2200" b="1" i="0">
                <a:solidFill>
                  <a:srgbClr val="143052"/>
                </a:solidFill>
                <a:latin typeface="Aptos"/>
              </a:rPr>
              <a:t>Sacramento → San Pablo Bay</a:t>
            </a:r>
          </a:p>
        </p:txBody>
      </p:sp>
      <p:sp>
        <p:nvSpPr>
          <p:cNvPr id="58"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2A7EBE"/>
                </a:solidFill>
                <a:latin typeface="Aptos"/>
              </a:rPr>
              <a:t>STORY</a:t>
            </a:r>
          </a:p>
        </p:txBody>
      </p:sp>
      <p:sp>
        <p:nvSpPr>
          <p:cNvPr id="60" name="NAV_1"/>
          <p:cNvSpPr/>
          <p:nvPr/>
        </p:nvSpPr>
        <p:spPr>
          <a:xfrm>
            <a:off x="1892808" y="6528816"/>
            <a:ext cx="1225296" cy="219456"/>
          </a:xfrm>
          <a:prstGeom prst="roundRect">
            <a:avLst/>
          </a:prstGeom>
          <a:solidFill>
            <a:srgbClr val="2A9DA1"/>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FFFFFF"/>
                </a:solidFill>
                <a:latin typeface="Aptos"/>
              </a:rPr>
              <a:t>SYSTEM</a:t>
            </a:r>
          </a:p>
        </p:txBody>
      </p:sp>
      <p:sp>
        <p:nvSpPr>
          <p:cNvPr id="62"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E7AD46"/>
                </a:solidFill>
                <a:latin typeface="Aptos"/>
              </a:rPr>
              <a:t>DATA</a:t>
            </a:r>
          </a:p>
        </p:txBody>
      </p:sp>
      <p:sp>
        <p:nvSpPr>
          <p:cNvPr id="64"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E26954"/>
                </a:solidFill>
                <a:latin typeface="Aptos"/>
              </a:rPr>
              <a:t>RESULTS</a:t>
            </a:r>
          </a:p>
        </p:txBody>
      </p:sp>
      <p:sp>
        <p:nvSpPr>
          <p:cNvPr id="66" name="NAV_4"/>
          <p:cNvSpPr/>
          <p:nvPr/>
        </p:nvSpPr>
        <p:spPr>
          <a:xfrm>
            <a:off x="6062472" y="6528816"/>
            <a:ext cx="1621538" cy="219456"/>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062472" y="6501689"/>
            <a:ext cx="1621538"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73" name="TextBox 72">
            <a:extLst>
              <a:ext uri="{FF2B5EF4-FFF2-40B4-BE49-F238E27FC236}">
                <a16:creationId xmlns:a16="http://schemas.microsoft.com/office/drawing/2014/main" id="{DBA1775F-4C83-66DC-9B43-75ECDAA24D0C}"/>
              </a:ext>
            </a:extLst>
          </p:cNvPr>
          <p:cNvSpPr txBox="1"/>
          <p:nvPr/>
        </p:nvSpPr>
        <p:spPr>
          <a:xfrm>
            <a:off x="4589961" y="4935101"/>
            <a:ext cx="1390541" cy="646331"/>
          </a:xfrm>
          <a:prstGeom prst="rect">
            <a:avLst/>
          </a:prstGeom>
          <a:noFill/>
        </p:spPr>
        <p:txBody>
          <a:bodyPr wrap="square" rtlCol="0">
            <a:spAutoFit/>
          </a:bodyPr>
          <a:lstStyle/>
          <a:p>
            <a:pPr algn="ctr"/>
            <a:r>
              <a:rPr lang="en-US" sz="1800" dirty="0">
                <a:solidFill>
                  <a:schemeClr val="bg1"/>
                </a:solidFill>
              </a:rPr>
              <a:t>San Pablo Bay</a:t>
            </a:r>
          </a:p>
        </p:txBody>
      </p:sp>
      <p:sp>
        <p:nvSpPr>
          <p:cNvPr id="6" name="NAV_2">
            <a:extLst>
              <a:ext uri="{FF2B5EF4-FFF2-40B4-BE49-F238E27FC236}">
                <a16:creationId xmlns:a16="http://schemas.microsoft.com/office/drawing/2014/main" id="{298D6ABD-5E0B-E482-60C8-AE2227F339B3}"/>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C94110C1-FA22-5DA9-3CF9-B23F135859B6}"/>
              </a:ext>
            </a:extLst>
          </p:cNvPr>
          <p:cNvSpPr txBox="1"/>
          <p:nvPr/>
        </p:nvSpPr>
        <p:spPr>
          <a:xfrm>
            <a:off x="7713132" y="6492597"/>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pic>
        <p:nvPicPr>
          <p:cNvPr id="15" name="Picture 14">
            <a:extLst>
              <a:ext uri="{FF2B5EF4-FFF2-40B4-BE49-F238E27FC236}">
                <a16:creationId xmlns:a16="http://schemas.microsoft.com/office/drawing/2014/main" id="{8DCF107C-2A75-F9A4-EFF4-B7CDDDFFB6B8}"/>
              </a:ext>
            </a:extLst>
          </p:cNvPr>
          <p:cNvPicPr>
            <a:picLocks noChangeAspect="1"/>
          </p:cNvPicPr>
          <p:nvPr/>
        </p:nvPicPr>
        <p:blipFill>
          <a:blip r:embed="rId3"/>
          <a:srcRect t="13397" b="5803"/>
          <a:stretch>
            <a:fillRect/>
          </a:stretch>
        </p:blipFill>
        <p:spPr>
          <a:xfrm>
            <a:off x="6876276" y="3217862"/>
            <a:ext cx="4603052" cy="3187933"/>
          </a:xfrm>
          <a:prstGeom prst="rect">
            <a:avLst/>
          </a:prstGeom>
        </p:spPr>
      </p:pic>
      <p:pic>
        <p:nvPicPr>
          <p:cNvPr id="17" name="Picture 16">
            <a:extLst>
              <a:ext uri="{FF2B5EF4-FFF2-40B4-BE49-F238E27FC236}">
                <a16:creationId xmlns:a16="http://schemas.microsoft.com/office/drawing/2014/main" id="{8EEF9F85-1538-5D04-0860-3DAB2B02C1FD}"/>
              </a:ext>
            </a:extLst>
          </p:cNvPr>
          <p:cNvPicPr>
            <a:picLocks noChangeAspect="1"/>
          </p:cNvPicPr>
          <p:nvPr/>
        </p:nvPicPr>
        <p:blipFill>
          <a:blip r:embed="rId4"/>
          <a:srcRect t="14336" b="6061"/>
          <a:stretch>
            <a:fillRect/>
          </a:stretch>
        </p:blipFill>
        <p:spPr>
          <a:xfrm>
            <a:off x="5220657" y="186807"/>
            <a:ext cx="4410995" cy="3009666"/>
          </a:xfrm>
          <a:prstGeom prst="rect">
            <a:avLst/>
          </a:prstGeom>
        </p:spPr>
      </p:pic>
      <p:sp>
        <p:nvSpPr>
          <p:cNvPr id="18" name="Rectangle 17">
            <a:extLst>
              <a:ext uri="{FF2B5EF4-FFF2-40B4-BE49-F238E27FC236}">
                <a16:creationId xmlns:a16="http://schemas.microsoft.com/office/drawing/2014/main" id="{5EAEAAD4-6B6A-2F0F-D76D-5B1D4ABF847F}"/>
              </a:ext>
            </a:extLst>
          </p:cNvPr>
          <p:cNvSpPr/>
          <p:nvPr/>
        </p:nvSpPr>
        <p:spPr>
          <a:xfrm>
            <a:off x="7097132" y="3461850"/>
            <a:ext cx="1479602" cy="711539"/>
          </a:xfrm>
          <a:prstGeom prst="rect">
            <a:avLst/>
          </a:prstGeom>
          <a:solidFill>
            <a:schemeClr val="accent4">
              <a:lumMod val="20000"/>
              <a:lumOff val="8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rPr>
              <a:t>Pre-1994</a:t>
            </a:r>
          </a:p>
        </p:txBody>
      </p:sp>
      <p:sp>
        <p:nvSpPr>
          <p:cNvPr id="20" name="Rectangle 19">
            <a:extLst>
              <a:ext uri="{FF2B5EF4-FFF2-40B4-BE49-F238E27FC236}">
                <a16:creationId xmlns:a16="http://schemas.microsoft.com/office/drawing/2014/main" id="{D414DA85-9ED3-8BE5-2F49-A1A468B61348}"/>
              </a:ext>
            </a:extLst>
          </p:cNvPr>
          <p:cNvSpPr/>
          <p:nvPr/>
        </p:nvSpPr>
        <p:spPr>
          <a:xfrm>
            <a:off x="5617530" y="414662"/>
            <a:ext cx="1479602" cy="711539"/>
          </a:xfrm>
          <a:prstGeom prst="rect">
            <a:avLst/>
          </a:prstGeom>
          <a:solidFill>
            <a:schemeClr val="accent4">
              <a:lumMod val="20000"/>
              <a:lumOff val="8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rPr>
              <a:t>Post-2004</a:t>
            </a:r>
          </a:p>
        </p:txBody>
      </p:sp>
      <p:sp>
        <p:nvSpPr>
          <p:cNvPr id="23" name="Oval 22">
            <a:extLst>
              <a:ext uri="{FF2B5EF4-FFF2-40B4-BE49-F238E27FC236}">
                <a16:creationId xmlns:a16="http://schemas.microsoft.com/office/drawing/2014/main" id="{9F2FDE03-4D17-15FC-3CEA-CECADEB0D8C6}"/>
              </a:ext>
            </a:extLst>
          </p:cNvPr>
          <p:cNvSpPr/>
          <p:nvPr/>
        </p:nvSpPr>
        <p:spPr>
          <a:xfrm>
            <a:off x="1557867" y="2192867"/>
            <a:ext cx="905933" cy="677333"/>
          </a:xfrm>
          <a:prstGeom prst="ellipse">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NAV_2">
            <a:extLst>
              <a:ext uri="{FF2B5EF4-FFF2-40B4-BE49-F238E27FC236}">
                <a16:creationId xmlns:a16="http://schemas.microsoft.com/office/drawing/2014/main" id="{D75677AC-00C5-37E4-88D0-C6FA9CD99037}"/>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415498"/>
          </a:xfrm>
          <a:prstGeom prst="rect">
            <a:avLst/>
          </a:prstGeom>
          <a:noFill/>
        </p:spPr>
        <p:txBody>
          <a:bodyPr wrap="square" lIns="0" tIns="0" rIns="0" bIns="0">
            <a:spAutoFit/>
          </a:bodyPr>
          <a:lstStyle/>
          <a:p>
            <a:pPr algn="l"/>
            <a:r>
              <a:rPr lang="en-US" sz="2700" b="1" i="0" dirty="0">
                <a:solidFill>
                  <a:srgbClr val="143052"/>
                </a:solidFill>
                <a:latin typeface="Aptos"/>
              </a:rPr>
              <a:t>Environmental Factors</a:t>
            </a:r>
            <a:endParaRPr sz="2700" b="1" i="0" dirty="0">
              <a:solidFill>
                <a:srgbClr val="143052"/>
              </a:solidFill>
              <a:latin typeface="Aptos"/>
            </a:endParaRPr>
          </a:p>
        </p:txBody>
      </p:sp>
      <p:sp>
        <p:nvSpPr>
          <p:cNvPr id="5" name="TextBox 4"/>
          <p:cNvSpPr txBox="1"/>
          <p:nvPr/>
        </p:nvSpPr>
        <p:spPr>
          <a:xfrm>
            <a:off x="11201400" y="393192"/>
            <a:ext cx="502920" cy="320040"/>
          </a:xfrm>
          <a:prstGeom prst="rect">
            <a:avLst/>
          </a:prstGeom>
          <a:noFill/>
        </p:spPr>
        <p:txBody>
          <a:bodyPr wrap="square" lIns="0" tIns="0" rIns="0" bIns="0">
            <a:spAutoFit/>
          </a:bodyPr>
          <a:lstStyle/>
          <a:p>
            <a:pPr algn="r"/>
            <a:r>
              <a:rPr sz="1800" b="1" i="0">
                <a:solidFill>
                  <a:srgbClr val="5B6773"/>
                </a:solidFill>
                <a:latin typeface="Aptos"/>
              </a:rPr>
              <a:t>08</a:t>
            </a:r>
          </a:p>
        </p:txBody>
      </p:sp>
      <p:sp>
        <p:nvSpPr>
          <p:cNvPr id="7" name="TextBox 6"/>
          <p:cNvSpPr txBox="1"/>
          <p:nvPr/>
        </p:nvSpPr>
        <p:spPr>
          <a:xfrm>
            <a:off x="502920" y="1234440"/>
            <a:ext cx="9601200" cy="261610"/>
          </a:xfrm>
          <a:prstGeom prst="rect">
            <a:avLst/>
          </a:prstGeom>
          <a:noFill/>
        </p:spPr>
        <p:txBody>
          <a:bodyPr wrap="square" lIns="0" tIns="0" rIns="0" bIns="0">
            <a:spAutoFit/>
          </a:bodyPr>
          <a:lstStyle/>
          <a:p>
            <a:pPr algn="l"/>
            <a:r>
              <a:rPr sz="1800" b="0" i="0" dirty="0">
                <a:solidFill>
                  <a:srgbClr val="5B6773"/>
                </a:solidFill>
                <a:latin typeface="Aptos"/>
              </a:rPr>
              <a:t>Eleven predictors</a:t>
            </a:r>
            <a:r>
              <a:rPr lang="en-US" sz="1800" b="0" i="0" dirty="0">
                <a:solidFill>
                  <a:srgbClr val="5B6773"/>
                </a:solidFill>
                <a:latin typeface="Aptos"/>
              </a:rPr>
              <a:t>, all</a:t>
            </a:r>
            <a:r>
              <a:rPr sz="1800" b="0" i="0" dirty="0">
                <a:solidFill>
                  <a:srgbClr val="5B6773"/>
                </a:solidFill>
                <a:latin typeface="Aptos"/>
              </a:rPr>
              <a:t> grouped by what they represent.</a:t>
            </a:r>
          </a:p>
        </p:txBody>
      </p:sp>
      <p:sp>
        <p:nvSpPr>
          <p:cNvPr id="8" name="Rounded Rectangle 7"/>
          <p:cNvSpPr/>
          <p:nvPr/>
        </p:nvSpPr>
        <p:spPr>
          <a:xfrm>
            <a:off x="640080" y="1828800"/>
            <a:ext cx="2788920" cy="1737360"/>
          </a:xfrm>
          <a:prstGeom prst="roundRect">
            <a:avLst/>
          </a:prstGeom>
          <a:solidFill>
            <a:srgbClr val="FFFFFF"/>
          </a:solidFill>
          <a:ln w="254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2011680"/>
            <a:ext cx="2377440" cy="274320"/>
          </a:xfrm>
          <a:prstGeom prst="rect">
            <a:avLst/>
          </a:prstGeom>
          <a:noFill/>
        </p:spPr>
        <p:txBody>
          <a:bodyPr wrap="square" lIns="0" tIns="0" rIns="0" bIns="0">
            <a:spAutoFit/>
          </a:bodyPr>
          <a:lstStyle/>
          <a:p>
            <a:pPr algn="l"/>
            <a:r>
              <a:rPr sz="1800" b="1" i="0">
                <a:solidFill>
                  <a:srgbClr val="2A7EBE"/>
                </a:solidFill>
                <a:latin typeface="Aptos"/>
              </a:rPr>
              <a:t>Hydrology</a:t>
            </a:r>
          </a:p>
        </p:txBody>
      </p:sp>
      <p:sp>
        <p:nvSpPr>
          <p:cNvPr id="10" name="Oval 9"/>
          <p:cNvSpPr/>
          <p:nvPr/>
        </p:nvSpPr>
        <p:spPr>
          <a:xfrm>
            <a:off x="822959" y="2487168"/>
            <a:ext cx="182880" cy="182880"/>
          </a:xfrm>
          <a:prstGeom prst="ellipse">
            <a:avLst/>
          </a:prstGeom>
          <a:solidFill>
            <a:srgbClr val="2A7EBE"/>
          </a:solidFill>
          <a:ln w="1905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15568" y="2459736"/>
            <a:ext cx="2057400" cy="256032"/>
          </a:xfrm>
          <a:prstGeom prst="rect">
            <a:avLst/>
          </a:prstGeom>
          <a:noFill/>
        </p:spPr>
        <p:txBody>
          <a:bodyPr wrap="square" lIns="0" tIns="0" rIns="0" bIns="0">
            <a:spAutoFit/>
          </a:bodyPr>
          <a:lstStyle/>
          <a:p>
            <a:pPr algn="l"/>
            <a:r>
              <a:rPr sz="1800" b="0" i="0">
                <a:solidFill>
                  <a:srgbClr val="143052"/>
                </a:solidFill>
                <a:latin typeface="Aptos"/>
              </a:rPr>
              <a:t>X2</a:t>
            </a:r>
          </a:p>
        </p:txBody>
      </p:sp>
      <p:sp>
        <p:nvSpPr>
          <p:cNvPr id="12" name="Oval 11"/>
          <p:cNvSpPr/>
          <p:nvPr/>
        </p:nvSpPr>
        <p:spPr>
          <a:xfrm>
            <a:off x="822959" y="2907791"/>
            <a:ext cx="182880" cy="182880"/>
          </a:xfrm>
          <a:prstGeom prst="ellipse">
            <a:avLst/>
          </a:prstGeom>
          <a:solidFill>
            <a:srgbClr val="2A7EBE"/>
          </a:solidFill>
          <a:ln w="1905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15568" y="2880360"/>
            <a:ext cx="2057400" cy="256032"/>
          </a:xfrm>
          <a:prstGeom prst="rect">
            <a:avLst/>
          </a:prstGeom>
          <a:noFill/>
        </p:spPr>
        <p:txBody>
          <a:bodyPr wrap="square" lIns="0" tIns="0" rIns="0" bIns="0">
            <a:spAutoFit/>
          </a:bodyPr>
          <a:lstStyle/>
          <a:p>
            <a:pPr algn="l"/>
            <a:r>
              <a:rPr sz="1800" b="0" i="0">
                <a:solidFill>
                  <a:srgbClr val="143052"/>
                </a:solidFill>
                <a:latin typeface="Aptos"/>
              </a:rPr>
              <a:t>Jersey Point Flow (JPF)</a:t>
            </a:r>
          </a:p>
        </p:txBody>
      </p:sp>
      <p:sp>
        <p:nvSpPr>
          <p:cNvPr id="14" name="Rounded Rectangle 13"/>
          <p:cNvSpPr/>
          <p:nvPr/>
        </p:nvSpPr>
        <p:spPr>
          <a:xfrm>
            <a:off x="3886200" y="1828800"/>
            <a:ext cx="3721608" cy="1737360"/>
          </a:xfrm>
          <a:prstGeom prst="roundRect">
            <a:avLst/>
          </a:prstGeom>
          <a:solidFill>
            <a:srgbClr val="FFFFFF"/>
          </a:solidFill>
          <a:ln w="254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69080" y="2011680"/>
            <a:ext cx="2377440" cy="274320"/>
          </a:xfrm>
          <a:prstGeom prst="rect">
            <a:avLst/>
          </a:prstGeom>
          <a:noFill/>
        </p:spPr>
        <p:txBody>
          <a:bodyPr wrap="square" lIns="0" tIns="0" rIns="0" bIns="0">
            <a:spAutoFit/>
          </a:bodyPr>
          <a:lstStyle/>
          <a:p>
            <a:pPr algn="l"/>
            <a:r>
              <a:rPr sz="1800" b="1" i="0">
                <a:solidFill>
                  <a:srgbClr val="2A9DA1"/>
                </a:solidFill>
                <a:latin typeface="Aptos"/>
              </a:rPr>
              <a:t>Water quality</a:t>
            </a:r>
          </a:p>
        </p:txBody>
      </p:sp>
      <p:sp>
        <p:nvSpPr>
          <p:cNvPr id="16" name="Oval 15"/>
          <p:cNvSpPr/>
          <p:nvPr/>
        </p:nvSpPr>
        <p:spPr>
          <a:xfrm>
            <a:off x="4069080" y="2487168"/>
            <a:ext cx="182880" cy="182880"/>
          </a:xfrm>
          <a:prstGeom prst="ellipse">
            <a:avLst/>
          </a:prstGeom>
          <a:solidFill>
            <a:srgbClr val="2A9DA1"/>
          </a:solidFill>
          <a:ln w="1905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61688" y="2459736"/>
            <a:ext cx="2057400" cy="256032"/>
          </a:xfrm>
          <a:prstGeom prst="rect">
            <a:avLst/>
          </a:prstGeom>
          <a:noFill/>
        </p:spPr>
        <p:txBody>
          <a:bodyPr wrap="square" lIns="0" tIns="0" rIns="0" bIns="0">
            <a:spAutoFit/>
          </a:bodyPr>
          <a:lstStyle/>
          <a:p>
            <a:pPr algn="l"/>
            <a:r>
              <a:rPr sz="1800" b="0" i="0">
                <a:solidFill>
                  <a:srgbClr val="143052"/>
                </a:solidFill>
                <a:latin typeface="Aptos"/>
              </a:rPr>
              <a:t>pH</a:t>
            </a:r>
          </a:p>
        </p:txBody>
      </p:sp>
      <p:sp>
        <p:nvSpPr>
          <p:cNvPr id="18" name="Oval 17"/>
          <p:cNvSpPr/>
          <p:nvPr/>
        </p:nvSpPr>
        <p:spPr>
          <a:xfrm>
            <a:off x="4069080" y="2907791"/>
            <a:ext cx="182880" cy="182880"/>
          </a:xfrm>
          <a:prstGeom prst="ellipse">
            <a:avLst/>
          </a:prstGeom>
          <a:solidFill>
            <a:srgbClr val="2A9DA1"/>
          </a:solidFill>
          <a:ln w="1905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61688" y="2880360"/>
            <a:ext cx="2057400" cy="256032"/>
          </a:xfrm>
          <a:prstGeom prst="rect">
            <a:avLst/>
          </a:prstGeom>
          <a:noFill/>
        </p:spPr>
        <p:txBody>
          <a:bodyPr wrap="square" lIns="0" tIns="0" rIns="0" bIns="0">
            <a:spAutoFit/>
          </a:bodyPr>
          <a:lstStyle/>
          <a:p>
            <a:pPr algn="l"/>
            <a:r>
              <a:rPr sz="1800" b="0" i="0">
                <a:solidFill>
                  <a:srgbClr val="143052"/>
                </a:solidFill>
                <a:latin typeface="Aptos"/>
              </a:rPr>
              <a:t>Temperature</a:t>
            </a:r>
          </a:p>
        </p:txBody>
      </p:sp>
      <p:sp>
        <p:nvSpPr>
          <p:cNvPr id="20" name="Oval 19"/>
          <p:cNvSpPr/>
          <p:nvPr/>
        </p:nvSpPr>
        <p:spPr>
          <a:xfrm>
            <a:off x="5912967" y="2962656"/>
            <a:ext cx="182880" cy="182880"/>
          </a:xfrm>
          <a:prstGeom prst="ellipse">
            <a:avLst/>
          </a:prstGeom>
          <a:solidFill>
            <a:srgbClr val="2A9DA1"/>
          </a:solidFill>
          <a:ln w="1905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72200" y="2916267"/>
            <a:ext cx="2057400" cy="256032"/>
          </a:xfrm>
          <a:prstGeom prst="rect">
            <a:avLst/>
          </a:prstGeom>
          <a:noFill/>
        </p:spPr>
        <p:txBody>
          <a:bodyPr wrap="square" lIns="0" tIns="0" rIns="0" bIns="0">
            <a:spAutoFit/>
          </a:bodyPr>
          <a:lstStyle/>
          <a:p>
            <a:pPr algn="l"/>
            <a:r>
              <a:rPr sz="1800" b="0" i="0" dirty="0">
                <a:solidFill>
                  <a:srgbClr val="143052"/>
                </a:solidFill>
                <a:latin typeface="Aptos"/>
              </a:rPr>
              <a:t>Turbidity</a:t>
            </a:r>
          </a:p>
        </p:txBody>
      </p:sp>
      <p:sp>
        <p:nvSpPr>
          <p:cNvPr id="22" name="Oval 21"/>
          <p:cNvSpPr/>
          <p:nvPr/>
        </p:nvSpPr>
        <p:spPr>
          <a:xfrm>
            <a:off x="5458968" y="2453319"/>
            <a:ext cx="182880" cy="182880"/>
          </a:xfrm>
          <a:prstGeom prst="ellipse">
            <a:avLst/>
          </a:prstGeom>
          <a:solidFill>
            <a:srgbClr val="2A9DA1"/>
          </a:solidFill>
          <a:ln w="1905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715000" y="2404872"/>
            <a:ext cx="2057400" cy="256032"/>
          </a:xfrm>
          <a:prstGeom prst="rect">
            <a:avLst/>
          </a:prstGeom>
          <a:noFill/>
        </p:spPr>
        <p:txBody>
          <a:bodyPr wrap="square" lIns="0" tIns="0" rIns="0" bIns="0">
            <a:spAutoFit/>
          </a:bodyPr>
          <a:lstStyle/>
          <a:p>
            <a:pPr algn="l"/>
            <a:r>
              <a:rPr sz="1800" b="0" i="0" dirty="0">
                <a:solidFill>
                  <a:srgbClr val="143052"/>
                </a:solidFill>
                <a:latin typeface="Aptos"/>
              </a:rPr>
              <a:t>Dissolved oxygen</a:t>
            </a:r>
          </a:p>
        </p:txBody>
      </p:sp>
      <p:sp>
        <p:nvSpPr>
          <p:cNvPr id="24" name="Rounded Rectangle 23"/>
          <p:cNvSpPr/>
          <p:nvPr/>
        </p:nvSpPr>
        <p:spPr>
          <a:xfrm>
            <a:off x="7863840" y="1810184"/>
            <a:ext cx="2788920" cy="1737360"/>
          </a:xfrm>
          <a:prstGeom prst="roundRect">
            <a:avLst/>
          </a:prstGeom>
          <a:solidFill>
            <a:srgbClr val="FFFFFF"/>
          </a:solidFill>
          <a:ln w="254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69580" y="1971538"/>
            <a:ext cx="2377440" cy="274320"/>
          </a:xfrm>
          <a:prstGeom prst="rect">
            <a:avLst/>
          </a:prstGeom>
          <a:noFill/>
        </p:spPr>
        <p:txBody>
          <a:bodyPr wrap="square" lIns="0" tIns="0" rIns="0" bIns="0">
            <a:spAutoFit/>
          </a:bodyPr>
          <a:lstStyle/>
          <a:p>
            <a:pPr algn="l"/>
            <a:r>
              <a:rPr sz="1800" b="1" i="0" dirty="0">
                <a:solidFill>
                  <a:srgbClr val="5B975C"/>
                </a:solidFill>
                <a:latin typeface="Aptos"/>
              </a:rPr>
              <a:t>Food / light</a:t>
            </a:r>
          </a:p>
        </p:txBody>
      </p:sp>
      <p:sp>
        <p:nvSpPr>
          <p:cNvPr id="26" name="Oval 25"/>
          <p:cNvSpPr/>
          <p:nvPr/>
        </p:nvSpPr>
        <p:spPr>
          <a:xfrm>
            <a:off x="8138160" y="2459736"/>
            <a:ext cx="182880" cy="182880"/>
          </a:xfrm>
          <a:prstGeom prst="ellipse">
            <a:avLst/>
          </a:prstGeom>
          <a:solidFill>
            <a:srgbClr val="5B975C"/>
          </a:solidFill>
          <a:ln w="1905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58200" y="2467577"/>
            <a:ext cx="2057400" cy="256032"/>
          </a:xfrm>
          <a:prstGeom prst="rect">
            <a:avLst/>
          </a:prstGeom>
          <a:noFill/>
        </p:spPr>
        <p:txBody>
          <a:bodyPr wrap="square" lIns="0" tIns="0" rIns="0" bIns="0">
            <a:spAutoFit/>
          </a:bodyPr>
          <a:lstStyle/>
          <a:p>
            <a:pPr algn="l"/>
            <a:r>
              <a:rPr sz="1800" b="0" i="0" dirty="0">
                <a:solidFill>
                  <a:srgbClr val="143052"/>
                </a:solidFill>
                <a:latin typeface="Aptos"/>
              </a:rPr>
              <a:t>Chlorophyll-a</a:t>
            </a:r>
          </a:p>
        </p:txBody>
      </p:sp>
      <p:sp>
        <p:nvSpPr>
          <p:cNvPr id="28" name="Oval 27"/>
          <p:cNvSpPr/>
          <p:nvPr/>
        </p:nvSpPr>
        <p:spPr>
          <a:xfrm>
            <a:off x="8138160" y="2857500"/>
            <a:ext cx="182880" cy="182880"/>
          </a:xfrm>
          <a:prstGeom prst="ellipse">
            <a:avLst/>
          </a:prstGeom>
          <a:solidFill>
            <a:srgbClr val="5B975C"/>
          </a:solidFill>
          <a:ln w="1905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58200" y="2847053"/>
            <a:ext cx="2057400" cy="256032"/>
          </a:xfrm>
          <a:prstGeom prst="rect">
            <a:avLst/>
          </a:prstGeom>
          <a:noFill/>
        </p:spPr>
        <p:txBody>
          <a:bodyPr wrap="square" lIns="0" tIns="0" rIns="0" bIns="0">
            <a:spAutoFit/>
          </a:bodyPr>
          <a:lstStyle/>
          <a:p>
            <a:pPr algn="l"/>
            <a:r>
              <a:rPr sz="1800" b="0" i="0" dirty="0">
                <a:solidFill>
                  <a:srgbClr val="143052"/>
                </a:solidFill>
                <a:latin typeface="Aptos"/>
              </a:rPr>
              <a:t>Secchi</a:t>
            </a:r>
          </a:p>
        </p:txBody>
      </p:sp>
      <p:sp>
        <p:nvSpPr>
          <p:cNvPr id="30" name="Rounded Rectangle 29"/>
          <p:cNvSpPr/>
          <p:nvPr/>
        </p:nvSpPr>
        <p:spPr>
          <a:xfrm>
            <a:off x="640080" y="4069080"/>
            <a:ext cx="2788920" cy="1737360"/>
          </a:xfrm>
          <a:prstGeom prst="roundRect">
            <a:avLst/>
          </a:prstGeom>
          <a:solidFill>
            <a:srgbClr val="FFFFFF"/>
          </a:solidFill>
          <a:ln w="254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59" y="4251960"/>
            <a:ext cx="2377440" cy="274320"/>
          </a:xfrm>
          <a:prstGeom prst="rect">
            <a:avLst/>
          </a:prstGeom>
          <a:noFill/>
        </p:spPr>
        <p:txBody>
          <a:bodyPr wrap="square" lIns="0" tIns="0" rIns="0" bIns="0">
            <a:spAutoFit/>
          </a:bodyPr>
          <a:lstStyle/>
          <a:p>
            <a:pPr algn="l"/>
            <a:r>
              <a:rPr sz="1800" b="1" i="0">
                <a:solidFill>
                  <a:srgbClr val="E7AD46"/>
                </a:solidFill>
                <a:latin typeface="Aptos"/>
              </a:rPr>
              <a:t>Salinity</a:t>
            </a:r>
          </a:p>
        </p:txBody>
      </p:sp>
      <p:sp>
        <p:nvSpPr>
          <p:cNvPr id="32" name="Oval 31"/>
          <p:cNvSpPr/>
          <p:nvPr/>
        </p:nvSpPr>
        <p:spPr>
          <a:xfrm>
            <a:off x="822959" y="4727448"/>
            <a:ext cx="182880" cy="182880"/>
          </a:xfrm>
          <a:prstGeom prst="ellipse">
            <a:avLst/>
          </a:prstGeom>
          <a:solidFill>
            <a:srgbClr val="E7AD46"/>
          </a:solidFill>
          <a:ln w="1905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15568" y="4700016"/>
            <a:ext cx="2057400" cy="256032"/>
          </a:xfrm>
          <a:prstGeom prst="rect">
            <a:avLst/>
          </a:prstGeom>
          <a:noFill/>
        </p:spPr>
        <p:txBody>
          <a:bodyPr wrap="square" lIns="0" tIns="0" rIns="0" bIns="0">
            <a:spAutoFit/>
          </a:bodyPr>
          <a:lstStyle/>
          <a:p>
            <a:pPr algn="l"/>
            <a:r>
              <a:rPr sz="1800" b="0" i="0">
                <a:solidFill>
                  <a:srgbClr val="143052"/>
                </a:solidFill>
                <a:latin typeface="Aptos"/>
              </a:rPr>
              <a:t>Surface salinity</a:t>
            </a:r>
          </a:p>
        </p:txBody>
      </p:sp>
      <p:sp>
        <p:nvSpPr>
          <p:cNvPr id="34" name="Oval 33"/>
          <p:cNvSpPr/>
          <p:nvPr/>
        </p:nvSpPr>
        <p:spPr>
          <a:xfrm>
            <a:off x="822959" y="5148072"/>
            <a:ext cx="182880" cy="182880"/>
          </a:xfrm>
          <a:prstGeom prst="ellipse">
            <a:avLst/>
          </a:prstGeom>
          <a:solidFill>
            <a:srgbClr val="E7AD46"/>
          </a:solidFill>
          <a:ln w="1905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15568" y="5120640"/>
            <a:ext cx="2057400" cy="256032"/>
          </a:xfrm>
          <a:prstGeom prst="rect">
            <a:avLst/>
          </a:prstGeom>
          <a:noFill/>
        </p:spPr>
        <p:txBody>
          <a:bodyPr wrap="square" lIns="0" tIns="0" rIns="0" bIns="0">
            <a:spAutoFit/>
          </a:bodyPr>
          <a:lstStyle/>
          <a:p>
            <a:pPr algn="l"/>
            <a:r>
              <a:rPr sz="1800" b="0" i="0">
                <a:solidFill>
                  <a:srgbClr val="143052"/>
                </a:solidFill>
                <a:latin typeface="Aptos"/>
              </a:rPr>
              <a:t>Bottom salinity</a:t>
            </a:r>
          </a:p>
        </p:txBody>
      </p:sp>
      <p:sp>
        <p:nvSpPr>
          <p:cNvPr id="36" name="Rounded Rectangle 35"/>
          <p:cNvSpPr/>
          <p:nvPr/>
        </p:nvSpPr>
        <p:spPr>
          <a:xfrm>
            <a:off x="3886200" y="4069080"/>
            <a:ext cx="2788920" cy="1737360"/>
          </a:xfrm>
          <a:prstGeom prst="roundRect">
            <a:avLst/>
          </a:prstGeom>
          <a:solidFill>
            <a:srgbClr val="FFFFFF"/>
          </a:solidFill>
          <a:ln w="25400">
            <a:solidFill>
              <a:srgbClr val="84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069080" y="4251960"/>
            <a:ext cx="2377440" cy="274320"/>
          </a:xfrm>
          <a:prstGeom prst="rect">
            <a:avLst/>
          </a:prstGeom>
          <a:noFill/>
        </p:spPr>
        <p:txBody>
          <a:bodyPr wrap="square" lIns="0" tIns="0" rIns="0" bIns="0">
            <a:spAutoFit/>
          </a:bodyPr>
          <a:lstStyle/>
          <a:p>
            <a:pPr algn="l"/>
            <a:r>
              <a:rPr sz="1800" b="1" i="0">
                <a:solidFill>
                  <a:srgbClr val="8479BE"/>
                </a:solidFill>
                <a:latin typeface="Aptos"/>
              </a:rPr>
              <a:t>Time</a:t>
            </a:r>
          </a:p>
        </p:txBody>
      </p:sp>
      <p:sp>
        <p:nvSpPr>
          <p:cNvPr id="38" name="Oval 37"/>
          <p:cNvSpPr/>
          <p:nvPr/>
        </p:nvSpPr>
        <p:spPr>
          <a:xfrm>
            <a:off x="4069080" y="4727448"/>
            <a:ext cx="182880" cy="182880"/>
          </a:xfrm>
          <a:prstGeom prst="ellipse">
            <a:avLst/>
          </a:prstGeom>
          <a:solidFill>
            <a:srgbClr val="8479BE"/>
          </a:solidFill>
          <a:ln w="19050">
            <a:solidFill>
              <a:srgbClr val="84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361688" y="4700016"/>
            <a:ext cx="2057400" cy="256032"/>
          </a:xfrm>
          <a:prstGeom prst="rect">
            <a:avLst/>
          </a:prstGeom>
          <a:noFill/>
        </p:spPr>
        <p:txBody>
          <a:bodyPr wrap="square" lIns="0" tIns="0" rIns="0" bIns="0">
            <a:spAutoFit/>
          </a:bodyPr>
          <a:lstStyle/>
          <a:p>
            <a:pPr algn="l"/>
            <a:r>
              <a:rPr sz="1800" b="0" i="0" dirty="0">
                <a:solidFill>
                  <a:srgbClr val="143052"/>
                </a:solidFill>
                <a:latin typeface="Aptos"/>
              </a:rPr>
              <a:t>Month</a:t>
            </a:r>
          </a:p>
        </p:txBody>
      </p:sp>
      <p:sp>
        <p:nvSpPr>
          <p:cNvPr id="40" name="Rounded Rectangle 39"/>
          <p:cNvSpPr/>
          <p:nvPr/>
        </p:nvSpPr>
        <p:spPr>
          <a:xfrm>
            <a:off x="7132320" y="4069080"/>
            <a:ext cx="4343400" cy="1737360"/>
          </a:xfrm>
          <a:prstGeom prst="roundRect">
            <a:avLst/>
          </a:prstGeom>
          <a:solidFill>
            <a:srgbClr val="DEF1F9"/>
          </a:solidFill>
          <a:ln>
            <a:solidFill>
              <a:srgbClr val="DEF1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406640" y="4315968"/>
            <a:ext cx="914400" cy="228600"/>
          </a:xfrm>
          <a:prstGeom prst="rect">
            <a:avLst/>
          </a:prstGeom>
          <a:noFill/>
        </p:spPr>
        <p:txBody>
          <a:bodyPr wrap="square" lIns="0" tIns="0" rIns="0" bIns="0">
            <a:spAutoFit/>
          </a:bodyPr>
          <a:lstStyle/>
          <a:p>
            <a:pPr algn="l"/>
            <a:r>
              <a:rPr sz="1800" b="1" i="0">
                <a:solidFill>
                  <a:srgbClr val="2A9DA1"/>
                </a:solidFill>
                <a:latin typeface="Aptos"/>
              </a:rPr>
              <a:t>GOAL</a:t>
            </a:r>
          </a:p>
        </p:txBody>
      </p:sp>
      <p:sp>
        <p:nvSpPr>
          <p:cNvPr id="42" name="TextBox 41"/>
          <p:cNvSpPr txBox="1"/>
          <p:nvPr/>
        </p:nvSpPr>
        <p:spPr>
          <a:xfrm>
            <a:off x="7406640" y="4681728"/>
            <a:ext cx="3703320" cy="830997"/>
          </a:xfrm>
          <a:prstGeom prst="rect">
            <a:avLst/>
          </a:prstGeom>
          <a:noFill/>
        </p:spPr>
        <p:txBody>
          <a:bodyPr wrap="square" lIns="0" tIns="0" rIns="0" bIns="0">
            <a:spAutoFit/>
          </a:bodyPr>
          <a:lstStyle/>
          <a:p>
            <a:pPr algn="l"/>
            <a:r>
              <a:rPr sz="1800" b="1" i="0" dirty="0">
                <a:solidFill>
                  <a:srgbClr val="143052"/>
                </a:solidFill>
                <a:latin typeface="Aptos"/>
              </a:rPr>
              <a:t>Determine which conditions are associated with </a:t>
            </a:r>
            <a:r>
              <a:rPr sz="1800" b="1" i="0" dirty="0" err="1">
                <a:solidFill>
                  <a:srgbClr val="143052"/>
                </a:solidFill>
                <a:latin typeface="Aptos"/>
              </a:rPr>
              <a:t>Eurytemora</a:t>
            </a:r>
            <a:r>
              <a:rPr sz="1800" b="1" i="0" dirty="0">
                <a:solidFill>
                  <a:srgbClr val="143052"/>
                </a:solidFill>
                <a:latin typeface="Aptos"/>
              </a:rPr>
              <a:t> </a:t>
            </a:r>
            <a:r>
              <a:rPr lang="en-US" sz="1800" b="1" i="0" dirty="0">
                <a:solidFill>
                  <a:srgbClr val="143052"/>
                </a:solidFill>
                <a:latin typeface="Aptos"/>
              </a:rPr>
              <a:t>distribution,</a:t>
            </a:r>
            <a:r>
              <a:rPr sz="1800" b="1" i="0" dirty="0">
                <a:solidFill>
                  <a:srgbClr val="143052"/>
                </a:solidFill>
                <a:latin typeface="Aptos"/>
              </a:rPr>
              <a:t> and</a:t>
            </a:r>
            <a:r>
              <a:rPr lang="en-US" sz="1800" b="1" i="0" dirty="0">
                <a:solidFill>
                  <a:srgbClr val="143052"/>
                </a:solidFill>
                <a:latin typeface="Aptos"/>
              </a:rPr>
              <a:t> abundance.</a:t>
            </a:r>
            <a:endParaRPr sz="1800" b="1" i="0" dirty="0">
              <a:solidFill>
                <a:srgbClr val="143052"/>
              </a:solidFill>
              <a:latin typeface="Aptos"/>
            </a:endParaRPr>
          </a:p>
        </p:txBody>
      </p:sp>
      <p:sp>
        <p:nvSpPr>
          <p:cNvPr id="43"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2A7EBE"/>
                </a:solidFill>
                <a:latin typeface="Aptos"/>
              </a:rPr>
              <a:t>STORY</a:t>
            </a:r>
          </a:p>
        </p:txBody>
      </p:sp>
      <p:sp>
        <p:nvSpPr>
          <p:cNvPr id="45" name="NAV_1"/>
          <p:cNvSpPr/>
          <p:nvPr/>
        </p:nvSpPr>
        <p:spPr>
          <a:xfrm>
            <a:off x="1892808" y="6528816"/>
            <a:ext cx="1225296" cy="219456"/>
          </a:xfrm>
          <a:prstGeom prst="roundRect">
            <a:avLst/>
          </a:prstGeom>
          <a:solidFill>
            <a:srgbClr val="2A9DA1"/>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FFFFFF"/>
                </a:solidFill>
                <a:latin typeface="Aptos"/>
              </a:rPr>
              <a:t>SYSTEM</a:t>
            </a:r>
          </a:p>
        </p:txBody>
      </p:sp>
      <p:sp>
        <p:nvSpPr>
          <p:cNvPr id="47"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E7AD46"/>
                </a:solidFill>
                <a:latin typeface="Aptos"/>
              </a:rPr>
              <a:t>DATA</a:t>
            </a:r>
          </a:p>
        </p:txBody>
      </p:sp>
      <p:sp>
        <p:nvSpPr>
          <p:cNvPr id="49"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E26954"/>
                </a:solidFill>
                <a:latin typeface="Aptos"/>
              </a:rPr>
              <a:t>RESULTS</a:t>
            </a:r>
          </a:p>
        </p:txBody>
      </p:sp>
      <p:sp>
        <p:nvSpPr>
          <p:cNvPr id="51" name="NAV_4"/>
          <p:cNvSpPr/>
          <p:nvPr/>
        </p:nvSpPr>
        <p:spPr>
          <a:xfrm>
            <a:off x="6062472" y="6528816"/>
            <a:ext cx="1568196" cy="219456"/>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073902" y="6490868"/>
            <a:ext cx="1545336"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55" name="Oval 54">
            <a:extLst>
              <a:ext uri="{FF2B5EF4-FFF2-40B4-BE49-F238E27FC236}">
                <a16:creationId xmlns:a16="http://schemas.microsoft.com/office/drawing/2014/main" id="{E4A78DC1-22DA-C5C7-7630-AE8A61AA4A3C}"/>
              </a:ext>
            </a:extLst>
          </p:cNvPr>
          <p:cNvSpPr/>
          <p:nvPr/>
        </p:nvSpPr>
        <p:spPr>
          <a:xfrm>
            <a:off x="4069080" y="5100066"/>
            <a:ext cx="182880" cy="182880"/>
          </a:xfrm>
          <a:prstGeom prst="ellipse">
            <a:avLst/>
          </a:prstGeom>
          <a:solidFill>
            <a:srgbClr val="8479BE"/>
          </a:solidFill>
          <a:ln w="19050">
            <a:solidFill>
              <a:srgbClr val="84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a:extLst>
              <a:ext uri="{FF2B5EF4-FFF2-40B4-BE49-F238E27FC236}">
                <a16:creationId xmlns:a16="http://schemas.microsoft.com/office/drawing/2014/main" id="{4DB52969-C317-E210-6101-9546CAEA16C5}"/>
              </a:ext>
            </a:extLst>
          </p:cNvPr>
          <p:cNvSpPr txBox="1"/>
          <p:nvPr/>
        </p:nvSpPr>
        <p:spPr>
          <a:xfrm>
            <a:off x="4389120" y="5122273"/>
            <a:ext cx="2057400" cy="153888"/>
          </a:xfrm>
          <a:prstGeom prst="rect">
            <a:avLst/>
          </a:prstGeom>
          <a:noFill/>
        </p:spPr>
        <p:txBody>
          <a:bodyPr wrap="square" lIns="0" tIns="0" rIns="0" bIns="0">
            <a:spAutoFit/>
          </a:bodyPr>
          <a:lstStyle/>
          <a:p>
            <a:pPr algn="l"/>
            <a:r>
              <a:rPr lang="en-US" sz="1800" dirty="0">
                <a:solidFill>
                  <a:srgbClr val="143052"/>
                </a:solidFill>
                <a:latin typeface="Aptos"/>
              </a:rPr>
              <a:t>Years</a:t>
            </a:r>
            <a:endParaRPr sz="1000" b="0" i="0" dirty="0">
              <a:solidFill>
                <a:srgbClr val="143052"/>
              </a:solidFill>
              <a:latin typeface="Aptos"/>
            </a:endParaRPr>
          </a:p>
        </p:txBody>
      </p:sp>
      <p:sp>
        <p:nvSpPr>
          <p:cNvPr id="6" name="TextBox 5">
            <a:extLst>
              <a:ext uri="{FF2B5EF4-FFF2-40B4-BE49-F238E27FC236}">
                <a16:creationId xmlns:a16="http://schemas.microsoft.com/office/drawing/2014/main" id="{0D3D69B5-C4AB-CA1A-E407-BDFAE40B3B06}"/>
              </a:ext>
            </a:extLst>
          </p:cNvPr>
          <p:cNvSpPr txBox="1"/>
          <p:nvPr/>
        </p:nvSpPr>
        <p:spPr>
          <a:xfrm>
            <a:off x="7713132" y="6492597"/>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NAV_2">
            <a:extLst>
              <a:ext uri="{FF2B5EF4-FFF2-40B4-BE49-F238E27FC236}">
                <a16:creationId xmlns:a16="http://schemas.microsoft.com/office/drawing/2014/main" id="{98D218F6-B965-D233-1B27-AE8E02CE1792}"/>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566928"/>
          </a:xfrm>
          <a:prstGeom prst="rect">
            <a:avLst/>
          </a:prstGeom>
          <a:noFill/>
        </p:spPr>
        <p:txBody>
          <a:bodyPr wrap="square" lIns="0" tIns="0" rIns="0" bIns="0">
            <a:spAutoFit/>
          </a:bodyPr>
          <a:lstStyle/>
          <a:p>
            <a:pPr algn="l"/>
            <a:r>
              <a:rPr sz="2700" b="1" i="0">
                <a:solidFill>
                  <a:srgbClr val="143052"/>
                </a:solidFill>
                <a:latin typeface="Aptos"/>
              </a:rPr>
              <a:t>The data</a:t>
            </a:r>
          </a:p>
        </p:txBody>
      </p:sp>
      <p:sp>
        <p:nvSpPr>
          <p:cNvPr id="5" name="TextBox 4"/>
          <p:cNvSpPr txBox="1"/>
          <p:nvPr/>
        </p:nvSpPr>
        <p:spPr>
          <a:xfrm>
            <a:off x="11201400" y="393192"/>
            <a:ext cx="502920" cy="320040"/>
          </a:xfrm>
          <a:prstGeom prst="rect">
            <a:avLst/>
          </a:prstGeom>
          <a:noFill/>
        </p:spPr>
        <p:txBody>
          <a:bodyPr wrap="square" lIns="0" tIns="0" rIns="0" bIns="0">
            <a:spAutoFit/>
          </a:bodyPr>
          <a:lstStyle/>
          <a:p>
            <a:pPr algn="r"/>
            <a:r>
              <a:rPr sz="1800" b="1" i="0">
                <a:solidFill>
                  <a:srgbClr val="5B6773"/>
                </a:solidFill>
                <a:latin typeface="Aptos"/>
              </a:rPr>
              <a:t>09</a:t>
            </a:r>
          </a:p>
        </p:txBody>
      </p:sp>
      <p:sp>
        <p:nvSpPr>
          <p:cNvPr id="7" name="TextBox 6"/>
          <p:cNvSpPr txBox="1"/>
          <p:nvPr/>
        </p:nvSpPr>
        <p:spPr>
          <a:xfrm>
            <a:off x="502920" y="1234440"/>
            <a:ext cx="10515600" cy="365760"/>
          </a:xfrm>
          <a:prstGeom prst="rect">
            <a:avLst/>
          </a:prstGeom>
          <a:noFill/>
        </p:spPr>
        <p:txBody>
          <a:bodyPr wrap="square" lIns="0" tIns="0" rIns="0" bIns="0">
            <a:spAutoFit/>
          </a:bodyPr>
          <a:lstStyle/>
          <a:p>
            <a:pPr algn="l"/>
            <a:r>
              <a:rPr sz="1800" b="0" i="0">
                <a:solidFill>
                  <a:srgbClr val="5B6773"/>
                </a:solidFill>
                <a:latin typeface="Aptos"/>
              </a:rPr>
              <a:t>Decades of monitoring give us breadth that a single field season cannot.</a:t>
            </a:r>
          </a:p>
        </p:txBody>
      </p:sp>
      <p:cxnSp>
        <p:nvCxnSpPr>
          <p:cNvPr id="8" name="Connector 7"/>
          <p:cNvCxnSpPr/>
          <p:nvPr/>
        </p:nvCxnSpPr>
        <p:spPr>
          <a:xfrm>
            <a:off x="914400" y="2240280"/>
            <a:ext cx="9875520" cy="0"/>
          </a:xfrm>
          <a:prstGeom prst="line">
            <a:avLst/>
          </a:prstGeom>
          <a:ln w="76200">
            <a:solidFill>
              <a:srgbClr val="E0E7EC"/>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3816" y="2139696"/>
            <a:ext cx="201168" cy="201168"/>
          </a:xfrm>
          <a:prstGeom prst="ellipse">
            <a:avLst/>
          </a:prstGeom>
          <a:solidFill>
            <a:srgbClr val="2A7EBE"/>
          </a:solidFill>
          <a:ln w="1905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1755648"/>
            <a:ext cx="640080" cy="274320"/>
          </a:xfrm>
          <a:prstGeom prst="rect">
            <a:avLst/>
          </a:prstGeom>
          <a:noFill/>
        </p:spPr>
        <p:txBody>
          <a:bodyPr wrap="square" lIns="0" tIns="0" rIns="0" bIns="0">
            <a:spAutoFit/>
          </a:bodyPr>
          <a:lstStyle/>
          <a:p>
            <a:pPr algn="ctr"/>
            <a:r>
              <a:rPr sz="1800" b="1" i="0">
                <a:solidFill>
                  <a:srgbClr val="143052"/>
                </a:solidFill>
                <a:latin typeface="Aptos"/>
              </a:rPr>
              <a:t>1970s</a:t>
            </a:r>
          </a:p>
        </p:txBody>
      </p:sp>
      <p:sp>
        <p:nvSpPr>
          <p:cNvPr id="11" name="Oval 10"/>
          <p:cNvSpPr/>
          <p:nvPr/>
        </p:nvSpPr>
        <p:spPr>
          <a:xfrm>
            <a:off x="3831335" y="2139696"/>
            <a:ext cx="201168" cy="201168"/>
          </a:xfrm>
          <a:prstGeom prst="ellipse">
            <a:avLst/>
          </a:prstGeom>
          <a:solidFill>
            <a:srgbClr val="2A9DA1"/>
          </a:solidFill>
          <a:ln w="1905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11879" y="1755648"/>
            <a:ext cx="640080" cy="274320"/>
          </a:xfrm>
          <a:prstGeom prst="rect">
            <a:avLst/>
          </a:prstGeom>
          <a:noFill/>
        </p:spPr>
        <p:txBody>
          <a:bodyPr wrap="square" lIns="0" tIns="0" rIns="0" bIns="0">
            <a:spAutoFit/>
          </a:bodyPr>
          <a:lstStyle/>
          <a:p>
            <a:pPr algn="ctr"/>
            <a:r>
              <a:rPr sz="1800" b="1" i="0">
                <a:solidFill>
                  <a:srgbClr val="143052"/>
                </a:solidFill>
                <a:latin typeface="Aptos"/>
              </a:rPr>
              <a:t>1990s</a:t>
            </a:r>
          </a:p>
        </p:txBody>
      </p:sp>
      <p:sp>
        <p:nvSpPr>
          <p:cNvPr id="13" name="Oval 12"/>
          <p:cNvSpPr/>
          <p:nvPr/>
        </p:nvSpPr>
        <p:spPr>
          <a:xfrm>
            <a:off x="6757416" y="2139696"/>
            <a:ext cx="201168" cy="201168"/>
          </a:xfrm>
          <a:prstGeom prst="ellipse">
            <a:avLst/>
          </a:prstGeom>
          <a:solidFill>
            <a:srgbClr val="E7AD46"/>
          </a:solidFill>
          <a:ln w="1905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37960" y="1755648"/>
            <a:ext cx="640080" cy="274320"/>
          </a:xfrm>
          <a:prstGeom prst="rect">
            <a:avLst/>
          </a:prstGeom>
          <a:noFill/>
        </p:spPr>
        <p:txBody>
          <a:bodyPr wrap="square" lIns="0" tIns="0" rIns="0" bIns="0">
            <a:spAutoFit/>
          </a:bodyPr>
          <a:lstStyle/>
          <a:p>
            <a:pPr algn="ctr"/>
            <a:r>
              <a:rPr sz="1800" b="1" i="0">
                <a:solidFill>
                  <a:srgbClr val="143052"/>
                </a:solidFill>
                <a:latin typeface="Aptos"/>
              </a:rPr>
              <a:t>2000s</a:t>
            </a:r>
          </a:p>
        </p:txBody>
      </p:sp>
      <p:sp>
        <p:nvSpPr>
          <p:cNvPr id="15" name="Oval 14"/>
          <p:cNvSpPr/>
          <p:nvPr/>
        </p:nvSpPr>
        <p:spPr>
          <a:xfrm>
            <a:off x="9866376" y="2139696"/>
            <a:ext cx="201168" cy="201168"/>
          </a:xfrm>
          <a:prstGeom prst="ellipse">
            <a:avLst/>
          </a:prstGeom>
          <a:solidFill>
            <a:srgbClr val="E26954"/>
          </a:solidFill>
          <a:ln w="1905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46920" y="1755648"/>
            <a:ext cx="640080" cy="274320"/>
          </a:xfrm>
          <a:prstGeom prst="rect">
            <a:avLst/>
          </a:prstGeom>
          <a:noFill/>
        </p:spPr>
        <p:txBody>
          <a:bodyPr wrap="square" lIns="0" tIns="0" rIns="0" bIns="0">
            <a:spAutoFit/>
          </a:bodyPr>
          <a:lstStyle/>
          <a:p>
            <a:pPr algn="ctr"/>
            <a:r>
              <a:rPr sz="1800" b="1" i="0">
                <a:solidFill>
                  <a:srgbClr val="143052"/>
                </a:solidFill>
                <a:latin typeface="Aptos"/>
              </a:rPr>
              <a:t>2020s</a:t>
            </a:r>
          </a:p>
        </p:txBody>
      </p:sp>
      <p:sp>
        <p:nvSpPr>
          <p:cNvPr id="17" name="TextBox 16"/>
          <p:cNvSpPr txBox="1"/>
          <p:nvPr/>
        </p:nvSpPr>
        <p:spPr>
          <a:xfrm>
            <a:off x="914400" y="2834640"/>
            <a:ext cx="2011680" cy="594360"/>
          </a:xfrm>
          <a:prstGeom prst="rect">
            <a:avLst/>
          </a:prstGeom>
          <a:noFill/>
        </p:spPr>
        <p:txBody>
          <a:bodyPr wrap="square" lIns="0" tIns="0" rIns="0" bIns="0">
            <a:spAutoFit/>
          </a:bodyPr>
          <a:lstStyle/>
          <a:p>
            <a:pPr algn="l"/>
            <a:r>
              <a:rPr sz="3000" b="1" i="0">
                <a:solidFill>
                  <a:srgbClr val="2A9DA1"/>
                </a:solidFill>
                <a:latin typeface="Aptos"/>
              </a:rPr>
              <a:t>14,000+</a:t>
            </a:r>
          </a:p>
        </p:txBody>
      </p:sp>
      <p:sp>
        <p:nvSpPr>
          <p:cNvPr id="18" name="TextBox 17"/>
          <p:cNvSpPr txBox="1"/>
          <p:nvPr/>
        </p:nvSpPr>
        <p:spPr>
          <a:xfrm>
            <a:off x="914400" y="3456432"/>
            <a:ext cx="2651760" cy="594360"/>
          </a:xfrm>
          <a:prstGeom prst="rect">
            <a:avLst/>
          </a:prstGeom>
          <a:noFill/>
        </p:spPr>
        <p:txBody>
          <a:bodyPr wrap="square" lIns="0" tIns="0" rIns="0" bIns="0">
            <a:spAutoFit/>
          </a:bodyPr>
          <a:lstStyle/>
          <a:p>
            <a:pPr algn="l"/>
            <a:r>
              <a:rPr sz="1800" b="0" i="0">
                <a:solidFill>
                  <a:srgbClr val="5B6773"/>
                </a:solidFill>
                <a:latin typeface="Aptos"/>
              </a:rPr>
              <a:t>Eurytemora observations</a:t>
            </a:r>
            <a:br/>
            <a:r>
              <a:rPr sz="1800"/>
              <a:t>in the historical case study</a:t>
            </a:r>
          </a:p>
        </p:txBody>
      </p:sp>
      <p:sp>
        <p:nvSpPr>
          <p:cNvPr id="19" name="Rounded Rectangle 18"/>
          <p:cNvSpPr/>
          <p:nvPr/>
        </p:nvSpPr>
        <p:spPr>
          <a:xfrm>
            <a:off x="3931920" y="2788920"/>
            <a:ext cx="3355848" cy="2450592"/>
          </a:xfrm>
          <a:prstGeom prst="roundRect">
            <a:avLst/>
          </a:prstGeom>
          <a:solidFill>
            <a:srgbClr val="FFFFFF"/>
          </a:solidFill>
          <a:ln w="13970">
            <a:solidFill>
              <a:srgbClr val="E0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931920" y="2788920"/>
            <a:ext cx="73152" cy="2450592"/>
          </a:xfrm>
          <a:prstGeom prst="rect">
            <a:avLst/>
          </a:prstGeom>
          <a:solidFill>
            <a:srgbClr val="2A7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4142232" y="2990088"/>
            <a:ext cx="420624" cy="420624"/>
          </a:xfrm>
          <a:prstGeom prst="ellipse">
            <a:avLst/>
          </a:prstGeom>
          <a:solidFill>
            <a:srgbClr val="2A7EBE"/>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42232" y="3026663"/>
            <a:ext cx="420624" cy="256032"/>
          </a:xfrm>
          <a:prstGeom prst="rect">
            <a:avLst/>
          </a:prstGeom>
          <a:noFill/>
        </p:spPr>
        <p:txBody>
          <a:bodyPr wrap="square" lIns="0" tIns="0" rIns="0" bIns="0">
            <a:spAutoFit/>
          </a:bodyPr>
          <a:lstStyle/>
          <a:p>
            <a:pPr algn="ctr"/>
            <a:r>
              <a:rPr sz="1800" b="1" i="0">
                <a:solidFill>
                  <a:srgbClr val="FFFFFF"/>
                </a:solidFill>
                <a:latin typeface="Aptos"/>
              </a:rPr>
              <a:t>A</a:t>
            </a:r>
          </a:p>
        </p:txBody>
      </p:sp>
      <p:sp>
        <p:nvSpPr>
          <p:cNvPr id="23" name="TextBox 22"/>
          <p:cNvSpPr txBox="1"/>
          <p:nvPr/>
        </p:nvSpPr>
        <p:spPr>
          <a:xfrm>
            <a:off x="4681728" y="2990088"/>
            <a:ext cx="2313431" cy="292608"/>
          </a:xfrm>
          <a:prstGeom prst="rect">
            <a:avLst/>
          </a:prstGeom>
          <a:noFill/>
        </p:spPr>
        <p:txBody>
          <a:bodyPr wrap="square" lIns="0" tIns="0" rIns="0" bIns="0">
            <a:spAutoFit/>
          </a:bodyPr>
          <a:lstStyle/>
          <a:p>
            <a:pPr algn="l"/>
            <a:r>
              <a:rPr sz="1800" b="1" i="0">
                <a:solidFill>
                  <a:srgbClr val="143052"/>
                </a:solidFill>
                <a:latin typeface="Aptos"/>
              </a:rPr>
              <a:t>Multiple monitoring programs</a:t>
            </a:r>
          </a:p>
        </p:txBody>
      </p:sp>
      <p:sp>
        <p:nvSpPr>
          <p:cNvPr id="24" name="TextBox 23"/>
          <p:cNvSpPr txBox="1"/>
          <p:nvPr/>
        </p:nvSpPr>
        <p:spPr>
          <a:xfrm>
            <a:off x="4626864" y="3681469"/>
            <a:ext cx="2493602" cy="1384995"/>
          </a:xfrm>
          <a:prstGeom prst="rect">
            <a:avLst/>
          </a:prstGeom>
          <a:noFill/>
        </p:spPr>
        <p:txBody>
          <a:bodyPr wrap="square" lIns="0" tIns="0" rIns="0" bIns="0">
            <a:spAutoFit/>
          </a:bodyPr>
          <a:lstStyle/>
          <a:p>
            <a:pPr algn="l"/>
            <a:r>
              <a:rPr sz="1800" b="0" i="0" dirty="0">
                <a:solidFill>
                  <a:srgbClr val="5B6773"/>
                </a:solidFill>
                <a:latin typeface="Aptos"/>
              </a:rPr>
              <a:t>Zooplankton observations are paired with environmental measurements where coverage allows.</a:t>
            </a:r>
          </a:p>
        </p:txBody>
      </p:sp>
      <p:sp>
        <p:nvSpPr>
          <p:cNvPr id="25" name="Rounded Rectangle 24"/>
          <p:cNvSpPr/>
          <p:nvPr/>
        </p:nvSpPr>
        <p:spPr>
          <a:xfrm>
            <a:off x="7616952" y="2788919"/>
            <a:ext cx="3172968" cy="2450592"/>
          </a:xfrm>
          <a:prstGeom prst="roundRect">
            <a:avLst/>
          </a:prstGeom>
          <a:solidFill>
            <a:srgbClr val="FFFFFF"/>
          </a:solidFill>
          <a:ln w="13970">
            <a:solidFill>
              <a:srgbClr val="E0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598663" y="2788919"/>
            <a:ext cx="88053" cy="2450593"/>
          </a:xfrm>
          <a:prstGeom prst="rect">
            <a:avLst/>
          </a:prstGeom>
          <a:solidFill>
            <a:srgbClr val="5B9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842165" y="2896786"/>
            <a:ext cx="420624" cy="420624"/>
          </a:xfrm>
          <a:prstGeom prst="ellipse">
            <a:avLst/>
          </a:prstGeom>
          <a:solidFill>
            <a:srgbClr val="5B975C"/>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854696" y="2973156"/>
            <a:ext cx="420624" cy="256032"/>
          </a:xfrm>
          <a:prstGeom prst="rect">
            <a:avLst/>
          </a:prstGeom>
          <a:noFill/>
        </p:spPr>
        <p:txBody>
          <a:bodyPr wrap="square" lIns="0" tIns="0" rIns="0" bIns="0">
            <a:spAutoFit/>
          </a:bodyPr>
          <a:lstStyle/>
          <a:p>
            <a:pPr algn="ctr"/>
            <a:r>
              <a:rPr sz="1800" b="1" i="0" dirty="0">
                <a:solidFill>
                  <a:srgbClr val="FFFFFF"/>
                </a:solidFill>
                <a:latin typeface="Aptos"/>
              </a:rPr>
              <a:t>B</a:t>
            </a:r>
          </a:p>
        </p:txBody>
      </p:sp>
      <p:sp>
        <p:nvSpPr>
          <p:cNvPr id="29" name="TextBox 28"/>
          <p:cNvSpPr txBox="1"/>
          <p:nvPr/>
        </p:nvSpPr>
        <p:spPr>
          <a:xfrm>
            <a:off x="8430768" y="2978658"/>
            <a:ext cx="2313431" cy="292608"/>
          </a:xfrm>
          <a:prstGeom prst="rect">
            <a:avLst/>
          </a:prstGeom>
          <a:noFill/>
        </p:spPr>
        <p:txBody>
          <a:bodyPr wrap="square" lIns="0" tIns="0" rIns="0" bIns="0">
            <a:spAutoFit/>
          </a:bodyPr>
          <a:lstStyle/>
          <a:p>
            <a:pPr algn="l"/>
            <a:r>
              <a:rPr sz="1800" b="1" i="0" dirty="0">
                <a:solidFill>
                  <a:srgbClr val="143052"/>
                </a:solidFill>
                <a:latin typeface="Aptos"/>
              </a:rPr>
              <a:t>Long time span</a:t>
            </a:r>
          </a:p>
        </p:txBody>
      </p:sp>
      <p:sp>
        <p:nvSpPr>
          <p:cNvPr id="30" name="TextBox 29"/>
          <p:cNvSpPr txBox="1"/>
          <p:nvPr/>
        </p:nvSpPr>
        <p:spPr>
          <a:xfrm>
            <a:off x="8430768" y="3552445"/>
            <a:ext cx="2267711" cy="612647"/>
          </a:xfrm>
          <a:prstGeom prst="rect">
            <a:avLst/>
          </a:prstGeom>
          <a:noFill/>
        </p:spPr>
        <p:txBody>
          <a:bodyPr wrap="square" lIns="0" tIns="0" rIns="0" bIns="0">
            <a:spAutoFit/>
          </a:bodyPr>
          <a:lstStyle/>
          <a:p>
            <a:pPr algn="l"/>
            <a:r>
              <a:rPr sz="1800" b="0" i="0" dirty="0">
                <a:solidFill>
                  <a:srgbClr val="5B6773"/>
                </a:solidFill>
                <a:latin typeface="Aptos"/>
              </a:rPr>
              <a:t>Decades of observations capture substantial environmental variability.</a:t>
            </a:r>
          </a:p>
        </p:txBody>
      </p:sp>
      <p:sp>
        <p:nvSpPr>
          <p:cNvPr id="31" name="Rounded Rectangle 30"/>
          <p:cNvSpPr/>
          <p:nvPr/>
        </p:nvSpPr>
        <p:spPr>
          <a:xfrm>
            <a:off x="445346" y="5481828"/>
            <a:ext cx="6675120" cy="777240"/>
          </a:xfrm>
          <a:prstGeom prst="roundRect">
            <a:avLst/>
          </a:prstGeom>
          <a:solidFill>
            <a:srgbClr val="FFF7E0"/>
          </a:solidFill>
          <a:ln w="1905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43618" y="5633719"/>
            <a:ext cx="6126480" cy="256032"/>
          </a:xfrm>
          <a:prstGeom prst="rect">
            <a:avLst/>
          </a:prstGeom>
          <a:noFill/>
        </p:spPr>
        <p:txBody>
          <a:bodyPr wrap="square" lIns="0" tIns="0" rIns="0" bIns="0">
            <a:spAutoFit/>
          </a:bodyPr>
          <a:lstStyle/>
          <a:p>
            <a:pPr algn="ctr"/>
            <a:r>
              <a:rPr sz="1800" b="1" i="0" dirty="0">
                <a:solidFill>
                  <a:srgbClr val="143052"/>
                </a:solidFill>
                <a:latin typeface="Aptos"/>
              </a:rPr>
              <a:t>Strength = breadth     •     Limitation = the record is not uniform</a:t>
            </a:r>
          </a:p>
        </p:txBody>
      </p:sp>
      <p:sp>
        <p:nvSpPr>
          <p:cNvPr id="33"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2A7EBE"/>
                </a:solidFill>
                <a:latin typeface="Aptos"/>
              </a:rPr>
              <a:t>STORY</a:t>
            </a:r>
          </a:p>
        </p:txBody>
      </p:sp>
      <p:sp>
        <p:nvSpPr>
          <p:cNvPr id="35"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2A9DA1"/>
                </a:solidFill>
                <a:latin typeface="Aptos"/>
              </a:rPr>
              <a:t>SYSTEM</a:t>
            </a:r>
          </a:p>
        </p:txBody>
      </p:sp>
      <p:sp>
        <p:nvSpPr>
          <p:cNvPr id="37" name="NAV_2"/>
          <p:cNvSpPr/>
          <p:nvPr/>
        </p:nvSpPr>
        <p:spPr>
          <a:xfrm>
            <a:off x="3282696" y="6528816"/>
            <a:ext cx="1225296" cy="219456"/>
          </a:xfrm>
          <a:prstGeom prst="roundRect">
            <a:avLst/>
          </a:prstGeom>
          <a:solidFill>
            <a:srgbClr val="E7AD46"/>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FFFFFF"/>
                </a:solidFill>
                <a:latin typeface="Aptos"/>
              </a:rPr>
              <a:t>DATA</a:t>
            </a:r>
          </a:p>
        </p:txBody>
      </p:sp>
      <p:sp>
        <p:nvSpPr>
          <p:cNvPr id="39"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E26954"/>
                </a:solidFill>
                <a:latin typeface="Aptos"/>
              </a:rPr>
              <a:t>RESULTS</a:t>
            </a:r>
          </a:p>
        </p:txBody>
      </p:sp>
      <p:sp>
        <p:nvSpPr>
          <p:cNvPr id="41" name="NAV_4"/>
          <p:cNvSpPr/>
          <p:nvPr/>
        </p:nvSpPr>
        <p:spPr>
          <a:xfrm>
            <a:off x="6062472" y="6528816"/>
            <a:ext cx="1554480" cy="219455"/>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089904" y="6505956"/>
            <a:ext cx="1536191"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6" name="TextBox 5">
            <a:extLst>
              <a:ext uri="{FF2B5EF4-FFF2-40B4-BE49-F238E27FC236}">
                <a16:creationId xmlns:a16="http://schemas.microsoft.com/office/drawing/2014/main" id="{A3DAB38D-89FC-8A71-B670-1670B288A544}"/>
              </a:ext>
            </a:extLst>
          </p:cNvPr>
          <p:cNvSpPr txBox="1"/>
          <p:nvPr/>
        </p:nvSpPr>
        <p:spPr>
          <a:xfrm>
            <a:off x="7713132" y="6492597"/>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NAV_2">
            <a:extLst>
              <a:ext uri="{FF2B5EF4-FFF2-40B4-BE49-F238E27FC236}">
                <a16:creationId xmlns:a16="http://schemas.microsoft.com/office/drawing/2014/main" id="{ED34168B-491B-0A3A-705A-61DC8C8A1D4C}"/>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566928"/>
          </a:xfrm>
          <a:prstGeom prst="rect">
            <a:avLst/>
          </a:prstGeom>
          <a:noFill/>
        </p:spPr>
        <p:txBody>
          <a:bodyPr wrap="square" lIns="0" tIns="0" rIns="0" bIns="0">
            <a:spAutoFit/>
          </a:bodyPr>
          <a:lstStyle/>
          <a:p>
            <a:pPr algn="l"/>
            <a:r>
              <a:rPr sz="2700" b="1" i="0">
                <a:solidFill>
                  <a:srgbClr val="143052"/>
                </a:solidFill>
                <a:latin typeface="Aptos"/>
              </a:rPr>
              <a:t>A key challenge: the data changed over time</a:t>
            </a:r>
          </a:p>
        </p:txBody>
      </p:sp>
      <p:sp>
        <p:nvSpPr>
          <p:cNvPr id="5" name="TextBox 4"/>
          <p:cNvSpPr txBox="1"/>
          <p:nvPr/>
        </p:nvSpPr>
        <p:spPr>
          <a:xfrm>
            <a:off x="11201400" y="393192"/>
            <a:ext cx="502920" cy="320040"/>
          </a:xfrm>
          <a:prstGeom prst="rect">
            <a:avLst/>
          </a:prstGeom>
          <a:noFill/>
        </p:spPr>
        <p:txBody>
          <a:bodyPr wrap="square" lIns="0" tIns="0" rIns="0" bIns="0">
            <a:spAutoFit/>
          </a:bodyPr>
          <a:lstStyle/>
          <a:p>
            <a:pPr algn="r"/>
            <a:r>
              <a:rPr sz="1800" b="1" i="0">
                <a:solidFill>
                  <a:srgbClr val="5B6773"/>
                </a:solidFill>
                <a:latin typeface="Aptos"/>
              </a:rPr>
              <a:t>10</a:t>
            </a:r>
          </a:p>
        </p:txBody>
      </p:sp>
      <p:sp>
        <p:nvSpPr>
          <p:cNvPr id="7" name="TextBox 6"/>
          <p:cNvSpPr txBox="1"/>
          <p:nvPr/>
        </p:nvSpPr>
        <p:spPr>
          <a:xfrm>
            <a:off x="502920" y="1234440"/>
            <a:ext cx="10698480" cy="365760"/>
          </a:xfrm>
          <a:prstGeom prst="rect">
            <a:avLst/>
          </a:prstGeom>
          <a:noFill/>
        </p:spPr>
        <p:txBody>
          <a:bodyPr wrap="square" lIns="0" tIns="0" rIns="0" bIns="0">
            <a:spAutoFit/>
          </a:bodyPr>
          <a:lstStyle/>
          <a:p>
            <a:pPr algn="l"/>
            <a:r>
              <a:rPr sz="1800" b="0" i="0">
                <a:solidFill>
                  <a:srgbClr val="5B6773"/>
                </a:solidFill>
                <a:latin typeface="Aptos"/>
              </a:rPr>
              <a:t>Not every environmental variable was measured consistently across the full record.</a:t>
            </a:r>
          </a:p>
        </p:txBody>
      </p:sp>
      <p:sp>
        <p:nvSpPr>
          <p:cNvPr id="8" name="Rounded Rectangle 7"/>
          <p:cNvSpPr/>
          <p:nvPr/>
        </p:nvSpPr>
        <p:spPr>
          <a:xfrm>
            <a:off x="1051899" y="1965960"/>
            <a:ext cx="3894667" cy="3825240"/>
          </a:xfrm>
          <a:prstGeom prst="roundRect">
            <a:avLst/>
          </a:prstGeom>
          <a:solidFill>
            <a:srgbClr val="FFFFFF"/>
          </a:solidFill>
          <a:ln w="3175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382012" y="2126488"/>
            <a:ext cx="2743200" cy="320040"/>
          </a:xfrm>
          <a:prstGeom prst="rect">
            <a:avLst/>
          </a:prstGeom>
          <a:noFill/>
        </p:spPr>
        <p:txBody>
          <a:bodyPr wrap="square" lIns="0" tIns="0" rIns="0" bIns="0">
            <a:spAutoFit/>
          </a:bodyPr>
          <a:lstStyle/>
          <a:p>
            <a:pPr algn="l"/>
            <a:r>
              <a:rPr sz="1800" b="1" i="0" dirty="0">
                <a:solidFill>
                  <a:srgbClr val="2A7EBE"/>
                </a:solidFill>
                <a:latin typeface="Aptos"/>
              </a:rPr>
              <a:t>1975–1993</a:t>
            </a:r>
          </a:p>
        </p:txBody>
      </p:sp>
      <p:sp>
        <p:nvSpPr>
          <p:cNvPr id="10" name="Oval 9"/>
          <p:cNvSpPr/>
          <p:nvPr/>
        </p:nvSpPr>
        <p:spPr>
          <a:xfrm>
            <a:off x="1266783" y="2810668"/>
            <a:ext cx="155448" cy="155448"/>
          </a:xfrm>
          <a:prstGeom prst="ellipse">
            <a:avLst/>
          </a:prstGeom>
          <a:solidFill>
            <a:srgbClr val="2A7EBE"/>
          </a:solidFill>
          <a:ln w="1905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637115" y="2793492"/>
            <a:ext cx="2331720" cy="228600"/>
          </a:xfrm>
          <a:prstGeom prst="rect">
            <a:avLst/>
          </a:prstGeom>
          <a:noFill/>
        </p:spPr>
        <p:txBody>
          <a:bodyPr wrap="square" lIns="0" tIns="0" rIns="0" bIns="0">
            <a:spAutoFit/>
          </a:bodyPr>
          <a:lstStyle/>
          <a:p>
            <a:pPr algn="l"/>
            <a:r>
              <a:rPr sz="1800" b="0" i="0" dirty="0">
                <a:solidFill>
                  <a:srgbClr val="143052"/>
                </a:solidFill>
                <a:latin typeface="Aptos"/>
              </a:rPr>
              <a:t>X2</a:t>
            </a:r>
          </a:p>
        </p:txBody>
      </p:sp>
      <p:sp>
        <p:nvSpPr>
          <p:cNvPr id="12" name="Oval 11"/>
          <p:cNvSpPr/>
          <p:nvPr/>
        </p:nvSpPr>
        <p:spPr>
          <a:xfrm>
            <a:off x="1260307" y="3671316"/>
            <a:ext cx="155448" cy="155448"/>
          </a:xfrm>
          <a:prstGeom prst="ellipse">
            <a:avLst/>
          </a:prstGeom>
          <a:solidFill>
            <a:srgbClr val="2A7EBE"/>
          </a:solidFill>
          <a:ln w="1905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573044" y="3649980"/>
            <a:ext cx="2331720" cy="228600"/>
          </a:xfrm>
          <a:prstGeom prst="rect">
            <a:avLst/>
          </a:prstGeom>
          <a:noFill/>
        </p:spPr>
        <p:txBody>
          <a:bodyPr wrap="square" lIns="0" tIns="0" rIns="0" bIns="0">
            <a:spAutoFit/>
          </a:bodyPr>
          <a:lstStyle/>
          <a:p>
            <a:pPr algn="l"/>
            <a:r>
              <a:rPr sz="1800" b="0" i="0" dirty="0">
                <a:solidFill>
                  <a:srgbClr val="143052"/>
                </a:solidFill>
                <a:latin typeface="Aptos"/>
              </a:rPr>
              <a:t>Temperature</a:t>
            </a:r>
          </a:p>
        </p:txBody>
      </p:sp>
      <p:sp>
        <p:nvSpPr>
          <p:cNvPr id="14" name="Oval 13"/>
          <p:cNvSpPr/>
          <p:nvPr/>
        </p:nvSpPr>
        <p:spPr>
          <a:xfrm>
            <a:off x="1260307" y="4707976"/>
            <a:ext cx="155448" cy="155448"/>
          </a:xfrm>
          <a:prstGeom prst="ellipse">
            <a:avLst/>
          </a:prstGeom>
          <a:solidFill>
            <a:srgbClr val="2A7EBE"/>
          </a:solidFill>
          <a:ln w="1905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08422" y="4649724"/>
            <a:ext cx="2331720" cy="228600"/>
          </a:xfrm>
          <a:prstGeom prst="rect">
            <a:avLst/>
          </a:prstGeom>
          <a:noFill/>
        </p:spPr>
        <p:txBody>
          <a:bodyPr wrap="square" lIns="0" tIns="0" rIns="0" bIns="0">
            <a:spAutoFit/>
          </a:bodyPr>
          <a:lstStyle/>
          <a:p>
            <a:pPr algn="l"/>
            <a:r>
              <a:rPr sz="1800" b="0" i="0" dirty="0">
                <a:solidFill>
                  <a:srgbClr val="143052"/>
                </a:solidFill>
                <a:latin typeface="Aptos"/>
              </a:rPr>
              <a:t>Chlorophyll-a</a:t>
            </a:r>
          </a:p>
        </p:txBody>
      </p:sp>
      <p:sp>
        <p:nvSpPr>
          <p:cNvPr id="26" name="Rounded Rectangle 25"/>
          <p:cNvSpPr/>
          <p:nvPr/>
        </p:nvSpPr>
        <p:spPr>
          <a:xfrm>
            <a:off x="6365240" y="1891936"/>
            <a:ext cx="3894667" cy="3825240"/>
          </a:xfrm>
          <a:prstGeom prst="roundRect">
            <a:avLst/>
          </a:prstGeom>
          <a:solidFill>
            <a:srgbClr val="FFFFFF"/>
          </a:solidFill>
          <a:ln w="3175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64822" y="2012006"/>
            <a:ext cx="2743200" cy="320040"/>
          </a:xfrm>
          <a:prstGeom prst="rect">
            <a:avLst/>
          </a:prstGeom>
          <a:noFill/>
        </p:spPr>
        <p:txBody>
          <a:bodyPr wrap="square" lIns="0" tIns="0" rIns="0" bIns="0">
            <a:spAutoFit/>
          </a:bodyPr>
          <a:lstStyle/>
          <a:p>
            <a:pPr algn="l"/>
            <a:r>
              <a:rPr sz="1800" b="1" i="0" dirty="0">
                <a:solidFill>
                  <a:srgbClr val="E26954"/>
                </a:solidFill>
                <a:latin typeface="Aptos"/>
              </a:rPr>
              <a:t>2005–2021</a:t>
            </a:r>
          </a:p>
        </p:txBody>
      </p:sp>
      <p:sp>
        <p:nvSpPr>
          <p:cNvPr id="28" name="Oval 27"/>
          <p:cNvSpPr/>
          <p:nvPr/>
        </p:nvSpPr>
        <p:spPr>
          <a:xfrm>
            <a:off x="6610266" y="2742669"/>
            <a:ext cx="155448" cy="155448"/>
          </a:xfrm>
          <a:prstGeom prst="ellipse">
            <a:avLst/>
          </a:prstGeom>
          <a:solidFill>
            <a:srgbClr val="E26954"/>
          </a:solidFill>
          <a:ln w="1905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865493" y="2720419"/>
            <a:ext cx="2331720" cy="228600"/>
          </a:xfrm>
          <a:prstGeom prst="rect">
            <a:avLst/>
          </a:prstGeom>
          <a:noFill/>
        </p:spPr>
        <p:txBody>
          <a:bodyPr wrap="square" lIns="0" tIns="0" rIns="0" bIns="0">
            <a:spAutoFit/>
          </a:bodyPr>
          <a:lstStyle/>
          <a:p>
            <a:pPr algn="l"/>
            <a:r>
              <a:rPr sz="1800" b="0" i="0" dirty="0">
                <a:solidFill>
                  <a:srgbClr val="143052"/>
                </a:solidFill>
                <a:latin typeface="Aptos"/>
              </a:rPr>
              <a:t>X2</a:t>
            </a:r>
          </a:p>
        </p:txBody>
      </p:sp>
      <p:sp>
        <p:nvSpPr>
          <p:cNvPr id="30" name="Oval 29"/>
          <p:cNvSpPr/>
          <p:nvPr/>
        </p:nvSpPr>
        <p:spPr>
          <a:xfrm>
            <a:off x="6609589" y="3196086"/>
            <a:ext cx="155448" cy="155448"/>
          </a:xfrm>
          <a:prstGeom prst="ellipse">
            <a:avLst/>
          </a:prstGeom>
          <a:solidFill>
            <a:srgbClr val="E26954"/>
          </a:solidFill>
          <a:ln w="1905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1" name="TextBox 30"/>
          <p:cNvSpPr txBox="1"/>
          <p:nvPr/>
        </p:nvSpPr>
        <p:spPr>
          <a:xfrm>
            <a:off x="6865493" y="3126238"/>
            <a:ext cx="2331720" cy="228600"/>
          </a:xfrm>
          <a:prstGeom prst="rect">
            <a:avLst/>
          </a:prstGeom>
          <a:noFill/>
        </p:spPr>
        <p:txBody>
          <a:bodyPr wrap="square" lIns="0" tIns="0" rIns="0" bIns="0">
            <a:spAutoFit/>
          </a:bodyPr>
          <a:lstStyle/>
          <a:p>
            <a:pPr algn="l"/>
            <a:r>
              <a:rPr sz="1800" b="0" i="0" dirty="0">
                <a:solidFill>
                  <a:srgbClr val="143052"/>
                </a:solidFill>
                <a:latin typeface="Aptos"/>
              </a:rPr>
              <a:t>Temperature</a:t>
            </a:r>
          </a:p>
        </p:txBody>
      </p:sp>
      <p:sp>
        <p:nvSpPr>
          <p:cNvPr id="32" name="Oval 31"/>
          <p:cNvSpPr/>
          <p:nvPr/>
        </p:nvSpPr>
        <p:spPr>
          <a:xfrm>
            <a:off x="6610266" y="3637110"/>
            <a:ext cx="155448" cy="155448"/>
          </a:xfrm>
          <a:prstGeom prst="ellipse">
            <a:avLst/>
          </a:prstGeom>
          <a:solidFill>
            <a:srgbClr val="E26954"/>
          </a:solidFill>
          <a:ln w="1905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864604" y="3587576"/>
            <a:ext cx="2331720" cy="228600"/>
          </a:xfrm>
          <a:prstGeom prst="rect">
            <a:avLst/>
          </a:prstGeom>
          <a:noFill/>
        </p:spPr>
        <p:txBody>
          <a:bodyPr wrap="square" lIns="0" tIns="0" rIns="0" bIns="0">
            <a:spAutoFit/>
          </a:bodyPr>
          <a:lstStyle/>
          <a:p>
            <a:pPr algn="l"/>
            <a:r>
              <a:rPr sz="1800" b="0" i="0" dirty="0">
                <a:solidFill>
                  <a:srgbClr val="143052"/>
                </a:solidFill>
                <a:latin typeface="Aptos"/>
              </a:rPr>
              <a:t>Chlorophyll-a</a:t>
            </a:r>
          </a:p>
        </p:txBody>
      </p:sp>
      <p:sp>
        <p:nvSpPr>
          <p:cNvPr id="34" name="Oval 33"/>
          <p:cNvSpPr/>
          <p:nvPr/>
        </p:nvSpPr>
        <p:spPr>
          <a:xfrm>
            <a:off x="6610266" y="4109902"/>
            <a:ext cx="155448" cy="155448"/>
          </a:xfrm>
          <a:prstGeom prst="ellipse">
            <a:avLst/>
          </a:prstGeom>
          <a:solidFill>
            <a:srgbClr val="E26954"/>
          </a:solidFill>
          <a:ln w="1905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65493" y="4076344"/>
            <a:ext cx="2331720" cy="228600"/>
          </a:xfrm>
          <a:prstGeom prst="rect">
            <a:avLst/>
          </a:prstGeom>
          <a:noFill/>
        </p:spPr>
        <p:txBody>
          <a:bodyPr wrap="square" lIns="0" tIns="0" rIns="0" bIns="0">
            <a:spAutoFit/>
          </a:bodyPr>
          <a:lstStyle/>
          <a:p>
            <a:pPr algn="l"/>
            <a:r>
              <a:rPr sz="1800" b="0" i="0" dirty="0">
                <a:solidFill>
                  <a:srgbClr val="143052"/>
                </a:solidFill>
                <a:latin typeface="Aptos"/>
              </a:rPr>
              <a:t>Turbidity</a:t>
            </a:r>
          </a:p>
        </p:txBody>
      </p:sp>
      <p:sp>
        <p:nvSpPr>
          <p:cNvPr id="36" name="Oval 35"/>
          <p:cNvSpPr/>
          <p:nvPr/>
        </p:nvSpPr>
        <p:spPr>
          <a:xfrm>
            <a:off x="6610266" y="5029646"/>
            <a:ext cx="155448" cy="155448"/>
          </a:xfrm>
          <a:prstGeom prst="ellipse">
            <a:avLst/>
          </a:prstGeom>
          <a:solidFill>
            <a:srgbClr val="E26954"/>
          </a:solidFill>
          <a:ln w="1905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886385" y="4956494"/>
            <a:ext cx="2331720" cy="228600"/>
          </a:xfrm>
          <a:prstGeom prst="rect">
            <a:avLst/>
          </a:prstGeom>
          <a:noFill/>
        </p:spPr>
        <p:txBody>
          <a:bodyPr wrap="square" lIns="0" tIns="0" rIns="0" bIns="0">
            <a:spAutoFit/>
          </a:bodyPr>
          <a:lstStyle/>
          <a:p>
            <a:pPr algn="l"/>
            <a:r>
              <a:rPr sz="1800" b="0" i="0" dirty="0">
                <a:solidFill>
                  <a:srgbClr val="143052"/>
                </a:solidFill>
                <a:latin typeface="Aptos"/>
              </a:rPr>
              <a:t>DO</a:t>
            </a:r>
          </a:p>
        </p:txBody>
      </p:sp>
      <p:sp>
        <p:nvSpPr>
          <p:cNvPr id="38" name="Oval 37"/>
          <p:cNvSpPr/>
          <p:nvPr/>
        </p:nvSpPr>
        <p:spPr>
          <a:xfrm>
            <a:off x="6610266" y="4586043"/>
            <a:ext cx="155448" cy="155448"/>
          </a:xfrm>
          <a:prstGeom prst="ellipse">
            <a:avLst/>
          </a:prstGeom>
          <a:solidFill>
            <a:srgbClr val="E26954"/>
          </a:solidFill>
          <a:ln w="1905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9" name="TextBox 38"/>
          <p:cNvSpPr txBox="1"/>
          <p:nvPr/>
        </p:nvSpPr>
        <p:spPr>
          <a:xfrm>
            <a:off x="6886385" y="4507297"/>
            <a:ext cx="2331720" cy="228600"/>
          </a:xfrm>
          <a:prstGeom prst="rect">
            <a:avLst/>
          </a:prstGeom>
          <a:noFill/>
        </p:spPr>
        <p:txBody>
          <a:bodyPr wrap="square" lIns="0" tIns="0" rIns="0" bIns="0">
            <a:spAutoFit/>
          </a:bodyPr>
          <a:lstStyle/>
          <a:p>
            <a:pPr algn="l"/>
            <a:r>
              <a:rPr sz="1800" b="0" i="0" dirty="0">
                <a:solidFill>
                  <a:srgbClr val="143052"/>
                </a:solidFill>
                <a:latin typeface="Aptos"/>
              </a:rPr>
              <a:t>pH</a:t>
            </a:r>
          </a:p>
        </p:txBody>
      </p:sp>
      <p:sp>
        <p:nvSpPr>
          <p:cNvPr id="43"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2A7EBE"/>
                </a:solidFill>
                <a:latin typeface="Aptos"/>
              </a:rPr>
              <a:t>STORY</a:t>
            </a:r>
          </a:p>
        </p:txBody>
      </p:sp>
      <p:sp>
        <p:nvSpPr>
          <p:cNvPr id="45"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2A9DA1"/>
                </a:solidFill>
                <a:latin typeface="Aptos"/>
              </a:rPr>
              <a:t>SYSTEM</a:t>
            </a:r>
          </a:p>
        </p:txBody>
      </p:sp>
      <p:sp>
        <p:nvSpPr>
          <p:cNvPr id="47" name="NAV_2"/>
          <p:cNvSpPr/>
          <p:nvPr/>
        </p:nvSpPr>
        <p:spPr>
          <a:xfrm>
            <a:off x="3282696" y="6528816"/>
            <a:ext cx="1225296" cy="219456"/>
          </a:xfrm>
          <a:prstGeom prst="roundRect">
            <a:avLst/>
          </a:prstGeom>
          <a:solidFill>
            <a:srgbClr val="E7AD46"/>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FFFFFF"/>
                </a:solidFill>
                <a:latin typeface="Aptos"/>
              </a:rPr>
              <a:t>DATA</a:t>
            </a:r>
          </a:p>
        </p:txBody>
      </p:sp>
      <p:sp>
        <p:nvSpPr>
          <p:cNvPr id="49"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E26954"/>
                </a:solidFill>
                <a:latin typeface="Aptos"/>
              </a:rPr>
              <a:t>RESULTS</a:t>
            </a:r>
          </a:p>
        </p:txBody>
      </p:sp>
      <p:sp>
        <p:nvSpPr>
          <p:cNvPr id="51" name="NAV_4"/>
          <p:cNvSpPr/>
          <p:nvPr/>
        </p:nvSpPr>
        <p:spPr>
          <a:xfrm>
            <a:off x="6062472" y="6528815"/>
            <a:ext cx="1606296" cy="249631"/>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060440" y="6512188"/>
            <a:ext cx="1608328"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6" name="TextBox 5">
            <a:extLst>
              <a:ext uri="{FF2B5EF4-FFF2-40B4-BE49-F238E27FC236}">
                <a16:creationId xmlns:a16="http://schemas.microsoft.com/office/drawing/2014/main" id="{1F123916-A4D4-487A-753A-397B058136B7}"/>
              </a:ext>
            </a:extLst>
          </p:cNvPr>
          <p:cNvSpPr txBox="1"/>
          <p:nvPr/>
        </p:nvSpPr>
        <p:spPr>
          <a:xfrm>
            <a:off x="7713132" y="6492597"/>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NAV_2">
            <a:extLst>
              <a:ext uri="{FF2B5EF4-FFF2-40B4-BE49-F238E27FC236}">
                <a16:creationId xmlns:a16="http://schemas.microsoft.com/office/drawing/2014/main" id="{2D93228C-589D-DB52-240E-586ECCA7E215}"/>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566928"/>
          </a:xfrm>
          <a:prstGeom prst="rect">
            <a:avLst/>
          </a:prstGeom>
          <a:noFill/>
        </p:spPr>
        <p:txBody>
          <a:bodyPr wrap="square" lIns="0" tIns="0" rIns="0" bIns="0">
            <a:spAutoFit/>
          </a:bodyPr>
          <a:lstStyle/>
          <a:p>
            <a:pPr algn="l"/>
            <a:r>
              <a:rPr sz="2700" b="1" i="0" dirty="0">
                <a:solidFill>
                  <a:srgbClr val="143052"/>
                </a:solidFill>
                <a:latin typeface="Aptos"/>
              </a:rPr>
              <a:t>The question for </a:t>
            </a:r>
            <a:r>
              <a:rPr sz="2700" b="1" i="0" dirty="0" err="1">
                <a:solidFill>
                  <a:srgbClr val="143052"/>
                </a:solidFill>
                <a:latin typeface="Aptos"/>
              </a:rPr>
              <a:t>Eurytemora</a:t>
            </a:r>
            <a:endParaRPr sz="2700" b="1" i="0" dirty="0">
              <a:solidFill>
                <a:srgbClr val="143052"/>
              </a:solidFill>
              <a:latin typeface="Aptos"/>
            </a:endParaRPr>
          </a:p>
        </p:txBody>
      </p:sp>
      <p:sp>
        <p:nvSpPr>
          <p:cNvPr id="5" name="TextBox 4"/>
          <p:cNvSpPr txBox="1"/>
          <p:nvPr/>
        </p:nvSpPr>
        <p:spPr>
          <a:xfrm>
            <a:off x="11201400" y="393192"/>
            <a:ext cx="502920" cy="320040"/>
          </a:xfrm>
          <a:prstGeom prst="rect">
            <a:avLst/>
          </a:prstGeom>
          <a:noFill/>
        </p:spPr>
        <p:txBody>
          <a:bodyPr wrap="square" lIns="0" tIns="0" rIns="0" bIns="0">
            <a:spAutoFit/>
          </a:bodyPr>
          <a:lstStyle/>
          <a:p>
            <a:pPr algn="r"/>
            <a:r>
              <a:rPr sz="1800" b="1" i="0">
                <a:solidFill>
                  <a:srgbClr val="5B6773"/>
                </a:solidFill>
                <a:latin typeface="Aptos"/>
              </a:rPr>
              <a:t>11</a:t>
            </a:r>
          </a:p>
        </p:txBody>
      </p:sp>
      <p:sp>
        <p:nvSpPr>
          <p:cNvPr id="22" name="Rounded Rectangle 21"/>
          <p:cNvSpPr/>
          <p:nvPr/>
        </p:nvSpPr>
        <p:spPr>
          <a:xfrm>
            <a:off x="6126480" y="1417320"/>
            <a:ext cx="5349240" cy="4297680"/>
          </a:xfrm>
          <a:prstGeom prst="roundRect">
            <a:avLst/>
          </a:prstGeom>
          <a:solidFill>
            <a:srgbClr val="FAF7F2"/>
          </a:solidFill>
          <a:ln w="254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46520" y="1783080"/>
            <a:ext cx="1828800" cy="274320"/>
          </a:xfrm>
          <a:prstGeom prst="rect">
            <a:avLst/>
          </a:prstGeom>
          <a:noFill/>
        </p:spPr>
        <p:txBody>
          <a:bodyPr wrap="square" lIns="0" tIns="0" rIns="0" bIns="0">
            <a:spAutoFit/>
          </a:bodyPr>
          <a:lstStyle/>
          <a:p>
            <a:pPr algn="l"/>
            <a:r>
              <a:rPr sz="1800" b="1" i="0">
                <a:solidFill>
                  <a:srgbClr val="E7AD46"/>
                </a:solidFill>
                <a:latin typeface="Aptos"/>
              </a:rPr>
              <a:t>WHY A GAM?</a:t>
            </a:r>
          </a:p>
        </p:txBody>
      </p:sp>
      <p:sp>
        <p:nvSpPr>
          <p:cNvPr id="35" name="TextBox 34"/>
          <p:cNvSpPr txBox="1"/>
          <p:nvPr/>
        </p:nvSpPr>
        <p:spPr>
          <a:xfrm>
            <a:off x="6675119" y="2011680"/>
            <a:ext cx="4572000" cy="914400"/>
          </a:xfrm>
          <a:prstGeom prst="rect">
            <a:avLst/>
          </a:prstGeom>
          <a:noFill/>
        </p:spPr>
        <p:txBody>
          <a:bodyPr wrap="square" lIns="0" tIns="0" rIns="0" bIns="0">
            <a:spAutoFit/>
          </a:bodyPr>
          <a:lstStyle/>
          <a:p>
            <a:pPr algn="l"/>
            <a:r>
              <a:rPr sz="1800" b="1" i="0" dirty="0">
                <a:solidFill>
                  <a:srgbClr val="143052"/>
                </a:solidFill>
                <a:latin typeface="Aptos"/>
              </a:rPr>
              <a:t>A GAM lets the data estimate the shape of the relationship instead of assuming a constant effect.</a:t>
            </a:r>
          </a:p>
        </p:txBody>
      </p:sp>
      <p:sp>
        <p:nvSpPr>
          <p:cNvPr id="36" name="TextBox 35"/>
          <p:cNvSpPr txBox="1"/>
          <p:nvPr/>
        </p:nvSpPr>
        <p:spPr>
          <a:xfrm>
            <a:off x="6570617" y="5095240"/>
            <a:ext cx="4389120" cy="411480"/>
          </a:xfrm>
          <a:prstGeom prst="rect">
            <a:avLst/>
          </a:prstGeom>
          <a:noFill/>
        </p:spPr>
        <p:txBody>
          <a:bodyPr wrap="square" lIns="0" tIns="0" rIns="0" bIns="0">
            <a:spAutoFit/>
          </a:bodyPr>
          <a:lstStyle/>
          <a:p>
            <a:pPr algn="l"/>
            <a:r>
              <a:rPr sz="1800" b="0" i="0" dirty="0">
                <a:solidFill>
                  <a:srgbClr val="5B6773"/>
                </a:solidFill>
                <a:latin typeface="Aptos"/>
              </a:rPr>
              <a:t>The goal is to identify interpretable empirical response patterns.</a:t>
            </a:r>
          </a:p>
        </p:txBody>
      </p:sp>
      <p:sp>
        <p:nvSpPr>
          <p:cNvPr id="37"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2A7EBE"/>
                </a:solidFill>
                <a:latin typeface="Aptos"/>
              </a:rPr>
              <a:t>STORY</a:t>
            </a:r>
          </a:p>
        </p:txBody>
      </p:sp>
      <p:sp>
        <p:nvSpPr>
          <p:cNvPr id="39"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2A9DA1"/>
                </a:solidFill>
                <a:latin typeface="Aptos"/>
              </a:rPr>
              <a:t>SYSTEM</a:t>
            </a:r>
          </a:p>
        </p:txBody>
      </p:sp>
      <p:sp>
        <p:nvSpPr>
          <p:cNvPr id="41" name="NAV_2"/>
          <p:cNvSpPr/>
          <p:nvPr/>
        </p:nvSpPr>
        <p:spPr>
          <a:xfrm>
            <a:off x="3282696" y="6528816"/>
            <a:ext cx="1225296" cy="219456"/>
          </a:xfrm>
          <a:prstGeom prst="roundRect">
            <a:avLst/>
          </a:prstGeom>
          <a:solidFill>
            <a:srgbClr val="E7AD46"/>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FFFFFF"/>
                </a:solidFill>
                <a:latin typeface="Aptos"/>
              </a:rPr>
              <a:t>DATA</a:t>
            </a:r>
          </a:p>
        </p:txBody>
      </p:sp>
      <p:sp>
        <p:nvSpPr>
          <p:cNvPr id="43"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E26954"/>
                </a:solidFill>
                <a:latin typeface="Aptos"/>
              </a:rPr>
              <a:t>RESULTS</a:t>
            </a:r>
          </a:p>
        </p:txBody>
      </p:sp>
      <p:sp>
        <p:nvSpPr>
          <p:cNvPr id="45" name="NAV_4"/>
          <p:cNvSpPr/>
          <p:nvPr/>
        </p:nvSpPr>
        <p:spPr>
          <a:xfrm>
            <a:off x="6062471" y="6528816"/>
            <a:ext cx="1549062" cy="219456"/>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062471" y="6512221"/>
            <a:ext cx="1549062"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6" name="Rounded Rectangle 21">
            <a:extLst>
              <a:ext uri="{FF2B5EF4-FFF2-40B4-BE49-F238E27FC236}">
                <a16:creationId xmlns:a16="http://schemas.microsoft.com/office/drawing/2014/main" id="{887C21B7-8892-34B5-1468-967101DF9D8E}"/>
              </a:ext>
            </a:extLst>
          </p:cNvPr>
          <p:cNvSpPr/>
          <p:nvPr/>
        </p:nvSpPr>
        <p:spPr>
          <a:xfrm>
            <a:off x="457198" y="1463040"/>
            <a:ext cx="5349240" cy="4297680"/>
          </a:xfrm>
          <a:prstGeom prst="roundRect">
            <a:avLst/>
          </a:prstGeom>
          <a:solidFill>
            <a:schemeClr val="accent4">
              <a:lumMod val="20000"/>
              <a:lumOff val="80000"/>
            </a:schemeClr>
          </a:solidFill>
          <a:ln w="254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a:extLst>
              <a:ext uri="{FF2B5EF4-FFF2-40B4-BE49-F238E27FC236}">
                <a16:creationId xmlns:a16="http://schemas.microsoft.com/office/drawing/2014/main" id="{473F7EB8-17AD-FC8D-D43A-9D38E81103BA}"/>
              </a:ext>
            </a:extLst>
          </p:cNvPr>
          <p:cNvSpPr txBox="1"/>
          <p:nvPr/>
        </p:nvSpPr>
        <p:spPr>
          <a:xfrm>
            <a:off x="7713132" y="6492597"/>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26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1234440"/>
            <a:ext cx="10881360" cy="42062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600200"/>
            <a:ext cx="914400" cy="594360"/>
          </a:xfrm>
          <a:prstGeom prst="rect">
            <a:avLst/>
          </a:prstGeom>
          <a:noFill/>
        </p:spPr>
        <p:txBody>
          <a:bodyPr wrap="square" lIns="0" tIns="0" rIns="0" bIns="0">
            <a:spAutoFit/>
          </a:bodyPr>
          <a:lstStyle/>
          <a:p>
            <a:pPr algn="l"/>
            <a:r>
              <a:rPr sz="3000" b="1" i="0" dirty="0">
                <a:solidFill>
                  <a:srgbClr val="E26954"/>
                </a:solidFill>
                <a:latin typeface="Aptos"/>
              </a:rPr>
              <a:t>12</a:t>
            </a:r>
          </a:p>
        </p:txBody>
      </p:sp>
      <p:sp>
        <p:nvSpPr>
          <p:cNvPr id="5" name="TextBox 4"/>
          <p:cNvSpPr txBox="1"/>
          <p:nvPr/>
        </p:nvSpPr>
        <p:spPr>
          <a:xfrm>
            <a:off x="1005840" y="2286000"/>
            <a:ext cx="9784080" cy="685800"/>
          </a:xfrm>
          <a:prstGeom prst="rect">
            <a:avLst/>
          </a:prstGeom>
          <a:noFill/>
        </p:spPr>
        <p:txBody>
          <a:bodyPr wrap="square" lIns="0" tIns="0" rIns="0" bIns="0">
            <a:spAutoFit/>
          </a:bodyPr>
          <a:lstStyle/>
          <a:p>
            <a:pPr algn="l"/>
            <a:r>
              <a:rPr sz="3400" b="1" i="0" dirty="0" err="1">
                <a:solidFill>
                  <a:srgbClr val="143052"/>
                </a:solidFill>
                <a:latin typeface="Aptos"/>
              </a:rPr>
              <a:t>Eurytemora</a:t>
            </a:r>
            <a:r>
              <a:rPr sz="3400" b="1" i="0" dirty="0">
                <a:solidFill>
                  <a:srgbClr val="143052"/>
                </a:solidFill>
                <a:latin typeface="Aptos"/>
              </a:rPr>
              <a:t> results</a:t>
            </a:r>
          </a:p>
        </p:txBody>
      </p:sp>
      <p:sp>
        <p:nvSpPr>
          <p:cNvPr id="6" name="TextBox 5"/>
          <p:cNvSpPr txBox="1"/>
          <p:nvPr/>
        </p:nvSpPr>
        <p:spPr>
          <a:xfrm>
            <a:off x="1005840" y="3063240"/>
            <a:ext cx="9784080" cy="548640"/>
          </a:xfrm>
          <a:prstGeom prst="rect">
            <a:avLst/>
          </a:prstGeom>
          <a:noFill/>
        </p:spPr>
        <p:txBody>
          <a:bodyPr wrap="square" lIns="0" tIns="0" rIns="0" bIns="0">
            <a:spAutoFit/>
          </a:bodyPr>
          <a:lstStyle/>
          <a:p>
            <a:pPr algn="l"/>
            <a:r>
              <a:rPr sz="1900" b="0" i="0">
                <a:solidFill>
                  <a:srgbClr val="5B6773"/>
                </a:solidFill>
                <a:latin typeface="Aptos"/>
              </a:rPr>
              <a:t>The first case study</a:t>
            </a:r>
          </a:p>
        </p:txBody>
      </p:sp>
      <p:cxnSp>
        <p:nvCxnSpPr>
          <p:cNvPr id="7" name="Connector 6"/>
          <p:cNvCxnSpPr/>
          <p:nvPr/>
        </p:nvCxnSpPr>
        <p:spPr>
          <a:xfrm>
            <a:off x="1005840" y="3840480"/>
            <a:ext cx="10058400" cy="0"/>
          </a:xfrm>
          <a:prstGeom prst="line">
            <a:avLst/>
          </a:prstGeom>
          <a:ln w="50800">
            <a:solidFill>
              <a:srgbClr val="E26954"/>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05840" y="4160520"/>
            <a:ext cx="9784080" cy="731520"/>
          </a:xfrm>
          <a:prstGeom prst="rect">
            <a:avLst/>
          </a:prstGeom>
          <a:noFill/>
        </p:spPr>
        <p:txBody>
          <a:bodyPr wrap="square" lIns="0" tIns="0" rIns="0" bIns="0">
            <a:spAutoFit/>
          </a:bodyPr>
          <a:lstStyle/>
          <a:p>
            <a:pPr algn="l"/>
            <a:r>
              <a:rPr sz="1800" b="0" i="0">
                <a:solidFill>
                  <a:srgbClr val="143052"/>
                </a:solidFill>
                <a:latin typeface="Aptos"/>
              </a:rPr>
              <a:t>Now we move from the framework to the relationships estimated from the historical record.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V_2">
            <a:extLst>
              <a:ext uri="{FF2B5EF4-FFF2-40B4-BE49-F238E27FC236}">
                <a16:creationId xmlns:a16="http://schemas.microsoft.com/office/drawing/2014/main" id="{DB033888-98CD-FD15-4B71-A4529815DACD}"/>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415498"/>
          </a:xfrm>
          <a:prstGeom prst="rect">
            <a:avLst/>
          </a:prstGeom>
          <a:noFill/>
        </p:spPr>
        <p:txBody>
          <a:bodyPr wrap="square" lIns="0" tIns="0" rIns="0" bIns="0">
            <a:spAutoFit/>
          </a:bodyPr>
          <a:lstStyle/>
          <a:p>
            <a:pPr algn="l"/>
            <a:r>
              <a:rPr sz="2700" b="1" i="0" dirty="0" err="1">
                <a:solidFill>
                  <a:srgbClr val="143052"/>
                </a:solidFill>
                <a:latin typeface="Aptos"/>
              </a:rPr>
              <a:t>Eurytemora</a:t>
            </a:r>
            <a:r>
              <a:rPr sz="2700" b="1" i="0" dirty="0">
                <a:solidFill>
                  <a:srgbClr val="143052"/>
                </a:solidFill>
                <a:latin typeface="Aptos"/>
              </a:rPr>
              <a:t> results</a:t>
            </a:r>
            <a:r>
              <a:rPr lang="en-US" sz="2700" b="1" i="0" dirty="0">
                <a:solidFill>
                  <a:srgbClr val="143052"/>
                </a:solidFill>
                <a:latin typeface="Aptos"/>
              </a:rPr>
              <a:t> 1972-1994</a:t>
            </a:r>
            <a:endParaRPr sz="2700" b="1" i="0" dirty="0">
              <a:solidFill>
                <a:srgbClr val="143052"/>
              </a:solidFill>
              <a:latin typeface="Aptos"/>
            </a:endParaRPr>
          </a:p>
        </p:txBody>
      </p:sp>
      <p:sp>
        <p:nvSpPr>
          <p:cNvPr id="5" name="TextBox 4"/>
          <p:cNvSpPr txBox="1"/>
          <p:nvPr/>
        </p:nvSpPr>
        <p:spPr>
          <a:xfrm>
            <a:off x="11201400" y="393192"/>
            <a:ext cx="502920" cy="320040"/>
          </a:xfrm>
          <a:prstGeom prst="rect">
            <a:avLst/>
          </a:prstGeom>
          <a:noFill/>
        </p:spPr>
        <p:txBody>
          <a:bodyPr wrap="square" lIns="0" tIns="0" rIns="0" bIns="0">
            <a:spAutoFit/>
          </a:bodyPr>
          <a:lstStyle/>
          <a:p>
            <a:pPr algn="r"/>
            <a:r>
              <a:rPr sz="1800" b="1" i="0">
                <a:solidFill>
                  <a:srgbClr val="5B6773"/>
                </a:solidFill>
                <a:latin typeface="Aptos"/>
              </a:rPr>
              <a:t>13</a:t>
            </a:r>
          </a:p>
        </p:txBody>
      </p:sp>
      <p:sp>
        <p:nvSpPr>
          <p:cNvPr id="7" name="TextBox 6"/>
          <p:cNvSpPr txBox="1"/>
          <p:nvPr/>
        </p:nvSpPr>
        <p:spPr>
          <a:xfrm>
            <a:off x="502920" y="1234440"/>
            <a:ext cx="10424160" cy="365760"/>
          </a:xfrm>
          <a:prstGeom prst="rect">
            <a:avLst/>
          </a:prstGeom>
          <a:noFill/>
        </p:spPr>
        <p:txBody>
          <a:bodyPr wrap="square" lIns="0" tIns="0" rIns="0" bIns="0">
            <a:spAutoFit/>
          </a:bodyPr>
          <a:lstStyle/>
          <a:p>
            <a:pPr algn="l"/>
            <a:r>
              <a:rPr sz="1800" b="0" i="0">
                <a:solidFill>
                  <a:srgbClr val="5B6773"/>
                </a:solidFill>
                <a:latin typeface="Aptos"/>
              </a:rPr>
              <a:t>Case-study model: historical environmental relationships</a:t>
            </a:r>
          </a:p>
        </p:txBody>
      </p:sp>
      <p:sp>
        <p:nvSpPr>
          <p:cNvPr id="8" name="Rounded Rectangle 7"/>
          <p:cNvSpPr/>
          <p:nvPr/>
        </p:nvSpPr>
        <p:spPr>
          <a:xfrm>
            <a:off x="594360" y="1623060"/>
            <a:ext cx="5257800" cy="2034539"/>
          </a:xfrm>
          <a:prstGeom prst="roundRect">
            <a:avLst/>
          </a:prstGeom>
          <a:solidFill>
            <a:srgbClr val="FFFFFF"/>
          </a:solidFill>
          <a:ln w="254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769363"/>
            <a:ext cx="2011680" cy="274320"/>
          </a:xfrm>
          <a:prstGeom prst="rect">
            <a:avLst/>
          </a:prstGeom>
          <a:noFill/>
        </p:spPr>
        <p:txBody>
          <a:bodyPr wrap="square" lIns="0" tIns="0" rIns="0" bIns="0">
            <a:spAutoFit/>
          </a:bodyPr>
          <a:lstStyle/>
          <a:p>
            <a:pPr algn="l"/>
            <a:r>
              <a:rPr sz="1800" b="1" i="0" dirty="0">
                <a:solidFill>
                  <a:srgbClr val="2A7EBE"/>
                </a:solidFill>
                <a:latin typeface="Aptos"/>
              </a:rPr>
              <a:t>X2</a:t>
            </a:r>
          </a:p>
        </p:txBody>
      </p:sp>
      <p:sp>
        <p:nvSpPr>
          <p:cNvPr id="19" name="Rounded Rectangle 18"/>
          <p:cNvSpPr/>
          <p:nvPr/>
        </p:nvSpPr>
        <p:spPr>
          <a:xfrm>
            <a:off x="6263640" y="1623060"/>
            <a:ext cx="5257800" cy="2034539"/>
          </a:xfrm>
          <a:prstGeom prst="roundRect">
            <a:avLst/>
          </a:prstGeom>
          <a:solidFill>
            <a:srgbClr val="FFFFFF"/>
          </a:solidFill>
          <a:ln w="254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0" y="1787652"/>
            <a:ext cx="2011680" cy="274320"/>
          </a:xfrm>
          <a:prstGeom prst="rect">
            <a:avLst/>
          </a:prstGeom>
          <a:noFill/>
        </p:spPr>
        <p:txBody>
          <a:bodyPr wrap="square" lIns="0" tIns="0" rIns="0" bIns="0">
            <a:spAutoFit/>
          </a:bodyPr>
          <a:lstStyle/>
          <a:p>
            <a:pPr algn="l"/>
            <a:r>
              <a:rPr sz="1800" b="1" i="0" dirty="0">
                <a:solidFill>
                  <a:srgbClr val="E26954"/>
                </a:solidFill>
                <a:latin typeface="Aptos"/>
              </a:rPr>
              <a:t>Temperature</a:t>
            </a:r>
          </a:p>
        </p:txBody>
      </p:sp>
      <p:sp>
        <p:nvSpPr>
          <p:cNvPr id="30" name="Rounded Rectangle 29"/>
          <p:cNvSpPr/>
          <p:nvPr/>
        </p:nvSpPr>
        <p:spPr>
          <a:xfrm>
            <a:off x="594360" y="3694175"/>
            <a:ext cx="5257800" cy="2066544"/>
          </a:xfrm>
          <a:prstGeom prst="roundRect">
            <a:avLst/>
          </a:prstGeom>
          <a:solidFill>
            <a:srgbClr val="FFFFFF"/>
          </a:solidFill>
          <a:ln w="254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3803902"/>
            <a:ext cx="2011680" cy="274320"/>
          </a:xfrm>
          <a:prstGeom prst="rect">
            <a:avLst/>
          </a:prstGeom>
          <a:noFill/>
        </p:spPr>
        <p:txBody>
          <a:bodyPr wrap="square" lIns="0" tIns="0" rIns="0" bIns="0">
            <a:spAutoFit/>
          </a:bodyPr>
          <a:lstStyle/>
          <a:p>
            <a:pPr algn="l"/>
            <a:r>
              <a:rPr sz="1800" b="1" i="0" dirty="0">
                <a:solidFill>
                  <a:srgbClr val="5B975C"/>
                </a:solidFill>
                <a:latin typeface="Aptos"/>
              </a:rPr>
              <a:t>Chlorophyll-a</a:t>
            </a:r>
          </a:p>
        </p:txBody>
      </p:sp>
      <p:sp>
        <p:nvSpPr>
          <p:cNvPr id="41" name="Rounded Rectangle 40"/>
          <p:cNvSpPr/>
          <p:nvPr/>
        </p:nvSpPr>
        <p:spPr>
          <a:xfrm>
            <a:off x="6263640" y="3680459"/>
            <a:ext cx="5257800" cy="2080260"/>
          </a:xfrm>
          <a:prstGeom prst="roundRect">
            <a:avLst/>
          </a:prstGeom>
          <a:solidFill>
            <a:srgbClr val="FFFFFF"/>
          </a:solidFill>
          <a:ln w="254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92240" y="3872483"/>
            <a:ext cx="1513737" cy="553998"/>
          </a:xfrm>
          <a:prstGeom prst="rect">
            <a:avLst/>
          </a:prstGeom>
          <a:noFill/>
        </p:spPr>
        <p:txBody>
          <a:bodyPr wrap="square" lIns="0" tIns="0" rIns="0" bIns="0">
            <a:spAutoFit/>
          </a:bodyPr>
          <a:lstStyle/>
          <a:p>
            <a:pPr algn="l"/>
            <a:r>
              <a:rPr sz="1800" b="1" i="0" dirty="0">
                <a:solidFill>
                  <a:srgbClr val="E7AD46"/>
                </a:solidFill>
                <a:latin typeface="Aptos"/>
              </a:rPr>
              <a:t>Surface salinity</a:t>
            </a:r>
          </a:p>
        </p:txBody>
      </p:sp>
      <p:sp>
        <p:nvSpPr>
          <p:cNvPr id="54"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2A7EBE"/>
                </a:solidFill>
                <a:latin typeface="Aptos"/>
              </a:rPr>
              <a:t>STORY</a:t>
            </a:r>
          </a:p>
        </p:txBody>
      </p:sp>
      <p:sp>
        <p:nvSpPr>
          <p:cNvPr id="56"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2A9DA1"/>
                </a:solidFill>
                <a:latin typeface="Aptos"/>
              </a:rPr>
              <a:t>SYSTEM</a:t>
            </a:r>
          </a:p>
        </p:txBody>
      </p:sp>
      <p:sp>
        <p:nvSpPr>
          <p:cNvPr id="58"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E7AD46"/>
                </a:solidFill>
                <a:latin typeface="Aptos"/>
              </a:rPr>
              <a:t>DATA</a:t>
            </a:r>
          </a:p>
        </p:txBody>
      </p:sp>
      <p:sp>
        <p:nvSpPr>
          <p:cNvPr id="60" name="NAV_3"/>
          <p:cNvSpPr/>
          <p:nvPr/>
        </p:nvSpPr>
        <p:spPr>
          <a:xfrm>
            <a:off x="4672584" y="6528816"/>
            <a:ext cx="1225296" cy="219456"/>
          </a:xfrm>
          <a:prstGeom prst="roundRect">
            <a:avLst/>
          </a:prstGeom>
          <a:solidFill>
            <a:srgbClr val="E26954"/>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FFFFFF"/>
                </a:solidFill>
                <a:latin typeface="Aptos"/>
              </a:rPr>
              <a:t>RESULTS</a:t>
            </a:r>
          </a:p>
        </p:txBody>
      </p:sp>
      <p:sp>
        <p:nvSpPr>
          <p:cNvPr id="62" name="NAV_4"/>
          <p:cNvSpPr/>
          <p:nvPr/>
        </p:nvSpPr>
        <p:spPr>
          <a:xfrm>
            <a:off x="6062472" y="6528815"/>
            <a:ext cx="1599860" cy="228059"/>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062471" y="6507548"/>
            <a:ext cx="1599861"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65" name="Rounded Rectangle 64"/>
          <p:cNvSpPr/>
          <p:nvPr/>
        </p:nvSpPr>
        <p:spPr>
          <a:xfrm>
            <a:off x="9646920" y="1097280"/>
            <a:ext cx="1828800" cy="310896"/>
          </a:xfrm>
          <a:prstGeom prst="roundRect">
            <a:avLst/>
          </a:prstGeom>
          <a:solidFill>
            <a:srgbClr val="FFF7F7"/>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646920" y="1170432"/>
            <a:ext cx="1828800" cy="146304"/>
          </a:xfrm>
          <a:prstGeom prst="rect">
            <a:avLst/>
          </a:prstGeom>
          <a:noFill/>
        </p:spPr>
        <p:txBody>
          <a:bodyPr wrap="square" lIns="0" tIns="0" rIns="0" bIns="0">
            <a:spAutoFit/>
          </a:bodyPr>
          <a:lstStyle/>
          <a:p>
            <a:pPr algn="ctr"/>
            <a:r>
              <a:rPr sz="1800" b="1" i="0">
                <a:solidFill>
                  <a:srgbClr val="E26954"/>
                </a:solidFill>
                <a:latin typeface="Aptos"/>
              </a:rPr>
              <a:t>RESULTS FOCUS</a:t>
            </a:r>
          </a:p>
        </p:txBody>
      </p:sp>
      <p:pic>
        <p:nvPicPr>
          <p:cNvPr id="68" name="Picture 67">
            <a:extLst>
              <a:ext uri="{FF2B5EF4-FFF2-40B4-BE49-F238E27FC236}">
                <a16:creationId xmlns:a16="http://schemas.microsoft.com/office/drawing/2014/main" id="{61B90F4A-7D31-C12D-218F-3B68C89E26BF}"/>
              </a:ext>
            </a:extLst>
          </p:cNvPr>
          <p:cNvPicPr>
            <a:picLocks noChangeAspect="1"/>
          </p:cNvPicPr>
          <p:nvPr/>
        </p:nvPicPr>
        <p:blipFill>
          <a:blip r:embed="rId3"/>
          <a:srcRect r="5060" b="5456"/>
          <a:stretch>
            <a:fillRect/>
          </a:stretch>
        </p:blipFill>
        <p:spPr>
          <a:xfrm>
            <a:off x="1663391" y="1664287"/>
            <a:ext cx="2550208" cy="1920160"/>
          </a:xfrm>
          <a:prstGeom prst="rect">
            <a:avLst/>
          </a:prstGeom>
        </p:spPr>
      </p:pic>
      <p:pic>
        <p:nvPicPr>
          <p:cNvPr id="70" name="Picture 69">
            <a:extLst>
              <a:ext uri="{FF2B5EF4-FFF2-40B4-BE49-F238E27FC236}">
                <a16:creationId xmlns:a16="http://schemas.microsoft.com/office/drawing/2014/main" id="{7A64A8C3-32A4-3960-1629-D2B67FD2ED06}"/>
              </a:ext>
            </a:extLst>
          </p:cNvPr>
          <p:cNvPicPr>
            <a:picLocks noChangeAspect="1"/>
          </p:cNvPicPr>
          <p:nvPr/>
        </p:nvPicPr>
        <p:blipFill>
          <a:blip r:embed="rId4"/>
          <a:srcRect l="5509" t="3342"/>
          <a:stretch>
            <a:fillRect/>
          </a:stretch>
        </p:blipFill>
        <p:spPr>
          <a:xfrm>
            <a:off x="7939615" y="1679812"/>
            <a:ext cx="2367643" cy="1908000"/>
          </a:xfrm>
          <a:prstGeom prst="rect">
            <a:avLst/>
          </a:prstGeom>
        </p:spPr>
      </p:pic>
      <p:pic>
        <p:nvPicPr>
          <p:cNvPr id="72" name="Picture 71">
            <a:extLst>
              <a:ext uri="{FF2B5EF4-FFF2-40B4-BE49-F238E27FC236}">
                <a16:creationId xmlns:a16="http://schemas.microsoft.com/office/drawing/2014/main" id="{3DDD9EE5-DCB8-236C-113F-633772FA931C}"/>
              </a:ext>
            </a:extLst>
          </p:cNvPr>
          <p:cNvPicPr>
            <a:picLocks noChangeAspect="1"/>
          </p:cNvPicPr>
          <p:nvPr/>
        </p:nvPicPr>
        <p:blipFill>
          <a:blip r:embed="rId5"/>
          <a:srcRect r="2670"/>
          <a:stretch>
            <a:fillRect/>
          </a:stretch>
        </p:blipFill>
        <p:spPr>
          <a:xfrm>
            <a:off x="7406135" y="3832375"/>
            <a:ext cx="3520945" cy="1818171"/>
          </a:xfrm>
          <a:prstGeom prst="rect">
            <a:avLst/>
          </a:prstGeom>
        </p:spPr>
      </p:pic>
      <p:pic>
        <p:nvPicPr>
          <p:cNvPr id="74" name="Picture 73">
            <a:extLst>
              <a:ext uri="{FF2B5EF4-FFF2-40B4-BE49-F238E27FC236}">
                <a16:creationId xmlns:a16="http://schemas.microsoft.com/office/drawing/2014/main" id="{E4708DA2-D302-C328-057C-63DB2EEABA8C}"/>
              </a:ext>
            </a:extLst>
          </p:cNvPr>
          <p:cNvPicPr>
            <a:picLocks noChangeAspect="1"/>
          </p:cNvPicPr>
          <p:nvPr/>
        </p:nvPicPr>
        <p:blipFill>
          <a:blip r:embed="rId6"/>
          <a:stretch>
            <a:fillRect/>
          </a:stretch>
        </p:blipFill>
        <p:spPr>
          <a:xfrm>
            <a:off x="2417383" y="3730750"/>
            <a:ext cx="2505356" cy="1940488"/>
          </a:xfrm>
          <a:prstGeom prst="rect">
            <a:avLst/>
          </a:prstGeom>
        </p:spPr>
      </p:pic>
      <p:sp>
        <p:nvSpPr>
          <p:cNvPr id="11" name="TextBox 10">
            <a:extLst>
              <a:ext uri="{FF2B5EF4-FFF2-40B4-BE49-F238E27FC236}">
                <a16:creationId xmlns:a16="http://schemas.microsoft.com/office/drawing/2014/main" id="{52C55D12-0613-4ED7-59E4-F92D2D270950}"/>
              </a:ext>
            </a:extLst>
          </p:cNvPr>
          <p:cNvSpPr txBox="1"/>
          <p:nvPr/>
        </p:nvSpPr>
        <p:spPr>
          <a:xfrm>
            <a:off x="7693185" y="6485544"/>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V_2">
            <a:extLst>
              <a:ext uri="{FF2B5EF4-FFF2-40B4-BE49-F238E27FC236}">
                <a16:creationId xmlns:a16="http://schemas.microsoft.com/office/drawing/2014/main" id="{2DF315A4-5B48-7ED2-A056-F35F7E553660}"/>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566928"/>
          </a:xfrm>
          <a:prstGeom prst="rect">
            <a:avLst/>
          </a:prstGeom>
          <a:noFill/>
        </p:spPr>
        <p:txBody>
          <a:bodyPr wrap="square" lIns="0" tIns="0" rIns="0" bIns="0">
            <a:spAutoFit/>
          </a:bodyPr>
          <a:lstStyle/>
          <a:p>
            <a:pPr algn="l"/>
            <a:r>
              <a:rPr sz="2700" b="1" i="0" dirty="0">
                <a:solidFill>
                  <a:srgbClr val="143052"/>
                </a:solidFill>
                <a:latin typeface="Aptos"/>
              </a:rPr>
              <a:t>How to read the results</a:t>
            </a:r>
          </a:p>
        </p:txBody>
      </p:sp>
      <p:sp>
        <p:nvSpPr>
          <p:cNvPr id="5" name="TextBox 4"/>
          <p:cNvSpPr txBox="1"/>
          <p:nvPr/>
        </p:nvSpPr>
        <p:spPr>
          <a:xfrm>
            <a:off x="11201400" y="393192"/>
            <a:ext cx="502920" cy="320040"/>
          </a:xfrm>
          <a:prstGeom prst="rect">
            <a:avLst/>
          </a:prstGeom>
          <a:noFill/>
        </p:spPr>
        <p:txBody>
          <a:bodyPr wrap="square" lIns="0" tIns="0" rIns="0" bIns="0">
            <a:spAutoFit/>
          </a:bodyPr>
          <a:lstStyle/>
          <a:p>
            <a:pPr algn="r"/>
            <a:r>
              <a:rPr sz="1800" b="1" i="0">
                <a:solidFill>
                  <a:srgbClr val="5B6773"/>
                </a:solidFill>
                <a:latin typeface="Aptos"/>
              </a:rPr>
              <a:t>14</a:t>
            </a:r>
          </a:p>
        </p:txBody>
      </p:sp>
      <p:sp>
        <p:nvSpPr>
          <p:cNvPr id="7" name="TextBox 6"/>
          <p:cNvSpPr txBox="1"/>
          <p:nvPr/>
        </p:nvSpPr>
        <p:spPr>
          <a:xfrm>
            <a:off x="502920" y="1234440"/>
            <a:ext cx="9601200" cy="365760"/>
          </a:xfrm>
          <a:prstGeom prst="rect">
            <a:avLst/>
          </a:prstGeom>
          <a:noFill/>
        </p:spPr>
        <p:txBody>
          <a:bodyPr wrap="square" lIns="0" tIns="0" rIns="0" bIns="0">
            <a:spAutoFit/>
          </a:bodyPr>
          <a:lstStyle/>
          <a:p>
            <a:pPr algn="l"/>
            <a:r>
              <a:rPr sz="1800" b="1" i="0">
                <a:solidFill>
                  <a:srgbClr val="143052"/>
                </a:solidFill>
                <a:latin typeface="Aptos"/>
              </a:rPr>
              <a:t>I am asking four questions of every relationship.</a:t>
            </a:r>
          </a:p>
        </p:txBody>
      </p:sp>
      <p:sp>
        <p:nvSpPr>
          <p:cNvPr id="8" name="Rounded Rectangle 7"/>
          <p:cNvSpPr/>
          <p:nvPr/>
        </p:nvSpPr>
        <p:spPr>
          <a:xfrm>
            <a:off x="685800" y="1920240"/>
            <a:ext cx="5074920" cy="1417320"/>
          </a:xfrm>
          <a:prstGeom prst="roundRect">
            <a:avLst/>
          </a:prstGeom>
          <a:solidFill>
            <a:srgbClr val="FFFFFF"/>
          </a:solidFill>
          <a:ln w="254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14400" y="2267712"/>
            <a:ext cx="502920" cy="502920"/>
          </a:xfrm>
          <a:prstGeom prst="ellipse">
            <a:avLst/>
          </a:prstGeom>
          <a:solidFill>
            <a:srgbClr val="2A7EBE"/>
          </a:solidFill>
          <a:ln w="1905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395728"/>
            <a:ext cx="502920" cy="182880"/>
          </a:xfrm>
          <a:prstGeom prst="rect">
            <a:avLst/>
          </a:prstGeom>
          <a:noFill/>
        </p:spPr>
        <p:txBody>
          <a:bodyPr wrap="square" lIns="0" tIns="0" rIns="0" bIns="0">
            <a:spAutoFit/>
          </a:bodyPr>
          <a:lstStyle/>
          <a:p>
            <a:pPr algn="ctr"/>
            <a:r>
              <a:rPr sz="1800" b="1" i="0">
                <a:solidFill>
                  <a:srgbClr val="FFFFFF"/>
                </a:solidFill>
                <a:latin typeface="Aptos"/>
              </a:rPr>
              <a:t>1</a:t>
            </a:r>
          </a:p>
        </p:txBody>
      </p:sp>
      <p:sp>
        <p:nvSpPr>
          <p:cNvPr id="11" name="TextBox 10"/>
          <p:cNvSpPr txBox="1"/>
          <p:nvPr/>
        </p:nvSpPr>
        <p:spPr>
          <a:xfrm>
            <a:off x="1581912" y="2148840"/>
            <a:ext cx="1828800" cy="256032"/>
          </a:xfrm>
          <a:prstGeom prst="rect">
            <a:avLst/>
          </a:prstGeom>
          <a:noFill/>
        </p:spPr>
        <p:txBody>
          <a:bodyPr wrap="square" lIns="0" tIns="0" rIns="0" bIns="0">
            <a:spAutoFit/>
          </a:bodyPr>
          <a:lstStyle/>
          <a:p>
            <a:pPr algn="l"/>
            <a:r>
              <a:rPr sz="1800" b="1" i="0">
                <a:solidFill>
                  <a:srgbClr val="2A7EBE"/>
                </a:solidFill>
                <a:latin typeface="Aptos"/>
              </a:rPr>
              <a:t>SHAPE</a:t>
            </a:r>
          </a:p>
        </p:txBody>
      </p:sp>
      <p:sp>
        <p:nvSpPr>
          <p:cNvPr id="12" name="TextBox 11"/>
          <p:cNvSpPr txBox="1"/>
          <p:nvPr/>
        </p:nvSpPr>
        <p:spPr>
          <a:xfrm>
            <a:off x="1581912" y="2578608"/>
            <a:ext cx="3749039" cy="438912"/>
          </a:xfrm>
          <a:prstGeom prst="rect">
            <a:avLst/>
          </a:prstGeom>
          <a:noFill/>
        </p:spPr>
        <p:txBody>
          <a:bodyPr wrap="square" lIns="0" tIns="0" rIns="0" bIns="0">
            <a:spAutoFit/>
          </a:bodyPr>
          <a:lstStyle/>
          <a:p>
            <a:pPr algn="l"/>
            <a:r>
              <a:rPr sz="1800" b="1" i="0">
                <a:solidFill>
                  <a:srgbClr val="143052"/>
                </a:solidFill>
                <a:latin typeface="Aptos"/>
              </a:rPr>
              <a:t>Linear? Threshold? Peak? Nonlinear?</a:t>
            </a:r>
          </a:p>
        </p:txBody>
      </p:sp>
      <p:sp>
        <p:nvSpPr>
          <p:cNvPr id="13" name="Rounded Rectangle 12"/>
          <p:cNvSpPr/>
          <p:nvPr/>
        </p:nvSpPr>
        <p:spPr>
          <a:xfrm>
            <a:off x="6309360" y="1920240"/>
            <a:ext cx="5074920" cy="1417320"/>
          </a:xfrm>
          <a:prstGeom prst="roundRect">
            <a:avLst/>
          </a:prstGeom>
          <a:solidFill>
            <a:srgbClr val="FFFFFF"/>
          </a:solidFill>
          <a:ln w="254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537960" y="2267712"/>
            <a:ext cx="502920" cy="502920"/>
          </a:xfrm>
          <a:prstGeom prst="ellipse">
            <a:avLst/>
          </a:prstGeom>
          <a:solidFill>
            <a:srgbClr val="2A9DA1"/>
          </a:solidFill>
          <a:ln w="1905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37960" y="2395728"/>
            <a:ext cx="502920" cy="182880"/>
          </a:xfrm>
          <a:prstGeom prst="rect">
            <a:avLst/>
          </a:prstGeom>
          <a:noFill/>
        </p:spPr>
        <p:txBody>
          <a:bodyPr wrap="square" lIns="0" tIns="0" rIns="0" bIns="0">
            <a:spAutoFit/>
          </a:bodyPr>
          <a:lstStyle/>
          <a:p>
            <a:pPr algn="ctr"/>
            <a:r>
              <a:rPr sz="1800" b="1" i="0">
                <a:solidFill>
                  <a:srgbClr val="FFFFFF"/>
                </a:solidFill>
                <a:latin typeface="Aptos"/>
              </a:rPr>
              <a:t>2</a:t>
            </a:r>
          </a:p>
        </p:txBody>
      </p:sp>
      <p:sp>
        <p:nvSpPr>
          <p:cNvPr id="16" name="TextBox 15"/>
          <p:cNvSpPr txBox="1"/>
          <p:nvPr/>
        </p:nvSpPr>
        <p:spPr>
          <a:xfrm>
            <a:off x="7205472" y="2148840"/>
            <a:ext cx="1828800" cy="256032"/>
          </a:xfrm>
          <a:prstGeom prst="rect">
            <a:avLst/>
          </a:prstGeom>
          <a:noFill/>
        </p:spPr>
        <p:txBody>
          <a:bodyPr wrap="square" lIns="0" tIns="0" rIns="0" bIns="0">
            <a:spAutoFit/>
          </a:bodyPr>
          <a:lstStyle/>
          <a:p>
            <a:pPr algn="l"/>
            <a:r>
              <a:rPr sz="1800" b="1" i="0">
                <a:solidFill>
                  <a:srgbClr val="2A9DA1"/>
                </a:solidFill>
                <a:latin typeface="Aptos"/>
              </a:rPr>
              <a:t>DIRECTION</a:t>
            </a:r>
          </a:p>
        </p:txBody>
      </p:sp>
      <p:sp>
        <p:nvSpPr>
          <p:cNvPr id="17" name="TextBox 16"/>
          <p:cNvSpPr txBox="1"/>
          <p:nvPr/>
        </p:nvSpPr>
        <p:spPr>
          <a:xfrm>
            <a:off x="7205472" y="2578608"/>
            <a:ext cx="3749039" cy="438912"/>
          </a:xfrm>
          <a:prstGeom prst="rect">
            <a:avLst/>
          </a:prstGeom>
          <a:noFill/>
        </p:spPr>
        <p:txBody>
          <a:bodyPr wrap="square" lIns="0" tIns="0" rIns="0" bIns="0">
            <a:spAutoFit/>
          </a:bodyPr>
          <a:lstStyle/>
          <a:p>
            <a:pPr algn="l"/>
            <a:r>
              <a:rPr sz="1800" b="1" i="0">
                <a:solidFill>
                  <a:srgbClr val="143052"/>
                </a:solidFill>
                <a:latin typeface="Aptos"/>
              </a:rPr>
              <a:t>Where does abundance increase or decrease?</a:t>
            </a:r>
          </a:p>
        </p:txBody>
      </p:sp>
      <p:sp>
        <p:nvSpPr>
          <p:cNvPr id="18" name="Rounded Rectangle 17"/>
          <p:cNvSpPr/>
          <p:nvPr/>
        </p:nvSpPr>
        <p:spPr>
          <a:xfrm>
            <a:off x="685800" y="3749039"/>
            <a:ext cx="5074920" cy="1417320"/>
          </a:xfrm>
          <a:prstGeom prst="roundRect">
            <a:avLst/>
          </a:prstGeom>
          <a:solidFill>
            <a:srgbClr val="FFFFFF"/>
          </a:solidFill>
          <a:ln w="254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14400" y="4096511"/>
            <a:ext cx="502920" cy="502920"/>
          </a:xfrm>
          <a:prstGeom prst="ellipse">
            <a:avLst/>
          </a:prstGeom>
          <a:solidFill>
            <a:srgbClr val="5B975C"/>
          </a:solidFill>
          <a:ln w="1905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4224527"/>
            <a:ext cx="502920" cy="182880"/>
          </a:xfrm>
          <a:prstGeom prst="rect">
            <a:avLst/>
          </a:prstGeom>
          <a:noFill/>
        </p:spPr>
        <p:txBody>
          <a:bodyPr wrap="square" lIns="0" tIns="0" rIns="0" bIns="0">
            <a:spAutoFit/>
          </a:bodyPr>
          <a:lstStyle/>
          <a:p>
            <a:pPr algn="ctr"/>
            <a:r>
              <a:rPr sz="1800" b="1" i="0">
                <a:solidFill>
                  <a:srgbClr val="FFFFFF"/>
                </a:solidFill>
                <a:latin typeface="Aptos"/>
              </a:rPr>
              <a:t>3</a:t>
            </a:r>
          </a:p>
        </p:txBody>
      </p:sp>
      <p:sp>
        <p:nvSpPr>
          <p:cNvPr id="21" name="TextBox 20"/>
          <p:cNvSpPr txBox="1"/>
          <p:nvPr/>
        </p:nvSpPr>
        <p:spPr>
          <a:xfrm>
            <a:off x="1581912" y="3977639"/>
            <a:ext cx="1828800" cy="256032"/>
          </a:xfrm>
          <a:prstGeom prst="rect">
            <a:avLst/>
          </a:prstGeom>
          <a:noFill/>
        </p:spPr>
        <p:txBody>
          <a:bodyPr wrap="square" lIns="0" tIns="0" rIns="0" bIns="0">
            <a:spAutoFit/>
          </a:bodyPr>
          <a:lstStyle/>
          <a:p>
            <a:pPr algn="l"/>
            <a:r>
              <a:rPr sz="1800" b="1" i="0">
                <a:solidFill>
                  <a:srgbClr val="5B975C"/>
                </a:solidFill>
                <a:latin typeface="Aptos"/>
              </a:rPr>
              <a:t>CONTEXT</a:t>
            </a:r>
          </a:p>
        </p:txBody>
      </p:sp>
      <p:sp>
        <p:nvSpPr>
          <p:cNvPr id="22" name="TextBox 21"/>
          <p:cNvSpPr txBox="1"/>
          <p:nvPr/>
        </p:nvSpPr>
        <p:spPr>
          <a:xfrm>
            <a:off x="1581912" y="4407407"/>
            <a:ext cx="3749039" cy="438912"/>
          </a:xfrm>
          <a:prstGeom prst="rect">
            <a:avLst/>
          </a:prstGeom>
          <a:noFill/>
        </p:spPr>
        <p:txBody>
          <a:bodyPr wrap="square" lIns="0" tIns="0" rIns="0" bIns="0">
            <a:spAutoFit/>
          </a:bodyPr>
          <a:lstStyle/>
          <a:p>
            <a:pPr algn="l"/>
            <a:r>
              <a:rPr sz="1800" b="1" i="0">
                <a:solidFill>
                  <a:srgbClr val="143052"/>
                </a:solidFill>
                <a:latin typeface="Aptos"/>
              </a:rPr>
              <a:t>Does the pattern make ecological sense?</a:t>
            </a:r>
          </a:p>
        </p:txBody>
      </p:sp>
      <p:sp>
        <p:nvSpPr>
          <p:cNvPr id="23" name="Rounded Rectangle 22"/>
          <p:cNvSpPr/>
          <p:nvPr/>
        </p:nvSpPr>
        <p:spPr>
          <a:xfrm>
            <a:off x="6309360" y="3749039"/>
            <a:ext cx="5074920" cy="1417320"/>
          </a:xfrm>
          <a:prstGeom prst="roundRect">
            <a:avLst/>
          </a:prstGeom>
          <a:solidFill>
            <a:srgbClr val="FFFFFF"/>
          </a:solidFill>
          <a:ln w="254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537960" y="4096511"/>
            <a:ext cx="502920" cy="502920"/>
          </a:xfrm>
          <a:prstGeom prst="ellipse">
            <a:avLst/>
          </a:prstGeom>
          <a:solidFill>
            <a:srgbClr val="E26954"/>
          </a:solidFill>
          <a:ln w="1905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37960" y="4224527"/>
            <a:ext cx="502920" cy="182880"/>
          </a:xfrm>
          <a:prstGeom prst="rect">
            <a:avLst/>
          </a:prstGeom>
          <a:noFill/>
        </p:spPr>
        <p:txBody>
          <a:bodyPr wrap="square" lIns="0" tIns="0" rIns="0" bIns="0">
            <a:spAutoFit/>
          </a:bodyPr>
          <a:lstStyle/>
          <a:p>
            <a:pPr algn="ctr"/>
            <a:r>
              <a:rPr sz="1800" b="1" i="0">
                <a:solidFill>
                  <a:srgbClr val="FFFFFF"/>
                </a:solidFill>
                <a:latin typeface="Aptos"/>
              </a:rPr>
              <a:t>4</a:t>
            </a:r>
          </a:p>
        </p:txBody>
      </p:sp>
      <p:sp>
        <p:nvSpPr>
          <p:cNvPr id="26" name="TextBox 25"/>
          <p:cNvSpPr txBox="1"/>
          <p:nvPr/>
        </p:nvSpPr>
        <p:spPr>
          <a:xfrm>
            <a:off x="7205472" y="3977639"/>
            <a:ext cx="1828800" cy="256032"/>
          </a:xfrm>
          <a:prstGeom prst="rect">
            <a:avLst/>
          </a:prstGeom>
          <a:noFill/>
        </p:spPr>
        <p:txBody>
          <a:bodyPr wrap="square" lIns="0" tIns="0" rIns="0" bIns="0">
            <a:spAutoFit/>
          </a:bodyPr>
          <a:lstStyle/>
          <a:p>
            <a:pPr algn="l"/>
            <a:r>
              <a:rPr sz="1800" b="1" i="0">
                <a:solidFill>
                  <a:srgbClr val="E26954"/>
                </a:solidFill>
                <a:latin typeface="Aptos"/>
              </a:rPr>
              <a:t>LIMITS</a:t>
            </a:r>
          </a:p>
        </p:txBody>
      </p:sp>
      <p:sp>
        <p:nvSpPr>
          <p:cNvPr id="27" name="TextBox 26"/>
          <p:cNvSpPr txBox="1"/>
          <p:nvPr/>
        </p:nvSpPr>
        <p:spPr>
          <a:xfrm>
            <a:off x="7205472" y="4407407"/>
            <a:ext cx="3749039" cy="438912"/>
          </a:xfrm>
          <a:prstGeom prst="rect">
            <a:avLst/>
          </a:prstGeom>
          <a:noFill/>
        </p:spPr>
        <p:txBody>
          <a:bodyPr wrap="square" lIns="0" tIns="0" rIns="0" bIns="0">
            <a:spAutoFit/>
          </a:bodyPr>
          <a:lstStyle/>
          <a:p>
            <a:pPr algn="l"/>
            <a:r>
              <a:rPr sz="1800" b="1" i="0">
                <a:solidFill>
                  <a:srgbClr val="143052"/>
                </a:solidFill>
                <a:latin typeface="Aptos"/>
              </a:rPr>
              <a:t>What does the monitoring record prevent us from concluding?</a:t>
            </a:r>
          </a:p>
        </p:txBody>
      </p:sp>
      <p:sp>
        <p:nvSpPr>
          <p:cNvPr id="28" name="Rounded Rectangle 27"/>
          <p:cNvSpPr/>
          <p:nvPr/>
        </p:nvSpPr>
        <p:spPr>
          <a:xfrm>
            <a:off x="1965960" y="5532120"/>
            <a:ext cx="8229600" cy="502920"/>
          </a:xfrm>
          <a:prstGeom prst="roundRect">
            <a:avLst/>
          </a:prstGeom>
          <a:solidFill>
            <a:srgbClr val="FFF7F7"/>
          </a:solidFill>
          <a:ln w="1524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148840" y="5650992"/>
            <a:ext cx="7863840" cy="219456"/>
          </a:xfrm>
          <a:prstGeom prst="rect">
            <a:avLst/>
          </a:prstGeom>
          <a:noFill/>
        </p:spPr>
        <p:txBody>
          <a:bodyPr wrap="square" lIns="0" tIns="0" rIns="0" bIns="0">
            <a:spAutoFit/>
          </a:bodyPr>
          <a:lstStyle/>
          <a:p>
            <a:pPr algn="ctr"/>
            <a:r>
              <a:rPr sz="1800" b="1" i="0">
                <a:solidFill>
                  <a:srgbClr val="E26954"/>
                </a:solidFill>
                <a:latin typeface="Aptos"/>
              </a:rPr>
              <a:t>Important: association ≠ causation.</a:t>
            </a:r>
          </a:p>
        </p:txBody>
      </p:sp>
      <p:sp>
        <p:nvSpPr>
          <p:cNvPr id="30"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2A7EBE"/>
                </a:solidFill>
                <a:latin typeface="Aptos"/>
              </a:rPr>
              <a:t>STORY</a:t>
            </a:r>
          </a:p>
        </p:txBody>
      </p:sp>
      <p:sp>
        <p:nvSpPr>
          <p:cNvPr id="32"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2A9DA1"/>
                </a:solidFill>
                <a:latin typeface="Aptos"/>
              </a:rPr>
              <a:t>SYSTEM</a:t>
            </a:r>
          </a:p>
        </p:txBody>
      </p:sp>
      <p:sp>
        <p:nvSpPr>
          <p:cNvPr id="34"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E7AD46"/>
                </a:solidFill>
                <a:latin typeface="Aptos"/>
              </a:rPr>
              <a:t>DATA</a:t>
            </a:r>
          </a:p>
        </p:txBody>
      </p:sp>
      <p:sp>
        <p:nvSpPr>
          <p:cNvPr id="36" name="NAV_3"/>
          <p:cNvSpPr/>
          <p:nvPr/>
        </p:nvSpPr>
        <p:spPr>
          <a:xfrm>
            <a:off x="4672584" y="6528816"/>
            <a:ext cx="1225296" cy="219456"/>
          </a:xfrm>
          <a:prstGeom prst="roundRect">
            <a:avLst/>
          </a:prstGeom>
          <a:solidFill>
            <a:srgbClr val="E26954"/>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FFFFFF"/>
                </a:solidFill>
                <a:latin typeface="Aptos"/>
              </a:rPr>
              <a:t>RESULTS</a:t>
            </a:r>
          </a:p>
        </p:txBody>
      </p:sp>
      <p:sp>
        <p:nvSpPr>
          <p:cNvPr id="38" name="NAV_4"/>
          <p:cNvSpPr/>
          <p:nvPr/>
        </p:nvSpPr>
        <p:spPr>
          <a:xfrm>
            <a:off x="6062471" y="6528816"/>
            <a:ext cx="1608329" cy="219456"/>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080760" y="6499335"/>
            <a:ext cx="1532128"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41" name="Rounded Rectangle 40"/>
          <p:cNvSpPr/>
          <p:nvPr/>
        </p:nvSpPr>
        <p:spPr>
          <a:xfrm>
            <a:off x="9646920" y="1097280"/>
            <a:ext cx="1828800" cy="310896"/>
          </a:xfrm>
          <a:prstGeom prst="roundRect">
            <a:avLst/>
          </a:prstGeom>
          <a:solidFill>
            <a:srgbClr val="FFF7F7"/>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646920" y="1170432"/>
            <a:ext cx="1828800" cy="146304"/>
          </a:xfrm>
          <a:prstGeom prst="rect">
            <a:avLst/>
          </a:prstGeom>
          <a:noFill/>
        </p:spPr>
        <p:txBody>
          <a:bodyPr wrap="square" lIns="0" tIns="0" rIns="0" bIns="0">
            <a:spAutoFit/>
          </a:bodyPr>
          <a:lstStyle/>
          <a:p>
            <a:pPr algn="ctr"/>
            <a:r>
              <a:rPr sz="1800" b="1" i="0">
                <a:solidFill>
                  <a:srgbClr val="E26954"/>
                </a:solidFill>
                <a:latin typeface="Aptos"/>
              </a:rPr>
              <a:t>RESULTS FOCUS</a:t>
            </a:r>
          </a:p>
        </p:txBody>
      </p:sp>
      <p:sp>
        <p:nvSpPr>
          <p:cNvPr id="43" name="TextBox 42">
            <a:extLst>
              <a:ext uri="{FF2B5EF4-FFF2-40B4-BE49-F238E27FC236}">
                <a16:creationId xmlns:a16="http://schemas.microsoft.com/office/drawing/2014/main" id="{5C8A935A-C328-7377-FE29-F7A80A26AC2F}"/>
              </a:ext>
            </a:extLst>
          </p:cNvPr>
          <p:cNvSpPr txBox="1"/>
          <p:nvPr/>
        </p:nvSpPr>
        <p:spPr>
          <a:xfrm>
            <a:off x="7693185" y="6485544"/>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V_2">
            <a:extLst>
              <a:ext uri="{FF2B5EF4-FFF2-40B4-BE49-F238E27FC236}">
                <a16:creationId xmlns:a16="http://schemas.microsoft.com/office/drawing/2014/main" id="{8423F316-F3C2-EB86-60C2-B76C7828A296}"/>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566928"/>
          </a:xfrm>
          <a:prstGeom prst="rect">
            <a:avLst/>
          </a:prstGeom>
          <a:noFill/>
        </p:spPr>
        <p:txBody>
          <a:bodyPr wrap="square" lIns="0" tIns="0" rIns="0" bIns="0">
            <a:spAutoFit/>
          </a:bodyPr>
          <a:lstStyle/>
          <a:p>
            <a:pPr algn="l"/>
            <a:r>
              <a:rPr sz="2700" b="1" i="0">
                <a:solidFill>
                  <a:srgbClr val="143052"/>
                </a:solidFill>
                <a:latin typeface="Aptos"/>
              </a:rPr>
              <a:t>What this adds to the modeling chain</a:t>
            </a:r>
          </a:p>
        </p:txBody>
      </p:sp>
      <p:sp>
        <p:nvSpPr>
          <p:cNvPr id="5" name="TextBox 4"/>
          <p:cNvSpPr txBox="1"/>
          <p:nvPr/>
        </p:nvSpPr>
        <p:spPr>
          <a:xfrm>
            <a:off x="11201400" y="393192"/>
            <a:ext cx="502920" cy="320040"/>
          </a:xfrm>
          <a:prstGeom prst="rect">
            <a:avLst/>
          </a:prstGeom>
          <a:noFill/>
        </p:spPr>
        <p:txBody>
          <a:bodyPr wrap="square" lIns="0" tIns="0" rIns="0" bIns="0">
            <a:spAutoFit/>
          </a:bodyPr>
          <a:lstStyle/>
          <a:p>
            <a:pPr algn="r"/>
            <a:r>
              <a:rPr sz="1800" b="1" i="0">
                <a:solidFill>
                  <a:srgbClr val="5B6773"/>
                </a:solidFill>
                <a:latin typeface="Aptos"/>
              </a:rPr>
              <a:t>15</a:t>
            </a:r>
          </a:p>
        </p:txBody>
      </p:sp>
      <p:sp>
        <p:nvSpPr>
          <p:cNvPr id="7" name="TextBox 6"/>
          <p:cNvSpPr txBox="1"/>
          <p:nvPr/>
        </p:nvSpPr>
        <p:spPr>
          <a:xfrm>
            <a:off x="502920" y="1234440"/>
            <a:ext cx="10424160" cy="365760"/>
          </a:xfrm>
          <a:prstGeom prst="rect">
            <a:avLst/>
          </a:prstGeom>
          <a:noFill/>
        </p:spPr>
        <p:txBody>
          <a:bodyPr wrap="square" lIns="0" tIns="0" rIns="0" bIns="0">
            <a:spAutoFit/>
          </a:bodyPr>
          <a:lstStyle/>
          <a:p>
            <a:pPr algn="l"/>
            <a:r>
              <a:rPr sz="1800" b="0" i="0">
                <a:solidFill>
                  <a:srgbClr val="5B6773"/>
                </a:solidFill>
                <a:latin typeface="Aptos"/>
              </a:rPr>
              <a:t>The immediate product is a biological response relationship.</a:t>
            </a:r>
          </a:p>
        </p:txBody>
      </p:sp>
      <p:sp>
        <p:nvSpPr>
          <p:cNvPr id="8" name="Rounded Rectangle 7"/>
          <p:cNvSpPr/>
          <p:nvPr/>
        </p:nvSpPr>
        <p:spPr>
          <a:xfrm>
            <a:off x="502920" y="2240280"/>
            <a:ext cx="2423160" cy="1874519"/>
          </a:xfrm>
          <a:prstGeom prst="roundRect">
            <a:avLst/>
          </a:prstGeom>
          <a:solidFill>
            <a:srgbClr val="FFFFFF"/>
          </a:solidFill>
          <a:ln w="3048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578608"/>
            <a:ext cx="2148840" cy="274320"/>
          </a:xfrm>
          <a:prstGeom prst="rect">
            <a:avLst/>
          </a:prstGeom>
          <a:noFill/>
        </p:spPr>
        <p:txBody>
          <a:bodyPr wrap="square" lIns="0" tIns="0" rIns="0" bIns="0">
            <a:spAutoFit/>
          </a:bodyPr>
          <a:lstStyle/>
          <a:p>
            <a:pPr algn="ctr"/>
            <a:r>
              <a:rPr sz="1800" b="1" i="0">
                <a:solidFill>
                  <a:srgbClr val="2A7EBE"/>
                </a:solidFill>
                <a:latin typeface="Aptos"/>
              </a:rPr>
              <a:t>CALSIM3</a:t>
            </a:r>
          </a:p>
        </p:txBody>
      </p:sp>
      <p:sp>
        <p:nvSpPr>
          <p:cNvPr id="10" name="TextBox 9"/>
          <p:cNvSpPr txBox="1"/>
          <p:nvPr/>
        </p:nvSpPr>
        <p:spPr>
          <a:xfrm>
            <a:off x="667512" y="3127248"/>
            <a:ext cx="2084831" cy="502920"/>
          </a:xfrm>
          <a:prstGeom prst="rect">
            <a:avLst/>
          </a:prstGeom>
          <a:noFill/>
        </p:spPr>
        <p:txBody>
          <a:bodyPr wrap="square" lIns="0" tIns="0" rIns="0" bIns="0">
            <a:spAutoFit/>
          </a:bodyPr>
          <a:lstStyle/>
          <a:p>
            <a:pPr algn="ctr"/>
            <a:r>
              <a:rPr sz="1800" b="1" i="0">
                <a:solidFill>
                  <a:srgbClr val="143052"/>
                </a:solidFill>
                <a:latin typeface="Aptos"/>
              </a:rPr>
              <a:t>Predicted system conditions</a:t>
            </a:r>
          </a:p>
        </p:txBody>
      </p:sp>
      <p:sp>
        <p:nvSpPr>
          <p:cNvPr id="11" name="Right Arrow 10"/>
          <p:cNvSpPr/>
          <p:nvPr/>
        </p:nvSpPr>
        <p:spPr>
          <a:xfrm>
            <a:off x="2953512" y="2953512"/>
            <a:ext cx="384048" cy="310896"/>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410712" y="2240280"/>
            <a:ext cx="2423160" cy="1874519"/>
          </a:xfrm>
          <a:prstGeom prst="roundRect">
            <a:avLst/>
          </a:prstGeom>
          <a:solidFill>
            <a:srgbClr val="FFFFFF"/>
          </a:solidFill>
          <a:ln w="3048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47872" y="2578608"/>
            <a:ext cx="2148840" cy="274320"/>
          </a:xfrm>
          <a:prstGeom prst="rect">
            <a:avLst/>
          </a:prstGeom>
          <a:noFill/>
        </p:spPr>
        <p:txBody>
          <a:bodyPr wrap="square" lIns="0" tIns="0" rIns="0" bIns="0">
            <a:spAutoFit/>
          </a:bodyPr>
          <a:lstStyle/>
          <a:p>
            <a:pPr algn="ctr"/>
            <a:r>
              <a:rPr sz="1800" b="1" i="0">
                <a:solidFill>
                  <a:srgbClr val="2A9DA1"/>
                </a:solidFill>
                <a:latin typeface="Aptos"/>
              </a:rPr>
              <a:t>ENVIRONMENT</a:t>
            </a:r>
          </a:p>
        </p:txBody>
      </p:sp>
      <p:sp>
        <p:nvSpPr>
          <p:cNvPr id="14" name="TextBox 13"/>
          <p:cNvSpPr txBox="1"/>
          <p:nvPr/>
        </p:nvSpPr>
        <p:spPr>
          <a:xfrm>
            <a:off x="3575304" y="3127248"/>
            <a:ext cx="2084831" cy="502920"/>
          </a:xfrm>
          <a:prstGeom prst="rect">
            <a:avLst/>
          </a:prstGeom>
          <a:noFill/>
        </p:spPr>
        <p:txBody>
          <a:bodyPr wrap="square" lIns="0" tIns="0" rIns="0" bIns="0">
            <a:spAutoFit/>
          </a:bodyPr>
          <a:lstStyle/>
          <a:p>
            <a:pPr algn="ctr"/>
            <a:r>
              <a:rPr sz="1800" b="1" i="0">
                <a:solidFill>
                  <a:srgbClr val="143052"/>
                </a:solidFill>
                <a:latin typeface="Aptos"/>
              </a:rPr>
              <a:t>Flow • salinity • temperature • food</a:t>
            </a:r>
          </a:p>
        </p:txBody>
      </p:sp>
      <p:sp>
        <p:nvSpPr>
          <p:cNvPr id="15" name="Right Arrow 14"/>
          <p:cNvSpPr/>
          <p:nvPr/>
        </p:nvSpPr>
        <p:spPr>
          <a:xfrm>
            <a:off x="5861304" y="2953512"/>
            <a:ext cx="384048" cy="310896"/>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318504" y="2240280"/>
            <a:ext cx="2423160" cy="1874519"/>
          </a:xfrm>
          <a:prstGeom prst="roundRect">
            <a:avLst/>
          </a:prstGeom>
          <a:solidFill>
            <a:srgbClr val="FFFFFF"/>
          </a:solidFill>
          <a:ln w="3048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55664" y="2578608"/>
            <a:ext cx="2148840" cy="274320"/>
          </a:xfrm>
          <a:prstGeom prst="rect">
            <a:avLst/>
          </a:prstGeom>
          <a:noFill/>
        </p:spPr>
        <p:txBody>
          <a:bodyPr wrap="square" lIns="0" tIns="0" rIns="0" bIns="0">
            <a:spAutoFit/>
          </a:bodyPr>
          <a:lstStyle/>
          <a:p>
            <a:pPr algn="ctr"/>
            <a:r>
              <a:rPr sz="1800" b="1" i="0">
                <a:solidFill>
                  <a:srgbClr val="E26954"/>
                </a:solidFill>
                <a:latin typeface="Aptos"/>
              </a:rPr>
              <a:t>ZOOPLANKTON</a:t>
            </a:r>
          </a:p>
        </p:txBody>
      </p:sp>
      <p:sp>
        <p:nvSpPr>
          <p:cNvPr id="18" name="TextBox 17"/>
          <p:cNvSpPr txBox="1"/>
          <p:nvPr/>
        </p:nvSpPr>
        <p:spPr>
          <a:xfrm>
            <a:off x="6483096" y="3127248"/>
            <a:ext cx="2084831" cy="502920"/>
          </a:xfrm>
          <a:prstGeom prst="rect">
            <a:avLst/>
          </a:prstGeom>
          <a:noFill/>
        </p:spPr>
        <p:txBody>
          <a:bodyPr wrap="square" lIns="0" tIns="0" rIns="0" bIns="0">
            <a:spAutoFit/>
          </a:bodyPr>
          <a:lstStyle/>
          <a:p>
            <a:pPr algn="ctr"/>
            <a:r>
              <a:rPr sz="1800" b="1" i="0">
                <a:solidFill>
                  <a:srgbClr val="143052"/>
                </a:solidFill>
                <a:latin typeface="Aptos"/>
              </a:rPr>
              <a:t>Empirical response</a:t>
            </a:r>
          </a:p>
        </p:txBody>
      </p:sp>
      <p:sp>
        <p:nvSpPr>
          <p:cNvPr id="19" name="Right Arrow 18"/>
          <p:cNvSpPr/>
          <p:nvPr/>
        </p:nvSpPr>
        <p:spPr>
          <a:xfrm>
            <a:off x="8769096" y="2953512"/>
            <a:ext cx="384048" cy="310896"/>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226296" y="2240280"/>
            <a:ext cx="2423160" cy="1874519"/>
          </a:xfrm>
          <a:prstGeom prst="roundRect">
            <a:avLst/>
          </a:prstGeom>
          <a:solidFill>
            <a:srgbClr val="FFFFFF"/>
          </a:solidFill>
          <a:ln w="3048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363456" y="2578608"/>
            <a:ext cx="2148840" cy="274320"/>
          </a:xfrm>
          <a:prstGeom prst="rect">
            <a:avLst/>
          </a:prstGeom>
          <a:noFill/>
        </p:spPr>
        <p:txBody>
          <a:bodyPr wrap="square" lIns="0" tIns="0" rIns="0" bIns="0">
            <a:spAutoFit/>
          </a:bodyPr>
          <a:lstStyle/>
          <a:p>
            <a:pPr algn="ctr"/>
            <a:r>
              <a:rPr sz="1800" b="1" i="0">
                <a:solidFill>
                  <a:srgbClr val="5B975C"/>
                </a:solidFill>
                <a:latin typeface="Aptos"/>
              </a:rPr>
              <a:t>FISH FOOD WEB</a:t>
            </a:r>
          </a:p>
        </p:txBody>
      </p:sp>
      <p:sp>
        <p:nvSpPr>
          <p:cNvPr id="22" name="TextBox 21"/>
          <p:cNvSpPr txBox="1"/>
          <p:nvPr/>
        </p:nvSpPr>
        <p:spPr>
          <a:xfrm>
            <a:off x="9390888" y="3127248"/>
            <a:ext cx="2084831" cy="502920"/>
          </a:xfrm>
          <a:prstGeom prst="rect">
            <a:avLst/>
          </a:prstGeom>
          <a:noFill/>
        </p:spPr>
        <p:txBody>
          <a:bodyPr wrap="square" lIns="0" tIns="0" rIns="0" bIns="0">
            <a:spAutoFit/>
          </a:bodyPr>
          <a:lstStyle/>
          <a:p>
            <a:pPr algn="ctr"/>
            <a:r>
              <a:rPr sz="1800" b="1" i="0">
                <a:solidFill>
                  <a:srgbClr val="143052"/>
                </a:solidFill>
                <a:latin typeface="Aptos"/>
              </a:rPr>
              <a:t>Potential downstream response</a:t>
            </a:r>
          </a:p>
        </p:txBody>
      </p:sp>
      <p:sp>
        <p:nvSpPr>
          <p:cNvPr id="25"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2A7EBE"/>
                </a:solidFill>
                <a:latin typeface="Aptos"/>
              </a:rPr>
              <a:t>STORY</a:t>
            </a:r>
          </a:p>
        </p:txBody>
      </p:sp>
      <p:sp>
        <p:nvSpPr>
          <p:cNvPr id="27"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2A9DA1"/>
                </a:solidFill>
                <a:latin typeface="Aptos"/>
              </a:rPr>
              <a:t>SYSTEM</a:t>
            </a:r>
          </a:p>
        </p:txBody>
      </p:sp>
      <p:sp>
        <p:nvSpPr>
          <p:cNvPr id="29"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E7AD46"/>
                </a:solidFill>
                <a:latin typeface="Aptos"/>
              </a:rPr>
              <a:t>DATA</a:t>
            </a:r>
          </a:p>
        </p:txBody>
      </p:sp>
      <p:sp>
        <p:nvSpPr>
          <p:cNvPr id="31" name="NAV_3"/>
          <p:cNvSpPr/>
          <p:nvPr/>
        </p:nvSpPr>
        <p:spPr>
          <a:xfrm>
            <a:off x="4672584" y="6528816"/>
            <a:ext cx="1225296" cy="219456"/>
          </a:xfrm>
          <a:prstGeom prst="roundRect">
            <a:avLst/>
          </a:prstGeom>
          <a:solidFill>
            <a:srgbClr val="E26954"/>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FFFFFF"/>
                </a:solidFill>
                <a:latin typeface="Aptos"/>
              </a:rPr>
              <a:t>RESULTS</a:t>
            </a:r>
          </a:p>
        </p:txBody>
      </p:sp>
      <p:sp>
        <p:nvSpPr>
          <p:cNvPr id="33" name="NAV_4"/>
          <p:cNvSpPr/>
          <p:nvPr/>
        </p:nvSpPr>
        <p:spPr>
          <a:xfrm>
            <a:off x="6062472" y="6528816"/>
            <a:ext cx="1566486" cy="219456"/>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062472" y="6500012"/>
            <a:ext cx="1566486"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24" name="TextBox 23">
            <a:extLst>
              <a:ext uri="{FF2B5EF4-FFF2-40B4-BE49-F238E27FC236}">
                <a16:creationId xmlns:a16="http://schemas.microsoft.com/office/drawing/2014/main" id="{F4B726CE-040A-AE9C-E748-0C636DDE69CB}"/>
              </a:ext>
            </a:extLst>
          </p:cNvPr>
          <p:cNvSpPr txBox="1"/>
          <p:nvPr/>
        </p:nvSpPr>
        <p:spPr>
          <a:xfrm>
            <a:off x="7693185" y="6485544"/>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
        <p:nvSpPr>
          <p:cNvPr id="36" name="Rounded Rectangle 30">
            <a:extLst>
              <a:ext uri="{FF2B5EF4-FFF2-40B4-BE49-F238E27FC236}">
                <a16:creationId xmlns:a16="http://schemas.microsoft.com/office/drawing/2014/main" id="{BA1A18F8-71C5-728B-0A4B-81736B6A4318}"/>
              </a:ext>
            </a:extLst>
          </p:cNvPr>
          <p:cNvSpPr/>
          <p:nvPr/>
        </p:nvSpPr>
        <p:spPr>
          <a:xfrm>
            <a:off x="1100667" y="4821335"/>
            <a:ext cx="9183411" cy="1181531"/>
          </a:xfrm>
          <a:prstGeom prst="roundRect">
            <a:avLst/>
          </a:prstGeom>
          <a:solidFill>
            <a:srgbClr val="FFF7E0"/>
          </a:solidFill>
          <a:ln w="1905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dirty="0">
                <a:solidFill>
                  <a:schemeClr val="tx1"/>
                </a:solidFill>
              </a:rPr>
              <a:t>The goal is to provide information about how an organism responds to environmental conditions.</a:t>
            </a:r>
            <a:endParaRPr sz="2800" dirty="0">
              <a:solidFill>
                <a:schemeClr val="tx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V_2">
            <a:extLst>
              <a:ext uri="{FF2B5EF4-FFF2-40B4-BE49-F238E27FC236}">
                <a16:creationId xmlns:a16="http://schemas.microsoft.com/office/drawing/2014/main" id="{BB13AA0D-551F-7A54-6413-D8E1D221D22C}"/>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566928"/>
          </a:xfrm>
          <a:prstGeom prst="rect">
            <a:avLst/>
          </a:prstGeom>
          <a:noFill/>
        </p:spPr>
        <p:txBody>
          <a:bodyPr wrap="square" lIns="0" tIns="0" rIns="0" bIns="0">
            <a:spAutoFit/>
          </a:bodyPr>
          <a:lstStyle/>
          <a:p>
            <a:pPr algn="l"/>
            <a:r>
              <a:rPr sz="2700" b="1" i="0">
                <a:solidFill>
                  <a:srgbClr val="143052"/>
                </a:solidFill>
                <a:latin typeface="Aptos"/>
              </a:rPr>
              <a:t>From one genus to a broader framework</a:t>
            </a:r>
          </a:p>
        </p:txBody>
      </p:sp>
      <p:sp>
        <p:nvSpPr>
          <p:cNvPr id="5" name="TextBox 4"/>
          <p:cNvSpPr txBox="1"/>
          <p:nvPr/>
        </p:nvSpPr>
        <p:spPr>
          <a:xfrm>
            <a:off x="11201400" y="393192"/>
            <a:ext cx="502920" cy="320040"/>
          </a:xfrm>
          <a:prstGeom prst="rect">
            <a:avLst/>
          </a:prstGeom>
          <a:noFill/>
        </p:spPr>
        <p:txBody>
          <a:bodyPr wrap="square" lIns="0" tIns="0" rIns="0" bIns="0">
            <a:spAutoFit/>
          </a:bodyPr>
          <a:lstStyle/>
          <a:p>
            <a:pPr algn="r"/>
            <a:r>
              <a:rPr sz="1800" b="1" i="0">
                <a:solidFill>
                  <a:srgbClr val="5B6773"/>
                </a:solidFill>
                <a:latin typeface="Aptos"/>
              </a:rPr>
              <a:t>16</a:t>
            </a:r>
          </a:p>
        </p:txBody>
      </p:sp>
      <p:sp>
        <p:nvSpPr>
          <p:cNvPr id="7" name="TextBox 6"/>
          <p:cNvSpPr txBox="1"/>
          <p:nvPr/>
        </p:nvSpPr>
        <p:spPr>
          <a:xfrm>
            <a:off x="502920" y="1234440"/>
            <a:ext cx="10424160" cy="365760"/>
          </a:xfrm>
          <a:prstGeom prst="rect">
            <a:avLst/>
          </a:prstGeom>
          <a:noFill/>
        </p:spPr>
        <p:txBody>
          <a:bodyPr wrap="square" lIns="0" tIns="0" rIns="0" bIns="0">
            <a:spAutoFit/>
          </a:bodyPr>
          <a:lstStyle/>
          <a:p>
            <a:pPr algn="l"/>
            <a:r>
              <a:rPr sz="1800" b="0" i="0">
                <a:solidFill>
                  <a:srgbClr val="5B6773"/>
                </a:solidFill>
                <a:latin typeface="Aptos"/>
              </a:rPr>
              <a:t>Eurytemora is the first case study, not the endpoint.</a:t>
            </a:r>
          </a:p>
        </p:txBody>
      </p:sp>
      <p:sp>
        <p:nvSpPr>
          <p:cNvPr id="8" name="Oval 7"/>
          <p:cNvSpPr/>
          <p:nvPr/>
        </p:nvSpPr>
        <p:spPr>
          <a:xfrm>
            <a:off x="476138" y="1965960"/>
            <a:ext cx="1325880" cy="1359190"/>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w="381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41832" y="1645920"/>
            <a:ext cx="365760" cy="228600"/>
          </a:xfrm>
          <a:prstGeom prst="rect">
            <a:avLst/>
          </a:prstGeom>
          <a:noFill/>
        </p:spPr>
        <p:txBody>
          <a:bodyPr wrap="square" lIns="0" tIns="0" rIns="0" bIns="0">
            <a:spAutoFit/>
          </a:bodyPr>
          <a:lstStyle/>
          <a:p>
            <a:pPr algn="ctr"/>
            <a:r>
              <a:rPr sz="1800" b="1" i="0" dirty="0">
                <a:solidFill>
                  <a:srgbClr val="E26954"/>
                </a:solidFill>
                <a:latin typeface="Aptos"/>
              </a:rPr>
              <a:t>1</a:t>
            </a:r>
          </a:p>
        </p:txBody>
      </p:sp>
      <p:sp>
        <p:nvSpPr>
          <p:cNvPr id="10" name="TextBox 9"/>
          <p:cNvSpPr txBox="1"/>
          <p:nvPr/>
        </p:nvSpPr>
        <p:spPr>
          <a:xfrm>
            <a:off x="444137" y="3453166"/>
            <a:ext cx="1325880" cy="274320"/>
          </a:xfrm>
          <a:prstGeom prst="rect">
            <a:avLst/>
          </a:prstGeom>
          <a:noFill/>
        </p:spPr>
        <p:txBody>
          <a:bodyPr wrap="square" lIns="0" tIns="0" rIns="0" bIns="0">
            <a:spAutoFit/>
          </a:bodyPr>
          <a:lstStyle/>
          <a:p>
            <a:pPr algn="ctr"/>
            <a:r>
              <a:rPr sz="1800" b="1" i="1" dirty="0" err="1">
                <a:solidFill>
                  <a:srgbClr val="143052"/>
                </a:solidFill>
                <a:latin typeface="Aptos"/>
              </a:rPr>
              <a:t>Eurytemora</a:t>
            </a:r>
            <a:endParaRPr sz="1200" b="1" i="1" dirty="0">
              <a:solidFill>
                <a:srgbClr val="143052"/>
              </a:solidFill>
              <a:latin typeface="Aptos"/>
            </a:endParaRPr>
          </a:p>
        </p:txBody>
      </p:sp>
      <p:sp>
        <p:nvSpPr>
          <p:cNvPr id="11" name="Oval 10"/>
          <p:cNvSpPr/>
          <p:nvPr/>
        </p:nvSpPr>
        <p:spPr>
          <a:xfrm>
            <a:off x="2713155" y="1953550"/>
            <a:ext cx="1408175" cy="1371600"/>
          </a:xfrm>
          <a:prstGeom prst="ellipse">
            <a:avLst/>
          </a:prstGeom>
          <a:blipFill dpi="0" rotWithShape="1">
            <a:blip r:embed="rId4">
              <a:extLst>
                <a:ext uri="{28A0092B-C50C-407E-A947-70E740481C1C}">
                  <a14:useLocalDpi xmlns:a14="http://schemas.microsoft.com/office/drawing/2010/main" val="0"/>
                </a:ext>
              </a:extLst>
            </a:blip>
            <a:srcRect/>
            <a:stretch>
              <a:fillRect/>
            </a:stretch>
          </a:blipFill>
          <a:ln w="381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4972" y="1645920"/>
            <a:ext cx="365760" cy="228600"/>
          </a:xfrm>
          <a:prstGeom prst="rect">
            <a:avLst/>
          </a:prstGeom>
          <a:noFill/>
        </p:spPr>
        <p:txBody>
          <a:bodyPr wrap="square" lIns="0" tIns="0" rIns="0" bIns="0">
            <a:spAutoFit/>
          </a:bodyPr>
          <a:lstStyle/>
          <a:p>
            <a:pPr algn="ctr"/>
            <a:r>
              <a:rPr sz="1800" b="1" i="0" dirty="0">
                <a:solidFill>
                  <a:srgbClr val="2A7EBE"/>
                </a:solidFill>
                <a:latin typeface="Aptos"/>
              </a:rPr>
              <a:t>2</a:t>
            </a:r>
          </a:p>
        </p:txBody>
      </p:sp>
      <p:sp>
        <p:nvSpPr>
          <p:cNvPr id="13" name="TextBox 12"/>
          <p:cNvSpPr txBox="1"/>
          <p:nvPr/>
        </p:nvSpPr>
        <p:spPr>
          <a:xfrm>
            <a:off x="2445105" y="3461657"/>
            <a:ext cx="1944274" cy="274320"/>
          </a:xfrm>
          <a:prstGeom prst="rect">
            <a:avLst/>
          </a:prstGeom>
          <a:noFill/>
        </p:spPr>
        <p:txBody>
          <a:bodyPr wrap="square" lIns="0" tIns="0" rIns="0" bIns="0">
            <a:spAutoFit/>
          </a:bodyPr>
          <a:lstStyle/>
          <a:p>
            <a:pPr algn="ctr"/>
            <a:r>
              <a:rPr sz="1800" b="1" i="1" dirty="0" err="1">
                <a:solidFill>
                  <a:srgbClr val="143052"/>
                </a:solidFill>
                <a:latin typeface="Aptos"/>
              </a:rPr>
              <a:t>Pseudodiaptomus</a:t>
            </a:r>
            <a:endParaRPr sz="1200" b="1" i="1" dirty="0">
              <a:solidFill>
                <a:srgbClr val="143052"/>
              </a:solidFill>
              <a:latin typeface="Aptos"/>
            </a:endParaRPr>
          </a:p>
        </p:txBody>
      </p:sp>
      <p:sp>
        <p:nvSpPr>
          <p:cNvPr id="14" name="Oval 13"/>
          <p:cNvSpPr/>
          <p:nvPr/>
        </p:nvSpPr>
        <p:spPr>
          <a:xfrm>
            <a:off x="4962905" y="1984575"/>
            <a:ext cx="1401645" cy="1359190"/>
          </a:xfrm>
          <a:prstGeom prst="ellipse">
            <a:avLst/>
          </a:prstGeom>
          <a:blipFill dpi="0" rotWithShape="1">
            <a:blip r:embed="rId5">
              <a:extLst>
                <a:ext uri="{28A0092B-C50C-407E-A947-70E740481C1C}">
                  <a14:useLocalDpi xmlns:a14="http://schemas.microsoft.com/office/drawing/2010/main" val="0"/>
                </a:ext>
              </a:extLst>
            </a:blip>
            <a:srcRect/>
            <a:stretch>
              <a:fillRect/>
            </a:stretch>
          </a:blipFill>
          <a:ln w="381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77256" y="1636776"/>
            <a:ext cx="365760" cy="228600"/>
          </a:xfrm>
          <a:prstGeom prst="rect">
            <a:avLst/>
          </a:prstGeom>
          <a:noFill/>
        </p:spPr>
        <p:txBody>
          <a:bodyPr wrap="square" lIns="0" tIns="0" rIns="0" bIns="0">
            <a:spAutoFit/>
          </a:bodyPr>
          <a:lstStyle/>
          <a:p>
            <a:pPr algn="ctr"/>
            <a:r>
              <a:rPr sz="1800" b="1" i="0" dirty="0">
                <a:solidFill>
                  <a:srgbClr val="E7AD46"/>
                </a:solidFill>
                <a:latin typeface="Aptos"/>
              </a:rPr>
              <a:t>3</a:t>
            </a:r>
          </a:p>
        </p:txBody>
      </p:sp>
      <p:sp>
        <p:nvSpPr>
          <p:cNvPr id="16" name="TextBox 15"/>
          <p:cNvSpPr txBox="1"/>
          <p:nvPr/>
        </p:nvSpPr>
        <p:spPr>
          <a:xfrm>
            <a:off x="5001931" y="3429000"/>
            <a:ext cx="1325880" cy="274320"/>
          </a:xfrm>
          <a:prstGeom prst="rect">
            <a:avLst/>
          </a:prstGeom>
          <a:noFill/>
        </p:spPr>
        <p:txBody>
          <a:bodyPr wrap="square" lIns="0" tIns="0" rIns="0" bIns="0">
            <a:spAutoFit/>
          </a:bodyPr>
          <a:lstStyle/>
          <a:p>
            <a:pPr algn="ctr"/>
            <a:r>
              <a:rPr sz="1800" b="1" i="0" dirty="0">
                <a:solidFill>
                  <a:srgbClr val="143052"/>
                </a:solidFill>
                <a:latin typeface="Aptos"/>
              </a:rPr>
              <a:t>Mysids</a:t>
            </a:r>
          </a:p>
        </p:txBody>
      </p:sp>
      <p:sp>
        <p:nvSpPr>
          <p:cNvPr id="17" name="Oval 16"/>
          <p:cNvSpPr/>
          <p:nvPr/>
        </p:nvSpPr>
        <p:spPr>
          <a:xfrm>
            <a:off x="7212656" y="1986534"/>
            <a:ext cx="1401644" cy="1365395"/>
          </a:xfrm>
          <a:prstGeom prst="ellipse">
            <a:avLst/>
          </a:prstGeom>
          <a:blipFill dpi="0" rotWithShape="1">
            <a:blip r:embed="rId6">
              <a:extLst>
                <a:ext uri="{28A0092B-C50C-407E-A947-70E740481C1C}">
                  <a14:useLocalDpi xmlns:a14="http://schemas.microsoft.com/office/drawing/2010/main" val="0"/>
                </a:ext>
              </a:extLst>
            </a:blip>
            <a:srcRect/>
            <a:stretch>
              <a:fillRect/>
            </a:stretch>
          </a:blipFill>
          <a:ln w="381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49540" y="1645920"/>
            <a:ext cx="365760" cy="228600"/>
          </a:xfrm>
          <a:prstGeom prst="rect">
            <a:avLst/>
          </a:prstGeom>
          <a:noFill/>
        </p:spPr>
        <p:txBody>
          <a:bodyPr wrap="square" lIns="0" tIns="0" rIns="0" bIns="0">
            <a:spAutoFit/>
          </a:bodyPr>
          <a:lstStyle/>
          <a:p>
            <a:pPr algn="ctr"/>
            <a:r>
              <a:rPr sz="1800" b="1" i="0" dirty="0">
                <a:solidFill>
                  <a:srgbClr val="2A9DA1"/>
                </a:solidFill>
                <a:latin typeface="Aptos"/>
              </a:rPr>
              <a:t>4</a:t>
            </a:r>
          </a:p>
        </p:txBody>
      </p:sp>
      <p:sp>
        <p:nvSpPr>
          <p:cNvPr id="19" name="TextBox 18"/>
          <p:cNvSpPr txBox="1"/>
          <p:nvPr/>
        </p:nvSpPr>
        <p:spPr>
          <a:xfrm>
            <a:off x="7250538" y="3461657"/>
            <a:ext cx="1325880" cy="274320"/>
          </a:xfrm>
          <a:prstGeom prst="rect">
            <a:avLst/>
          </a:prstGeom>
          <a:noFill/>
        </p:spPr>
        <p:txBody>
          <a:bodyPr wrap="square" lIns="0" tIns="0" rIns="0" bIns="0">
            <a:spAutoFit/>
          </a:bodyPr>
          <a:lstStyle/>
          <a:p>
            <a:pPr algn="ctr"/>
            <a:r>
              <a:rPr sz="1800" b="1" i="1" dirty="0" err="1">
                <a:solidFill>
                  <a:srgbClr val="143052"/>
                </a:solidFill>
                <a:latin typeface="Aptos"/>
              </a:rPr>
              <a:t>Acartiella</a:t>
            </a:r>
            <a:endParaRPr sz="1200" b="1" i="1" dirty="0">
              <a:solidFill>
                <a:srgbClr val="143052"/>
              </a:solidFill>
              <a:latin typeface="Aptos"/>
            </a:endParaRPr>
          </a:p>
        </p:txBody>
      </p:sp>
      <p:sp>
        <p:nvSpPr>
          <p:cNvPr id="20" name="Oval 19"/>
          <p:cNvSpPr/>
          <p:nvPr/>
        </p:nvSpPr>
        <p:spPr>
          <a:xfrm>
            <a:off x="9525437" y="1965959"/>
            <a:ext cx="1401643" cy="1359189"/>
          </a:xfrm>
          <a:prstGeom prst="ellipse">
            <a:avLst/>
          </a:prstGeom>
          <a:blipFill dpi="0" rotWithShape="1">
            <a:blip r:embed="rId7">
              <a:extLst>
                <a:ext uri="{28A0092B-C50C-407E-A947-70E740481C1C}">
                  <a14:useLocalDpi xmlns:a14="http://schemas.microsoft.com/office/drawing/2010/main" val="0"/>
                </a:ext>
              </a:extLst>
            </a:blip>
            <a:srcRect/>
            <a:stretch>
              <a:fillRect/>
            </a:stretch>
          </a:blipFill>
          <a:ln w="381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12680" y="1645920"/>
            <a:ext cx="365760" cy="228600"/>
          </a:xfrm>
          <a:prstGeom prst="rect">
            <a:avLst/>
          </a:prstGeom>
          <a:noFill/>
        </p:spPr>
        <p:txBody>
          <a:bodyPr wrap="square" lIns="0" tIns="0" rIns="0" bIns="0">
            <a:spAutoFit/>
          </a:bodyPr>
          <a:lstStyle/>
          <a:p>
            <a:pPr algn="ctr"/>
            <a:r>
              <a:rPr sz="1800" b="1" i="0" dirty="0">
                <a:solidFill>
                  <a:srgbClr val="5B975C"/>
                </a:solidFill>
                <a:latin typeface="Aptos"/>
              </a:rPr>
              <a:t>5</a:t>
            </a:r>
          </a:p>
        </p:txBody>
      </p:sp>
      <p:sp>
        <p:nvSpPr>
          <p:cNvPr id="22" name="TextBox 21"/>
          <p:cNvSpPr txBox="1"/>
          <p:nvPr/>
        </p:nvSpPr>
        <p:spPr>
          <a:xfrm>
            <a:off x="9559725" y="3451207"/>
            <a:ext cx="1325880" cy="274320"/>
          </a:xfrm>
          <a:prstGeom prst="rect">
            <a:avLst/>
          </a:prstGeom>
          <a:noFill/>
        </p:spPr>
        <p:txBody>
          <a:bodyPr wrap="square" lIns="0" tIns="0" rIns="0" bIns="0">
            <a:spAutoFit/>
          </a:bodyPr>
          <a:lstStyle/>
          <a:p>
            <a:pPr algn="ctr"/>
            <a:r>
              <a:rPr sz="1800" b="1" i="1" dirty="0">
                <a:solidFill>
                  <a:srgbClr val="143052"/>
                </a:solidFill>
                <a:latin typeface="Aptos"/>
              </a:rPr>
              <a:t>Gammarus</a:t>
            </a:r>
          </a:p>
        </p:txBody>
      </p:sp>
      <p:sp>
        <p:nvSpPr>
          <p:cNvPr id="23" name="Rounded Rectangle 22"/>
          <p:cNvSpPr/>
          <p:nvPr/>
        </p:nvSpPr>
        <p:spPr>
          <a:xfrm>
            <a:off x="685800" y="4069080"/>
            <a:ext cx="3246120" cy="1933786"/>
          </a:xfrm>
          <a:prstGeom prst="roundRect">
            <a:avLst/>
          </a:prstGeom>
          <a:solidFill>
            <a:srgbClr val="FFFFFF"/>
          </a:solidFill>
          <a:ln w="254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4297680"/>
            <a:ext cx="914400" cy="228600"/>
          </a:xfrm>
          <a:prstGeom prst="rect">
            <a:avLst/>
          </a:prstGeom>
          <a:noFill/>
        </p:spPr>
        <p:txBody>
          <a:bodyPr wrap="square" lIns="0" tIns="0" rIns="0" bIns="0">
            <a:spAutoFit/>
          </a:bodyPr>
          <a:lstStyle/>
          <a:p>
            <a:pPr algn="l"/>
            <a:r>
              <a:rPr sz="1800" b="1" i="0">
                <a:solidFill>
                  <a:srgbClr val="2A7EBE"/>
                </a:solidFill>
                <a:latin typeface="Aptos"/>
              </a:rPr>
              <a:t>STAGE 1</a:t>
            </a:r>
          </a:p>
        </p:txBody>
      </p:sp>
      <p:sp>
        <p:nvSpPr>
          <p:cNvPr id="25" name="TextBox 24"/>
          <p:cNvSpPr txBox="1"/>
          <p:nvPr/>
        </p:nvSpPr>
        <p:spPr>
          <a:xfrm>
            <a:off x="868680" y="4617720"/>
            <a:ext cx="2743200" cy="256032"/>
          </a:xfrm>
          <a:prstGeom prst="rect">
            <a:avLst/>
          </a:prstGeom>
          <a:noFill/>
        </p:spPr>
        <p:txBody>
          <a:bodyPr wrap="square" lIns="0" tIns="0" rIns="0" bIns="0">
            <a:spAutoFit/>
          </a:bodyPr>
          <a:lstStyle/>
          <a:p>
            <a:pPr algn="l"/>
            <a:r>
              <a:rPr sz="1800" b="1" i="0">
                <a:solidFill>
                  <a:srgbClr val="143052"/>
                </a:solidFill>
                <a:latin typeface="Aptos"/>
              </a:rPr>
              <a:t>Historical relationships</a:t>
            </a:r>
          </a:p>
        </p:txBody>
      </p:sp>
      <p:sp>
        <p:nvSpPr>
          <p:cNvPr id="26" name="TextBox 25"/>
          <p:cNvSpPr txBox="1"/>
          <p:nvPr/>
        </p:nvSpPr>
        <p:spPr>
          <a:xfrm>
            <a:off x="868680" y="4983480"/>
            <a:ext cx="2743200" cy="329184"/>
          </a:xfrm>
          <a:prstGeom prst="rect">
            <a:avLst/>
          </a:prstGeom>
          <a:noFill/>
        </p:spPr>
        <p:txBody>
          <a:bodyPr wrap="square" lIns="0" tIns="0" rIns="0" bIns="0">
            <a:spAutoFit/>
          </a:bodyPr>
          <a:lstStyle/>
          <a:p>
            <a:pPr algn="l"/>
            <a:r>
              <a:rPr sz="1800" b="0" i="0" dirty="0">
                <a:solidFill>
                  <a:srgbClr val="5B6773"/>
                </a:solidFill>
                <a:latin typeface="Aptos"/>
              </a:rPr>
              <a:t>Five target genera</a:t>
            </a:r>
          </a:p>
        </p:txBody>
      </p:sp>
      <p:sp>
        <p:nvSpPr>
          <p:cNvPr id="27" name="Rounded Rectangle 26"/>
          <p:cNvSpPr/>
          <p:nvPr/>
        </p:nvSpPr>
        <p:spPr>
          <a:xfrm>
            <a:off x="4434840" y="4069080"/>
            <a:ext cx="3246120" cy="1933786"/>
          </a:xfrm>
          <a:prstGeom prst="roundRect">
            <a:avLst/>
          </a:prstGeom>
          <a:solidFill>
            <a:srgbClr val="FFFFFF"/>
          </a:solidFill>
          <a:ln w="254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617720" y="4297680"/>
            <a:ext cx="914400" cy="228600"/>
          </a:xfrm>
          <a:prstGeom prst="rect">
            <a:avLst/>
          </a:prstGeom>
          <a:noFill/>
        </p:spPr>
        <p:txBody>
          <a:bodyPr wrap="square" lIns="0" tIns="0" rIns="0" bIns="0">
            <a:spAutoFit/>
          </a:bodyPr>
          <a:lstStyle/>
          <a:p>
            <a:pPr algn="l"/>
            <a:r>
              <a:rPr sz="1800" b="1" i="0">
                <a:solidFill>
                  <a:srgbClr val="2A9DA1"/>
                </a:solidFill>
                <a:latin typeface="Aptos"/>
              </a:rPr>
              <a:t>STAGE 2</a:t>
            </a:r>
          </a:p>
        </p:txBody>
      </p:sp>
      <p:sp>
        <p:nvSpPr>
          <p:cNvPr id="29" name="TextBox 28"/>
          <p:cNvSpPr txBox="1"/>
          <p:nvPr/>
        </p:nvSpPr>
        <p:spPr>
          <a:xfrm>
            <a:off x="4617720" y="4617720"/>
            <a:ext cx="2743200" cy="256032"/>
          </a:xfrm>
          <a:prstGeom prst="rect">
            <a:avLst/>
          </a:prstGeom>
          <a:noFill/>
        </p:spPr>
        <p:txBody>
          <a:bodyPr wrap="square" lIns="0" tIns="0" rIns="0" bIns="0">
            <a:spAutoFit/>
          </a:bodyPr>
          <a:lstStyle/>
          <a:p>
            <a:pPr algn="l"/>
            <a:r>
              <a:rPr sz="1800" b="1" i="0">
                <a:solidFill>
                  <a:srgbClr val="143052"/>
                </a:solidFill>
                <a:latin typeface="Aptos"/>
              </a:rPr>
              <a:t>Predict abundance</a:t>
            </a:r>
          </a:p>
        </p:txBody>
      </p:sp>
      <p:sp>
        <p:nvSpPr>
          <p:cNvPr id="30" name="TextBox 29"/>
          <p:cNvSpPr txBox="1"/>
          <p:nvPr/>
        </p:nvSpPr>
        <p:spPr>
          <a:xfrm>
            <a:off x="4617720" y="4983480"/>
            <a:ext cx="2743200" cy="329184"/>
          </a:xfrm>
          <a:prstGeom prst="rect">
            <a:avLst/>
          </a:prstGeom>
          <a:noFill/>
        </p:spPr>
        <p:txBody>
          <a:bodyPr wrap="square" lIns="0" tIns="0" rIns="0" bIns="0">
            <a:spAutoFit/>
          </a:bodyPr>
          <a:lstStyle/>
          <a:p>
            <a:pPr algn="l"/>
            <a:r>
              <a:rPr sz="1800" b="0" i="0">
                <a:solidFill>
                  <a:srgbClr val="5B6773"/>
                </a:solidFill>
                <a:latin typeface="Aptos"/>
              </a:rPr>
              <a:t>Different environmental conditions + time periods</a:t>
            </a:r>
          </a:p>
        </p:txBody>
      </p:sp>
      <p:sp>
        <p:nvSpPr>
          <p:cNvPr id="31" name="Rounded Rectangle 30"/>
          <p:cNvSpPr/>
          <p:nvPr/>
        </p:nvSpPr>
        <p:spPr>
          <a:xfrm>
            <a:off x="8183879" y="4069079"/>
            <a:ext cx="3246120" cy="1933787"/>
          </a:xfrm>
          <a:prstGeom prst="roundRect">
            <a:avLst/>
          </a:prstGeom>
          <a:solidFill>
            <a:srgbClr val="FFFFFF"/>
          </a:solidFill>
          <a:ln w="254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66759" y="4297680"/>
            <a:ext cx="914400" cy="228600"/>
          </a:xfrm>
          <a:prstGeom prst="rect">
            <a:avLst/>
          </a:prstGeom>
          <a:noFill/>
        </p:spPr>
        <p:txBody>
          <a:bodyPr wrap="square" lIns="0" tIns="0" rIns="0" bIns="0">
            <a:spAutoFit/>
          </a:bodyPr>
          <a:lstStyle/>
          <a:p>
            <a:pPr algn="l"/>
            <a:r>
              <a:rPr sz="1800" b="1" i="0">
                <a:solidFill>
                  <a:srgbClr val="5B975C"/>
                </a:solidFill>
                <a:latin typeface="Aptos"/>
              </a:rPr>
              <a:t>STAGE 3</a:t>
            </a:r>
          </a:p>
        </p:txBody>
      </p:sp>
      <p:sp>
        <p:nvSpPr>
          <p:cNvPr id="33" name="TextBox 32"/>
          <p:cNvSpPr txBox="1"/>
          <p:nvPr/>
        </p:nvSpPr>
        <p:spPr>
          <a:xfrm>
            <a:off x="8366759" y="4617720"/>
            <a:ext cx="2743200" cy="256032"/>
          </a:xfrm>
          <a:prstGeom prst="rect">
            <a:avLst/>
          </a:prstGeom>
          <a:noFill/>
        </p:spPr>
        <p:txBody>
          <a:bodyPr wrap="square" lIns="0" tIns="0" rIns="0" bIns="0">
            <a:spAutoFit/>
          </a:bodyPr>
          <a:lstStyle/>
          <a:p>
            <a:pPr algn="l"/>
            <a:r>
              <a:rPr sz="1800" b="1" i="0">
                <a:solidFill>
                  <a:srgbClr val="143052"/>
                </a:solidFill>
                <a:latin typeface="Aptos"/>
              </a:rPr>
              <a:t>Connect to management</a:t>
            </a:r>
          </a:p>
        </p:txBody>
      </p:sp>
      <p:sp>
        <p:nvSpPr>
          <p:cNvPr id="34" name="TextBox 33"/>
          <p:cNvSpPr txBox="1"/>
          <p:nvPr/>
        </p:nvSpPr>
        <p:spPr>
          <a:xfrm>
            <a:off x="8366759" y="4983480"/>
            <a:ext cx="2743200" cy="329184"/>
          </a:xfrm>
          <a:prstGeom prst="rect">
            <a:avLst/>
          </a:prstGeom>
          <a:noFill/>
        </p:spPr>
        <p:txBody>
          <a:bodyPr wrap="square" lIns="0" tIns="0" rIns="0" bIns="0">
            <a:spAutoFit/>
          </a:bodyPr>
          <a:lstStyle/>
          <a:p>
            <a:pPr algn="l"/>
            <a:r>
              <a:rPr sz="1800" b="0" i="0" dirty="0">
                <a:solidFill>
                  <a:srgbClr val="5B6773"/>
                </a:solidFill>
                <a:latin typeface="Aptos"/>
              </a:rPr>
              <a:t>Water-management scenarios → ecological response</a:t>
            </a:r>
          </a:p>
        </p:txBody>
      </p:sp>
      <p:sp>
        <p:nvSpPr>
          <p:cNvPr id="35"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02920" y="6501384"/>
            <a:ext cx="1225296" cy="277063"/>
          </a:xfrm>
          <a:prstGeom prst="rect">
            <a:avLst/>
          </a:prstGeom>
          <a:noFill/>
        </p:spPr>
        <p:txBody>
          <a:bodyPr wrap="square" lIns="0" tIns="0" rIns="0" bIns="0">
            <a:spAutoFit/>
          </a:bodyPr>
          <a:lstStyle/>
          <a:p>
            <a:pPr algn="ctr"/>
            <a:r>
              <a:rPr sz="1800" b="1" i="0" dirty="0">
                <a:solidFill>
                  <a:srgbClr val="2A7EBE"/>
                </a:solidFill>
                <a:latin typeface="Aptos"/>
              </a:rPr>
              <a:t>STORY</a:t>
            </a:r>
          </a:p>
        </p:txBody>
      </p:sp>
      <p:sp>
        <p:nvSpPr>
          <p:cNvPr id="37"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2A9DA1"/>
                </a:solidFill>
                <a:latin typeface="Aptos"/>
              </a:rPr>
              <a:t>SYSTEM</a:t>
            </a:r>
          </a:p>
        </p:txBody>
      </p:sp>
      <p:sp>
        <p:nvSpPr>
          <p:cNvPr id="39"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E7AD46"/>
                </a:solidFill>
                <a:latin typeface="Aptos"/>
              </a:rPr>
              <a:t>DATA</a:t>
            </a:r>
          </a:p>
        </p:txBody>
      </p:sp>
      <p:sp>
        <p:nvSpPr>
          <p:cNvPr id="41"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E26954"/>
                </a:solidFill>
                <a:latin typeface="Aptos"/>
              </a:rPr>
              <a:t>RESULTS</a:t>
            </a:r>
          </a:p>
        </p:txBody>
      </p:sp>
      <p:sp>
        <p:nvSpPr>
          <p:cNvPr id="43" name="NAV_4"/>
          <p:cNvSpPr/>
          <p:nvPr/>
        </p:nvSpPr>
        <p:spPr>
          <a:xfrm>
            <a:off x="6062472" y="6528816"/>
            <a:ext cx="1530096" cy="219456"/>
          </a:xfrm>
          <a:prstGeom prst="roundRect">
            <a:avLst/>
          </a:prstGeom>
          <a:solidFill>
            <a:srgbClr val="5B975C"/>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051029" y="6500012"/>
            <a:ext cx="1557528" cy="277063"/>
          </a:xfrm>
          <a:prstGeom prst="rect">
            <a:avLst/>
          </a:prstGeom>
          <a:noFill/>
        </p:spPr>
        <p:txBody>
          <a:bodyPr wrap="square" lIns="0" tIns="0" rIns="0" bIns="0">
            <a:spAutoFit/>
          </a:bodyPr>
          <a:lstStyle/>
          <a:p>
            <a:pPr algn="ctr"/>
            <a:r>
              <a:rPr sz="1800" b="1" i="0" dirty="0">
                <a:solidFill>
                  <a:srgbClr val="FFFFFF"/>
                </a:solidFill>
                <a:latin typeface="Aptos"/>
              </a:rPr>
              <a:t>IMPLICATIONS</a:t>
            </a:r>
          </a:p>
        </p:txBody>
      </p:sp>
      <p:sp>
        <p:nvSpPr>
          <p:cNvPr id="46" name="TextBox 45">
            <a:extLst>
              <a:ext uri="{FF2B5EF4-FFF2-40B4-BE49-F238E27FC236}">
                <a16:creationId xmlns:a16="http://schemas.microsoft.com/office/drawing/2014/main" id="{BCE31124-4A5C-E4AD-DEF8-CAD60ED47DA8}"/>
              </a:ext>
            </a:extLst>
          </p:cNvPr>
          <p:cNvSpPr txBox="1"/>
          <p:nvPr/>
        </p:nvSpPr>
        <p:spPr>
          <a:xfrm>
            <a:off x="7693185" y="6485544"/>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V_2">
            <a:extLst>
              <a:ext uri="{FF2B5EF4-FFF2-40B4-BE49-F238E27FC236}">
                <a16:creationId xmlns:a16="http://schemas.microsoft.com/office/drawing/2014/main" id="{CAB9B0CA-E3BF-C853-7028-BEF8E61A2F58}"/>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415498"/>
          </a:xfrm>
          <a:prstGeom prst="rect">
            <a:avLst/>
          </a:prstGeom>
          <a:noFill/>
        </p:spPr>
        <p:txBody>
          <a:bodyPr wrap="square" lIns="0" tIns="0" rIns="0" bIns="0">
            <a:spAutoFit/>
          </a:bodyPr>
          <a:lstStyle/>
          <a:p>
            <a:pPr algn="l"/>
            <a:r>
              <a:rPr sz="2700" b="1" i="0" dirty="0">
                <a:solidFill>
                  <a:srgbClr val="143052"/>
                </a:solidFill>
                <a:latin typeface="Aptos"/>
              </a:rPr>
              <a:t>Why this matters for </a:t>
            </a:r>
            <a:r>
              <a:rPr lang="en-US" sz="2700" b="1" i="0" dirty="0">
                <a:solidFill>
                  <a:srgbClr val="143052"/>
                </a:solidFill>
                <a:latin typeface="Aptos"/>
              </a:rPr>
              <a:t>this </a:t>
            </a:r>
            <a:r>
              <a:rPr sz="2700" b="1" i="0" dirty="0">
                <a:solidFill>
                  <a:srgbClr val="143052"/>
                </a:solidFill>
                <a:latin typeface="Aptos"/>
              </a:rPr>
              <a:t>session</a:t>
            </a:r>
          </a:p>
        </p:txBody>
      </p:sp>
      <p:sp>
        <p:nvSpPr>
          <p:cNvPr id="5" name="TextBox 4"/>
          <p:cNvSpPr txBox="1"/>
          <p:nvPr/>
        </p:nvSpPr>
        <p:spPr>
          <a:xfrm>
            <a:off x="11201400" y="393192"/>
            <a:ext cx="502920" cy="320040"/>
          </a:xfrm>
          <a:prstGeom prst="rect">
            <a:avLst/>
          </a:prstGeom>
          <a:noFill/>
        </p:spPr>
        <p:txBody>
          <a:bodyPr wrap="square" lIns="0" tIns="0" rIns="0" bIns="0">
            <a:spAutoFit/>
          </a:bodyPr>
          <a:lstStyle/>
          <a:p>
            <a:pPr algn="r"/>
            <a:r>
              <a:rPr sz="1800" b="1" i="0">
                <a:solidFill>
                  <a:srgbClr val="5B6773"/>
                </a:solidFill>
                <a:latin typeface="Aptos"/>
              </a:rPr>
              <a:t>17</a:t>
            </a:r>
          </a:p>
        </p:txBody>
      </p:sp>
      <p:sp>
        <p:nvSpPr>
          <p:cNvPr id="7" name="Rounded Rectangle 6"/>
          <p:cNvSpPr/>
          <p:nvPr/>
        </p:nvSpPr>
        <p:spPr>
          <a:xfrm>
            <a:off x="685800" y="1828800"/>
            <a:ext cx="3246120" cy="2667000"/>
          </a:xfrm>
          <a:prstGeom prst="roundRect">
            <a:avLst/>
          </a:prstGeom>
          <a:solidFill>
            <a:srgbClr val="FFFFFF"/>
          </a:solidFill>
          <a:ln w="3048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3154680"/>
            <a:ext cx="2880360" cy="274320"/>
          </a:xfrm>
          <a:prstGeom prst="rect">
            <a:avLst/>
          </a:prstGeom>
          <a:noFill/>
        </p:spPr>
        <p:txBody>
          <a:bodyPr wrap="square" lIns="0" tIns="0" rIns="0" bIns="0">
            <a:spAutoFit/>
          </a:bodyPr>
          <a:lstStyle/>
          <a:p>
            <a:pPr algn="ctr"/>
            <a:r>
              <a:rPr sz="1800" b="1" i="0">
                <a:solidFill>
                  <a:srgbClr val="2A7EBE"/>
                </a:solidFill>
                <a:latin typeface="Aptos"/>
              </a:rPr>
              <a:t>HYDROLOGY</a:t>
            </a:r>
          </a:p>
        </p:txBody>
      </p:sp>
      <p:sp>
        <p:nvSpPr>
          <p:cNvPr id="11" name="TextBox 10"/>
          <p:cNvSpPr txBox="1"/>
          <p:nvPr/>
        </p:nvSpPr>
        <p:spPr>
          <a:xfrm>
            <a:off x="960120" y="3584448"/>
            <a:ext cx="2697480" cy="502920"/>
          </a:xfrm>
          <a:prstGeom prst="rect">
            <a:avLst/>
          </a:prstGeom>
          <a:noFill/>
        </p:spPr>
        <p:txBody>
          <a:bodyPr wrap="square" lIns="0" tIns="0" rIns="0" bIns="0">
            <a:spAutoFit/>
          </a:bodyPr>
          <a:lstStyle/>
          <a:p>
            <a:pPr algn="ctr"/>
            <a:r>
              <a:rPr sz="1800" b="1" i="0">
                <a:solidFill>
                  <a:srgbClr val="143052"/>
                </a:solidFill>
                <a:latin typeface="Aptos"/>
              </a:rPr>
              <a:t>What conditions will management scenarios create?</a:t>
            </a:r>
          </a:p>
        </p:txBody>
      </p:sp>
      <p:sp>
        <p:nvSpPr>
          <p:cNvPr id="12" name="Rounded Rectangle 11"/>
          <p:cNvSpPr/>
          <p:nvPr/>
        </p:nvSpPr>
        <p:spPr>
          <a:xfrm>
            <a:off x="4480560" y="1828800"/>
            <a:ext cx="3246120" cy="2667000"/>
          </a:xfrm>
          <a:prstGeom prst="roundRect">
            <a:avLst/>
          </a:prstGeom>
          <a:solidFill>
            <a:srgbClr val="FFFFFF"/>
          </a:solidFill>
          <a:ln w="3048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520960" y="1942034"/>
            <a:ext cx="1149773" cy="1127455"/>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w="1905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34694" y="2218086"/>
            <a:ext cx="777240" cy="492443"/>
          </a:xfrm>
          <a:prstGeom prst="rect">
            <a:avLst/>
          </a:prstGeom>
          <a:noFill/>
        </p:spPr>
        <p:txBody>
          <a:bodyPr wrap="square" lIns="0" tIns="0" rIns="0" bIns="0">
            <a:spAutoFit/>
          </a:bodyPr>
          <a:lstStyle/>
          <a:p>
            <a:pPr algn="ctr"/>
            <a:r>
              <a:rPr sz="3200" b="1" i="0" dirty="0">
                <a:solidFill>
                  <a:srgbClr val="FFFFFF"/>
                </a:solidFill>
                <a:latin typeface="Aptos"/>
              </a:rPr>
              <a:t>2</a:t>
            </a:r>
          </a:p>
        </p:txBody>
      </p:sp>
      <p:sp>
        <p:nvSpPr>
          <p:cNvPr id="15" name="TextBox 14"/>
          <p:cNvSpPr txBox="1"/>
          <p:nvPr/>
        </p:nvSpPr>
        <p:spPr>
          <a:xfrm>
            <a:off x="4663440" y="3154680"/>
            <a:ext cx="2880360" cy="274320"/>
          </a:xfrm>
          <a:prstGeom prst="rect">
            <a:avLst/>
          </a:prstGeom>
          <a:noFill/>
        </p:spPr>
        <p:txBody>
          <a:bodyPr wrap="square" lIns="0" tIns="0" rIns="0" bIns="0">
            <a:spAutoFit/>
          </a:bodyPr>
          <a:lstStyle/>
          <a:p>
            <a:pPr algn="ctr"/>
            <a:r>
              <a:rPr sz="1800" b="1" i="0" dirty="0">
                <a:solidFill>
                  <a:srgbClr val="E26954"/>
                </a:solidFill>
                <a:latin typeface="Aptos"/>
              </a:rPr>
              <a:t>MECHANISMS</a:t>
            </a:r>
          </a:p>
        </p:txBody>
      </p:sp>
      <p:sp>
        <p:nvSpPr>
          <p:cNvPr id="16" name="TextBox 15"/>
          <p:cNvSpPr txBox="1"/>
          <p:nvPr/>
        </p:nvSpPr>
        <p:spPr>
          <a:xfrm>
            <a:off x="4754880" y="3584448"/>
            <a:ext cx="2697480" cy="502920"/>
          </a:xfrm>
          <a:prstGeom prst="rect">
            <a:avLst/>
          </a:prstGeom>
          <a:noFill/>
        </p:spPr>
        <p:txBody>
          <a:bodyPr wrap="square" lIns="0" tIns="0" rIns="0" bIns="0">
            <a:spAutoFit/>
          </a:bodyPr>
          <a:lstStyle/>
          <a:p>
            <a:pPr algn="ctr"/>
            <a:r>
              <a:rPr sz="1800" b="1" i="0" dirty="0">
                <a:solidFill>
                  <a:srgbClr val="143052"/>
                </a:solidFill>
                <a:latin typeface="Aptos"/>
              </a:rPr>
              <a:t>How do fish move, survive, and interact with prey?</a:t>
            </a:r>
          </a:p>
        </p:txBody>
      </p:sp>
      <p:sp>
        <p:nvSpPr>
          <p:cNvPr id="17" name="Rounded Rectangle 16"/>
          <p:cNvSpPr/>
          <p:nvPr/>
        </p:nvSpPr>
        <p:spPr>
          <a:xfrm>
            <a:off x="8275320" y="1828800"/>
            <a:ext cx="3246120" cy="2667000"/>
          </a:xfrm>
          <a:prstGeom prst="roundRect">
            <a:avLst/>
          </a:prstGeom>
          <a:solidFill>
            <a:srgbClr val="FFFFFF"/>
          </a:solidFill>
          <a:ln w="3048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323493" y="1900597"/>
            <a:ext cx="1149773" cy="1127455"/>
          </a:xfrm>
          <a:prstGeom prst="ellipse">
            <a:avLst/>
          </a:prstGeom>
          <a:blipFill dpi="0" rotWithShape="1">
            <a:blip r:embed="rId4">
              <a:extLst>
                <a:ext uri="{28A0092B-C50C-407E-A947-70E740481C1C}">
                  <a14:useLocalDpi xmlns:a14="http://schemas.microsoft.com/office/drawing/2010/main" val="0"/>
                </a:ext>
              </a:extLst>
            </a:blip>
            <a:srcRect/>
            <a:stretch>
              <a:fillRect/>
            </a:stretch>
          </a:blipFill>
          <a:ln w="1905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99694" y="2013317"/>
            <a:ext cx="777240" cy="492443"/>
          </a:xfrm>
          <a:prstGeom prst="rect">
            <a:avLst/>
          </a:prstGeom>
          <a:noFill/>
        </p:spPr>
        <p:txBody>
          <a:bodyPr wrap="square" lIns="0" tIns="0" rIns="0" bIns="0">
            <a:spAutoFit/>
          </a:bodyPr>
          <a:lstStyle/>
          <a:p>
            <a:pPr algn="ctr"/>
            <a:r>
              <a:rPr sz="3200" b="1" i="0" dirty="0">
                <a:solidFill>
                  <a:srgbClr val="FFFFFF"/>
                </a:solidFill>
                <a:latin typeface="Aptos"/>
              </a:rPr>
              <a:t>3</a:t>
            </a:r>
          </a:p>
        </p:txBody>
      </p:sp>
      <p:sp>
        <p:nvSpPr>
          <p:cNvPr id="20" name="TextBox 19"/>
          <p:cNvSpPr txBox="1"/>
          <p:nvPr/>
        </p:nvSpPr>
        <p:spPr>
          <a:xfrm>
            <a:off x="8458200" y="3154680"/>
            <a:ext cx="2880360" cy="274320"/>
          </a:xfrm>
          <a:prstGeom prst="rect">
            <a:avLst/>
          </a:prstGeom>
          <a:noFill/>
        </p:spPr>
        <p:txBody>
          <a:bodyPr wrap="square" lIns="0" tIns="0" rIns="0" bIns="0">
            <a:spAutoFit/>
          </a:bodyPr>
          <a:lstStyle/>
          <a:p>
            <a:pPr algn="ctr"/>
            <a:r>
              <a:rPr sz="1800" b="1" i="0">
                <a:solidFill>
                  <a:srgbClr val="5B975C"/>
                </a:solidFill>
                <a:latin typeface="Aptos"/>
              </a:rPr>
              <a:t>FOOD WEB</a:t>
            </a:r>
          </a:p>
        </p:txBody>
      </p:sp>
      <p:sp>
        <p:nvSpPr>
          <p:cNvPr id="21" name="TextBox 20"/>
          <p:cNvSpPr txBox="1"/>
          <p:nvPr/>
        </p:nvSpPr>
        <p:spPr>
          <a:xfrm>
            <a:off x="8549640" y="3584448"/>
            <a:ext cx="2697480" cy="502920"/>
          </a:xfrm>
          <a:prstGeom prst="rect">
            <a:avLst/>
          </a:prstGeom>
          <a:noFill/>
        </p:spPr>
        <p:txBody>
          <a:bodyPr wrap="square" lIns="0" tIns="0" rIns="0" bIns="0">
            <a:spAutoFit/>
          </a:bodyPr>
          <a:lstStyle/>
          <a:p>
            <a:pPr algn="ctr"/>
            <a:r>
              <a:rPr sz="1800" b="1" i="0" dirty="0">
                <a:solidFill>
                  <a:srgbClr val="143052"/>
                </a:solidFill>
                <a:latin typeface="Aptos"/>
              </a:rPr>
              <a:t>How does the prey field respond to those conditions?</a:t>
            </a:r>
          </a:p>
        </p:txBody>
      </p:sp>
      <p:sp>
        <p:nvSpPr>
          <p:cNvPr id="24"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2A7EBE"/>
                </a:solidFill>
                <a:latin typeface="Aptos"/>
              </a:rPr>
              <a:t>STORY</a:t>
            </a:r>
          </a:p>
        </p:txBody>
      </p:sp>
      <p:sp>
        <p:nvSpPr>
          <p:cNvPr id="26"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2A9DA1"/>
                </a:solidFill>
                <a:latin typeface="Aptos"/>
              </a:rPr>
              <a:t>SYSTEM</a:t>
            </a:r>
          </a:p>
        </p:txBody>
      </p:sp>
      <p:sp>
        <p:nvSpPr>
          <p:cNvPr id="28"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E7AD46"/>
                </a:solidFill>
                <a:latin typeface="Aptos"/>
              </a:rPr>
              <a:t>DATA</a:t>
            </a:r>
          </a:p>
        </p:txBody>
      </p:sp>
      <p:sp>
        <p:nvSpPr>
          <p:cNvPr id="30"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E26954"/>
                </a:solidFill>
                <a:latin typeface="Aptos"/>
              </a:rPr>
              <a:t>RESULTS</a:t>
            </a:r>
          </a:p>
        </p:txBody>
      </p:sp>
      <p:sp>
        <p:nvSpPr>
          <p:cNvPr id="32" name="NAV_4"/>
          <p:cNvSpPr/>
          <p:nvPr/>
        </p:nvSpPr>
        <p:spPr>
          <a:xfrm>
            <a:off x="6062472" y="6528815"/>
            <a:ext cx="1544828" cy="219457"/>
          </a:xfrm>
          <a:prstGeom prst="roundRect">
            <a:avLst/>
          </a:prstGeom>
          <a:solidFill>
            <a:srgbClr val="5B975C"/>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030722" y="6500011"/>
            <a:ext cx="1608328" cy="277063"/>
          </a:xfrm>
          <a:prstGeom prst="rect">
            <a:avLst/>
          </a:prstGeom>
          <a:noFill/>
        </p:spPr>
        <p:txBody>
          <a:bodyPr wrap="square" lIns="0" tIns="0" rIns="0" bIns="0">
            <a:spAutoFit/>
          </a:bodyPr>
          <a:lstStyle/>
          <a:p>
            <a:pPr algn="ctr"/>
            <a:r>
              <a:rPr sz="1800" b="1" i="0" dirty="0">
                <a:solidFill>
                  <a:srgbClr val="FFFFFF"/>
                </a:solidFill>
                <a:latin typeface="Aptos"/>
              </a:rPr>
              <a:t>IMPLICATIONS</a:t>
            </a:r>
          </a:p>
        </p:txBody>
      </p:sp>
      <p:sp>
        <p:nvSpPr>
          <p:cNvPr id="23" name="TextBox 22">
            <a:extLst>
              <a:ext uri="{FF2B5EF4-FFF2-40B4-BE49-F238E27FC236}">
                <a16:creationId xmlns:a16="http://schemas.microsoft.com/office/drawing/2014/main" id="{4852B994-9390-778E-CB47-D7FB575CDDF6}"/>
              </a:ext>
            </a:extLst>
          </p:cNvPr>
          <p:cNvSpPr txBox="1"/>
          <p:nvPr/>
        </p:nvSpPr>
        <p:spPr>
          <a:xfrm>
            <a:off x="7693185" y="6485544"/>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
        <p:nvSpPr>
          <p:cNvPr id="8" name="Oval 7"/>
          <p:cNvSpPr/>
          <p:nvPr/>
        </p:nvSpPr>
        <p:spPr>
          <a:xfrm>
            <a:off x="1718733" y="1928013"/>
            <a:ext cx="1149774" cy="1127455"/>
          </a:xfrm>
          <a:prstGeom prst="ellipse">
            <a:avLst/>
          </a:prstGeom>
          <a:blipFill dpi="0"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a:stretch>
              <a:fillRect/>
            </a:stretch>
          </a:blipFill>
          <a:ln w="1905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892808" y="2259539"/>
            <a:ext cx="777240" cy="492443"/>
          </a:xfrm>
          <a:prstGeom prst="rect">
            <a:avLst/>
          </a:prstGeom>
          <a:noFill/>
        </p:spPr>
        <p:txBody>
          <a:bodyPr wrap="square" lIns="0" tIns="0" rIns="0" bIns="0">
            <a:spAutoFit/>
          </a:bodyPr>
          <a:lstStyle/>
          <a:p>
            <a:pPr algn="ctr"/>
            <a:r>
              <a:rPr sz="3200" b="1" i="0" dirty="0">
                <a:solidFill>
                  <a:srgbClr val="FFFFFF"/>
                </a:solidFill>
                <a:latin typeface="Aptos"/>
              </a:rPr>
              <a:t>1</a:t>
            </a:r>
          </a:p>
        </p:txBody>
      </p:sp>
      <p:sp>
        <p:nvSpPr>
          <p:cNvPr id="35" name="Rounded Rectangle 30">
            <a:extLst>
              <a:ext uri="{FF2B5EF4-FFF2-40B4-BE49-F238E27FC236}">
                <a16:creationId xmlns:a16="http://schemas.microsoft.com/office/drawing/2014/main" id="{F96661F2-6325-AFFC-123B-CA7E9D894B99}"/>
              </a:ext>
            </a:extLst>
          </p:cNvPr>
          <p:cNvSpPr/>
          <p:nvPr/>
        </p:nvSpPr>
        <p:spPr>
          <a:xfrm>
            <a:off x="1100667" y="5030123"/>
            <a:ext cx="9183411" cy="972743"/>
          </a:xfrm>
          <a:prstGeom prst="roundRect">
            <a:avLst/>
          </a:prstGeom>
          <a:solidFill>
            <a:srgbClr val="FFF7E0"/>
          </a:solidFill>
          <a:ln w="1905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dirty="0">
                <a:solidFill>
                  <a:schemeClr val="tx2"/>
                </a:solidFill>
              </a:rPr>
              <a:t>Each of these parts combine to help us understand the whole Delta Ecosystem</a:t>
            </a:r>
            <a:endParaRPr sz="2800" dirty="0">
              <a:solidFill>
                <a:schemeClr val="tx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V_2">
            <a:extLst>
              <a:ext uri="{FF2B5EF4-FFF2-40B4-BE49-F238E27FC236}">
                <a16:creationId xmlns:a16="http://schemas.microsoft.com/office/drawing/2014/main" id="{9960D068-7E05-D4B0-7EB8-8480495266A2}"/>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566928"/>
          </a:xfrm>
          <a:prstGeom prst="rect">
            <a:avLst/>
          </a:prstGeom>
          <a:noFill/>
        </p:spPr>
        <p:txBody>
          <a:bodyPr wrap="square" lIns="0" tIns="0" rIns="0" bIns="0">
            <a:spAutoFit/>
          </a:bodyPr>
          <a:lstStyle/>
          <a:p>
            <a:pPr algn="l"/>
            <a:r>
              <a:rPr sz="2700" b="1" i="0">
                <a:solidFill>
                  <a:srgbClr val="143052"/>
                </a:solidFill>
                <a:latin typeface="Aptos"/>
              </a:rPr>
              <a:t>Take-home messages</a:t>
            </a:r>
          </a:p>
        </p:txBody>
      </p:sp>
      <p:sp>
        <p:nvSpPr>
          <p:cNvPr id="5" name="TextBox 4"/>
          <p:cNvSpPr txBox="1"/>
          <p:nvPr/>
        </p:nvSpPr>
        <p:spPr>
          <a:xfrm>
            <a:off x="11201400" y="393192"/>
            <a:ext cx="502920" cy="320040"/>
          </a:xfrm>
          <a:prstGeom prst="rect">
            <a:avLst/>
          </a:prstGeom>
          <a:noFill/>
        </p:spPr>
        <p:txBody>
          <a:bodyPr wrap="square" lIns="0" tIns="0" rIns="0" bIns="0">
            <a:spAutoFit/>
          </a:bodyPr>
          <a:lstStyle/>
          <a:p>
            <a:pPr algn="r"/>
            <a:r>
              <a:rPr sz="1800" b="1" i="0">
                <a:solidFill>
                  <a:srgbClr val="5B6773"/>
                </a:solidFill>
                <a:latin typeface="Aptos"/>
              </a:rPr>
              <a:t>18</a:t>
            </a:r>
          </a:p>
        </p:txBody>
      </p:sp>
      <p:sp>
        <p:nvSpPr>
          <p:cNvPr id="7" name="Oval 6"/>
          <p:cNvSpPr/>
          <p:nvPr/>
        </p:nvSpPr>
        <p:spPr>
          <a:xfrm>
            <a:off x="521208" y="1133856"/>
            <a:ext cx="908981" cy="941832"/>
          </a:xfrm>
          <a:prstGeom prst="ellipse">
            <a:avLst/>
          </a:prstGeom>
          <a:blipFill dpi="0"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a:fillRect/>
            </a:stretch>
          </a:blipFill>
          <a:ln w="1905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2234" y="1437501"/>
            <a:ext cx="566928" cy="430887"/>
          </a:xfrm>
          <a:prstGeom prst="rect">
            <a:avLst/>
          </a:prstGeom>
          <a:noFill/>
        </p:spPr>
        <p:txBody>
          <a:bodyPr wrap="square" lIns="0" tIns="0" rIns="0" bIns="0">
            <a:spAutoFit/>
          </a:bodyPr>
          <a:lstStyle/>
          <a:p>
            <a:pPr algn="ctr"/>
            <a:r>
              <a:rPr sz="2800" b="1" i="0" dirty="0">
                <a:solidFill>
                  <a:srgbClr val="FFFFFF"/>
                </a:solidFill>
                <a:latin typeface="Aptos"/>
              </a:rPr>
              <a:t>1</a:t>
            </a:r>
          </a:p>
        </p:txBody>
      </p:sp>
      <p:sp>
        <p:nvSpPr>
          <p:cNvPr id="9" name="TextBox 8"/>
          <p:cNvSpPr txBox="1"/>
          <p:nvPr/>
        </p:nvSpPr>
        <p:spPr>
          <a:xfrm>
            <a:off x="1554480" y="1307592"/>
            <a:ext cx="4023360" cy="320040"/>
          </a:xfrm>
          <a:prstGeom prst="rect">
            <a:avLst/>
          </a:prstGeom>
          <a:noFill/>
        </p:spPr>
        <p:txBody>
          <a:bodyPr wrap="square" lIns="0" tIns="0" rIns="0" bIns="0">
            <a:spAutoFit/>
          </a:bodyPr>
          <a:lstStyle/>
          <a:p>
            <a:pPr algn="l"/>
            <a:r>
              <a:rPr sz="1800" b="1" i="0">
                <a:solidFill>
                  <a:srgbClr val="143052"/>
                </a:solidFill>
                <a:latin typeface="Aptos"/>
              </a:rPr>
              <a:t>Water conditions are ecological conditions.</a:t>
            </a:r>
          </a:p>
        </p:txBody>
      </p:sp>
      <p:sp>
        <p:nvSpPr>
          <p:cNvPr id="10" name="TextBox 9"/>
          <p:cNvSpPr txBox="1"/>
          <p:nvPr/>
        </p:nvSpPr>
        <p:spPr>
          <a:xfrm>
            <a:off x="5486400" y="1307592"/>
            <a:ext cx="5394960" cy="502920"/>
          </a:xfrm>
          <a:prstGeom prst="rect">
            <a:avLst/>
          </a:prstGeom>
          <a:noFill/>
        </p:spPr>
        <p:txBody>
          <a:bodyPr wrap="square" lIns="0" tIns="0" rIns="0" bIns="0">
            <a:spAutoFit/>
          </a:bodyPr>
          <a:lstStyle/>
          <a:p>
            <a:pPr algn="l"/>
            <a:r>
              <a:rPr sz="1800" b="0" i="0">
                <a:solidFill>
                  <a:srgbClr val="5B6773"/>
                </a:solidFill>
                <a:latin typeface="Aptos"/>
              </a:rPr>
              <a:t>Changes in flow, salinity, and water quality create the environment organisms experience.</a:t>
            </a:r>
          </a:p>
        </p:txBody>
      </p:sp>
      <p:sp>
        <p:nvSpPr>
          <p:cNvPr id="11" name="Oval 10"/>
          <p:cNvSpPr/>
          <p:nvPr/>
        </p:nvSpPr>
        <p:spPr>
          <a:xfrm>
            <a:off x="502919" y="2237994"/>
            <a:ext cx="908981" cy="941832"/>
          </a:xfrm>
          <a:prstGeom prst="ellipse">
            <a:avLst/>
          </a:prstGeom>
          <a:blipFill dpi="0"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a:stretch>
              <a:fillRect/>
            </a:stretch>
          </a:blipFill>
          <a:ln w="1905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3945" y="2518471"/>
            <a:ext cx="566928" cy="430887"/>
          </a:xfrm>
          <a:prstGeom prst="rect">
            <a:avLst/>
          </a:prstGeom>
          <a:noFill/>
        </p:spPr>
        <p:txBody>
          <a:bodyPr wrap="square" lIns="0" tIns="0" rIns="0" bIns="0">
            <a:spAutoFit/>
          </a:bodyPr>
          <a:lstStyle/>
          <a:p>
            <a:pPr algn="ctr"/>
            <a:r>
              <a:rPr sz="2800" b="1" i="0" dirty="0">
                <a:solidFill>
                  <a:srgbClr val="FFFFFF"/>
                </a:solidFill>
                <a:latin typeface="Aptos"/>
              </a:rPr>
              <a:t>2</a:t>
            </a:r>
          </a:p>
        </p:txBody>
      </p:sp>
      <p:sp>
        <p:nvSpPr>
          <p:cNvPr id="13" name="TextBox 12"/>
          <p:cNvSpPr txBox="1"/>
          <p:nvPr/>
        </p:nvSpPr>
        <p:spPr>
          <a:xfrm>
            <a:off x="1554480" y="2450592"/>
            <a:ext cx="4023360" cy="320040"/>
          </a:xfrm>
          <a:prstGeom prst="rect">
            <a:avLst/>
          </a:prstGeom>
          <a:noFill/>
        </p:spPr>
        <p:txBody>
          <a:bodyPr wrap="square" lIns="0" tIns="0" rIns="0" bIns="0">
            <a:spAutoFit/>
          </a:bodyPr>
          <a:lstStyle/>
          <a:p>
            <a:pPr algn="l"/>
            <a:r>
              <a:rPr sz="1800" b="1" i="0">
                <a:solidFill>
                  <a:srgbClr val="143052"/>
                </a:solidFill>
                <a:latin typeface="Aptos"/>
              </a:rPr>
              <a:t>Zooplankton are a biological bridge.</a:t>
            </a:r>
          </a:p>
        </p:txBody>
      </p:sp>
      <p:sp>
        <p:nvSpPr>
          <p:cNvPr id="14" name="TextBox 13"/>
          <p:cNvSpPr txBox="1"/>
          <p:nvPr/>
        </p:nvSpPr>
        <p:spPr>
          <a:xfrm>
            <a:off x="5486400" y="2450592"/>
            <a:ext cx="5394960" cy="502920"/>
          </a:xfrm>
          <a:prstGeom prst="rect">
            <a:avLst/>
          </a:prstGeom>
          <a:noFill/>
        </p:spPr>
        <p:txBody>
          <a:bodyPr wrap="square" lIns="0" tIns="0" rIns="0" bIns="0">
            <a:spAutoFit/>
          </a:bodyPr>
          <a:lstStyle/>
          <a:p>
            <a:pPr algn="l"/>
            <a:r>
              <a:rPr sz="1800" b="0" i="0">
                <a:solidFill>
                  <a:srgbClr val="5B6773"/>
                </a:solidFill>
                <a:latin typeface="Aptos"/>
              </a:rPr>
              <a:t>They connect environmental conditions to the food available to fish.</a:t>
            </a:r>
          </a:p>
        </p:txBody>
      </p:sp>
      <p:sp>
        <p:nvSpPr>
          <p:cNvPr id="15" name="Oval 14"/>
          <p:cNvSpPr/>
          <p:nvPr/>
        </p:nvSpPr>
        <p:spPr>
          <a:xfrm>
            <a:off x="531707" y="3378708"/>
            <a:ext cx="908980" cy="941832"/>
          </a:xfrm>
          <a:prstGeom prst="ellipse">
            <a:avLst/>
          </a:prstGeom>
          <a:blipFill dpi="0" rotWithShape="1">
            <a:blip r:embed="rId7">
              <a:extLst>
                <a:ext uri="{28A0092B-C50C-407E-A947-70E740481C1C}">
                  <a14:useLocalDpi xmlns:a14="http://schemas.microsoft.com/office/drawing/2010/main" val="0"/>
                </a:ext>
              </a:extLst>
            </a:blip>
            <a:srcRect/>
            <a:stretch>
              <a:fillRect/>
            </a:stretch>
          </a:blipFill>
          <a:ln w="1905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2234" y="3665625"/>
            <a:ext cx="566928" cy="430887"/>
          </a:xfrm>
          <a:prstGeom prst="rect">
            <a:avLst/>
          </a:prstGeom>
          <a:noFill/>
        </p:spPr>
        <p:txBody>
          <a:bodyPr wrap="square" lIns="0" tIns="0" rIns="0" bIns="0">
            <a:spAutoFit/>
          </a:bodyPr>
          <a:lstStyle/>
          <a:p>
            <a:pPr algn="ctr"/>
            <a:r>
              <a:rPr sz="2800" b="1" i="0" dirty="0">
                <a:latin typeface="Aptos"/>
              </a:rPr>
              <a:t>3</a:t>
            </a:r>
          </a:p>
        </p:txBody>
      </p:sp>
      <p:sp>
        <p:nvSpPr>
          <p:cNvPr id="17" name="TextBox 16"/>
          <p:cNvSpPr txBox="1"/>
          <p:nvPr/>
        </p:nvSpPr>
        <p:spPr>
          <a:xfrm>
            <a:off x="1554480" y="3593592"/>
            <a:ext cx="4023360" cy="320040"/>
          </a:xfrm>
          <a:prstGeom prst="rect">
            <a:avLst/>
          </a:prstGeom>
          <a:noFill/>
        </p:spPr>
        <p:txBody>
          <a:bodyPr wrap="square" lIns="0" tIns="0" rIns="0" bIns="0">
            <a:spAutoFit/>
          </a:bodyPr>
          <a:lstStyle/>
          <a:p>
            <a:pPr algn="l"/>
            <a:r>
              <a:rPr sz="1800" b="1" i="0">
                <a:solidFill>
                  <a:srgbClr val="143052"/>
                </a:solidFill>
                <a:latin typeface="Aptos"/>
              </a:rPr>
              <a:t>Long-term data can reveal response relationships.</a:t>
            </a:r>
          </a:p>
        </p:txBody>
      </p:sp>
      <p:sp>
        <p:nvSpPr>
          <p:cNvPr id="18" name="TextBox 17"/>
          <p:cNvSpPr txBox="1"/>
          <p:nvPr/>
        </p:nvSpPr>
        <p:spPr>
          <a:xfrm>
            <a:off x="5486400" y="3593592"/>
            <a:ext cx="5394960" cy="502920"/>
          </a:xfrm>
          <a:prstGeom prst="rect">
            <a:avLst/>
          </a:prstGeom>
          <a:noFill/>
        </p:spPr>
        <p:txBody>
          <a:bodyPr wrap="square" lIns="0" tIns="0" rIns="0" bIns="0">
            <a:spAutoFit/>
          </a:bodyPr>
          <a:lstStyle/>
          <a:p>
            <a:pPr algn="l"/>
            <a:r>
              <a:rPr sz="1800" b="0" i="0">
                <a:solidFill>
                  <a:srgbClr val="5B6773"/>
                </a:solidFill>
                <a:latin typeface="Aptos"/>
              </a:rPr>
              <a:t>Even imperfect monitoring records can be used when model structure respects data availability.</a:t>
            </a:r>
          </a:p>
        </p:txBody>
      </p:sp>
      <p:sp>
        <p:nvSpPr>
          <p:cNvPr id="19" name="Oval 18"/>
          <p:cNvSpPr/>
          <p:nvPr/>
        </p:nvSpPr>
        <p:spPr>
          <a:xfrm>
            <a:off x="560494" y="4512564"/>
            <a:ext cx="908980" cy="941832"/>
          </a:xfrm>
          <a:prstGeom prst="ellipse">
            <a:avLst/>
          </a:prstGeom>
          <a:blipFill dpi="0" rotWithShape="1">
            <a:blip r:embed="rId8">
              <a:extLst>
                <a:ext uri="{28A0092B-C50C-407E-A947-70E740481C1C}">
                  <a14:useLocalDpi xmlns:a14="http://schemas.microsoft.com/office/drawing/2010/main" val="0"/>
                </a:ext>
              </a:extLst>
            </a:blip>
            <a:srcRect/>
            <a:stretch>
              <a:fillRect/>
            </a:stretch>
          </a:blipFill>
          <a:ln w="1905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 y="4600411"/>
            <a:ext cx="566928" cy="430887"/>
          </a:xfrm>
          <a:prstGeom prst="rect">
            <a:avLst/>
          </a:prstGeom>
          <a:noFill/>
        </p:spPr>
        <p:txBody>
          <a:bodyPr wrap="square" lIns="0" tIns="0" rIns="0" bIns="0">
            <a:spAutoFit/>
          </a:bodyPr>
          <a:lstStyle/>
          <a:p>
            <a:pPr algn="ctr"/>
            <a:r>
              <a:rPr sz="2800" b="1" i="0" dirty="0">
                <a:solidFill>
                  <a:srgbClr val="FFFFFF"/>
                </a:solidFill>
                <a:latin typeface="Aptos"/>
              </a:rPr>
              <a:t>4</a:t>
            </a:r>
          </a:p>
        </p:txBody>
      </p:sp>
      <p:sp>
        <p:nvSpPr>
          <p:cNvPr id="21" name="TextBox 20"/>
          <p:cNvSpPr txBox="1"/>
          <p:nvPr/>
        </p:nvSpPr>
        <p:spPr>
          <a:xfrm>
            <a:off x="1554480" y="4736592"/>
            <a:ext cx="4023360" cy="320040"/>
          </a:xfrm>
          <a:prstGeom prst="rect">
            <a:avLst/>
          </a:prstGeom>
          <a:noFill/>
        </p:spPr>
        <p:txBody>
          <a:bodyPr wrap="square" lIns="0" tIns="0" rIns="0" bIns="0">
            <a:spAutoFit/>
          </a:bodyPr>
          <a:lstStyle/>
          <a:p>
            <a:pPr algn="l"/>
            <a:r>
              <a:rPr sz="1800" b="1" i="0">
                <a:solidFill>
                  <a:srgbClr val="143052"/>
                </a:solidFill>
                <a:latin typeface="Aptos"/>
              </a:rPr>
              <a:t>Eurytemora is the first step.</a:t>
            </a:r>
          </a:p>
        </p:txBody>
      </p:sp>
      <p:sp>
        <p:nvSpPr>
          <p:cNvPr id="22" name="TextBox 21"/>
          <p:cNvSpPr txBox="1"/>
          <p:nvPr/>
        </p:nvSpPr>
        <p:spPr>
          <a:xfrm>
            <a:off x="5486400" y="4736592"/>
            <a:ext cx="5394960" cy="502920"/>
          </a:xfrm>
          <a:prstGeom prst="rect">
            <a:avLst/>
          </a:prstGeom>
          <a:noFill/>
        </p:spPr>
        <p:txBody>
          <a:bodyPr wrap="square" lIns="0" tIns="0" rIns="0" bIns="0">
            <a:spAutoFit/>
          </a:bodyPr>
          <a:lstStyle/>
          <a:p>
            <a:pPr algn="l"/>
            <a:r>
              <a:rPr sz="1800" b="0" i="0">
                <a:solidFill>
                  <a:srgbClr val="5B6773"/>
                </a:solidFill>
                <a:latin typeface="Aptos"/>
              </a:rPr>
              <a:t>The larger goal is a multi-taxon biological framework that can interact with water-management models.</a:t>
            </a:r>
          </a:p>
        </p:txBody>
      </p:sp>
      <p:sp>
        <p:nvSpPr>
          <p:cNvPr id="23" name="Rounded Rectangle 22"/>
          <p:cNvSpPr/>
          <p:nvPr/>
        </p:nvSpPr>
        <p:spPr>
          <a:xfrm>
            <a:off x="1828800" y="5696712"/>
            <a:ext cx="8595360" cy="731520"/>
          </a:xfrm>
          <a:prstGeom prst="roundRect">
            <a:avLst/>
          </a:prstGeom>
          <a:solidFill>
            <a:srgbClr val="143052"/>
          </a:solidFill>
          <a:ln>
            <a:solidFill>
              <a:srgbClr val="1430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981047" y="5861304"/>
            <a:ext cx="8229600" cy="201168"/>
          </a:xfrm>
          <a:prstGeom prst="rect">
            <a:avLst/>
          </a:prstGeom>
          <a:noFill/>
        </p:spPr>
        <p:txBody>
          <a:bodyPr wrap="square" lIns="0" tIns="0" rIns="0" bIns="0">
            <a:spAutoFit/>
          </a:bodyPr>
          <a:lstStyle/>
          <a:p>
            <a:pPr algn="ctr"/>
            <a:r>
              <a:rPr sz="1800" b="1" i="0" dirty="0">
                <a:solidFill>
                  <a:srgbClr val="FFFFFF"/>
                </a:solidFill>
                <a:latin typeface="Aptos"/>
              </a:rPr>
              <a:t>Ultimately: predict not only what happens to the water, but what those changes could mean for the ecosystem.</a:t>
            </a:r>
          </a:p>
        </p:txBody>
      </p:sp>
      <p:sp>
        <p:nvSpPr>
          <p:cNvPr id="25"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2A7EBE"/>
                </a:solidFill>
                <a:latin typeface="Aptos"/>
              </a:rPr>
              <a:t>STORY</a:t>
            </a:r>
          </a:p>
        </p:txBody>
      </p:sp>
      <p:sp>
        <p:nvSpPr>
          <p:cNvPr id="27"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2A9DA1"/>
                </a:solidFill>
                <a:latin typeface="Aptos"/>
              </a:rPr>
              <a:t>SYSTEM</a:t>
            </a:r>
          </a:p>
        </p:txBody>
      </p:sp>
      <p:sp>
        <p:nvSpPr>
          <p:cNvPr id="29"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E7AD46"/>
                </a:solidFill>
                <a:latin typeface="Aptos"/>
              </a:rPr>
              <a:t>DATA</a:t>
            </a:r>
          </a:p>
        </p:txBody>
      </p:sp>
      <p:sp>
        <p:nvSpPr>
          <p:cNvPr id="31"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E26954"/>
                </a:solidFill>
                <a:latin typeface="Aptos"/>
              </a:rPr>
              <a:t>RESULTS</a:t>
            </a:r>
          </a:p>
        </p:txBody>
      </p:sp>
      <p:sp>
        <p:nvSpPr>
          <p:cNvPr id="33" name="NAV_4"/>
          <p:cNvSpPr/>
          <p:nvPr/>
        </p:nvSpPr>
        <p:spPr>
          <a:xfrm>
            <a:off x="6062472" y="6528816"/>
            <a:ext cx="1574460" cy="219456"/>
          </a:xfrm>
          <a:prstGeom prst="roundRect">
            <a:avLst/>
          </a:prstGeom>
          <a:solidFill>
            <a:srgbClr val="5B975C"/>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062471" y="6502756"/>
            <a:ext cx="1574461" cy="277063"/>
          </a:xfrm>
          <a:prstGeom prst="rect">
            <a:avLst/>
          </a:prstGeom>
          <a:noFill/>
        </p:spPr>
        <p:txBody>
          <a:bodyPr wrap="square" lIns="0" tIns="0" rIns="0" bIns="0">
            <a:spAutoFit/>
          </a:bodyPr>
          <a:lstStyle/>
          <a:p>
            <a:pPr algn="ctr"/>
            <a:r>
              <a:rPr sz="1800" b="1" i="0" dirty="0">
                <a:solidFill>
                  <a:srgbClr val="FFFFFF"/>
                </a:solidFill>
                <a:latin typeface="Aptos"/>
              </a:rPr>
              <a:t>IMPLICATIONS</a:t>
            </a:r>
          </a:p>
        </p:txBody>
      </p:sp>
      <p:sp>
        <p:nvSpPr>
          <p:cNvPr id="36" name="TextBox 35">
            <a:extLst>
              <a:ext uri="{FF2B5EF4-FFF2-40B4-BE49-F238E27FC236}">
                <a16:creationId xmlns:a16="http://schemas.microsoft.com/office/drawing/2014/main" id="{0FFF73AD-C39A-008A-FF14-C30F25372CE8}"/>
              </a:ext>
            </a:extLst>
          </p:cNvPr>
          <p:cNvSpPr txBox="1"/>
          <p:nvPr/>
        </p:nvSpPr>
        <p:spPr>
          <a:xfrm>
            <a:off x="7693185" y="6485544"/>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770221-437A-0358-0ECA-9C0E3AB5A5DD}"/>
              </a:ext>
            </a:extLst>
          </p:cNvPr>
          <p:cNvSpPr>
            <a:spLocks noGrp="1" noRot="1" noMove="1" noResize="1" noEditPoints="1" noAdjustHandles="1" noChangeArrowheads="1" noChangeShapeType="1"/>
          </p:cNvSpPr>
          <p:nvPr/>
        </p:nvSpPr>
        <p:spPr>
          <a:xfrm>
            <a:off x="0" y="0"/>
            <a:ext cx="12191999" cy="6858000"/>
          </a:xfrm>
          <a:prstGeom prst="rect">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ounded Rectangle 2">
            <a:extLst>
              <a:ext uri="{FF2B5EF4-FFF2-40B4-BE49-F238E27FC236}">
                <a16:creationId xmlns:a16="http://schemas.microsoft.com/office/drawing/2014/main" id="{B78CF86D-38EE-EAFB-F674-9866B78DA910}"/>
              </a:ext>
            </a:extLst>
          </p:cNvPr>
          <p:cNvSpPr>
            <a:spLocks noGrp="1" noRot="1" noMove="1" noResize="1" noEditPoints="1" noAdjustHandles="1" noChangeArrowheads="1" noChangeShapeType="1"/>
          </p:cNvSpPr>
          <p:nvPr/>
        </p:nvSpPr>
        <p:spPr>
          <a:xfrm>
            <a:off x="640080" y="542380"/>
            <a:ext cx="10881360" cy="42062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F2631C37-B332-2634-7ACF-1C9C690FD3EC}"/>
              </a:ext>
            </a:extLst>
          </p:cNvPr>
          <p:cNvSpPr txBox="1"/>
          <p:nvPr/>
        </p:nvSpPr>
        <p:spPr>
          <a:xfrm>
            <a:off x="2929521" y="847312"/>
            <a:ext cx="914400" cy="461665"/>
          </a:xfrm>
          <a:prstGeom prst="rect">
            <a:avLst/>
          </a:prstGeom>
          <a:noFill/>
        </p:spPr>
        <p:txBody>
          <a:bodyPr wrap="square" lIns="0" tIns="0" rIns="0" bIns="0">
            <a:spAutoFit/>
          </a:bodyPr>
          <a:lstStyle/>
          <a:p>
            <a:pPr algn="l"/>
            <a:r>
              <a:rPr sz="3000" b="1" i="0" dirty="0">
                <a:solidFill>
                  <a:schemeClr val="accent3"/>
                </a:solidFill>
                <a:latin typeface="Aptos"/>
              </a:rPr>
              <a:t>1</a:t>
            </a:r>
            <a:r>
              <a:rPr lang="en-US" sz="3000" b="1" i="0" dirty="0">
                <a:solidFill>
                  <a:schemeClr val="accent3"/>
                </a:solidFill>
                <a:latin typeface="Aptos"/>
              </a:rPr>
              <a:t>9</a:t>
            </a:r>
            <a:endParaRPr sz="3000" b="1" i="0" dirty="0">
              <a:solidFill>
                <a:schemeClr val="accent3"/>
              </a:solidFill>
              <a:latin typeface="Aptos"/>
            </a:endParaRPr>
          </a:p>
        </p:txBody>
      </p:sp>
      <p:sp>
        <p:nvSpPr>
          <p:cNvPr id="10" name="TextBox 9">
            <a:extLst>
              <a:ext uri="{FF2B5EF4-FFF2-40B4-BE49-F238E27FC236}">
                <a16:creationId xmlns:a16="http://schemas.microsoft.com/office/drawing/2014/main" id="{6962064E-35E2-322A-AA9B-98AE590FB015}"/>
              </a:ext>
            </a:extLst>
          </p:cNvPr>
          <p:cNvSpPr txBox="1"/>
          <p:nvPr/>
        </p:nvSpPr>
        <p:spPr>
          <a:xfrm>
            <a:off x="3756661" y="776504"/>
            <a:ext cx="9784080" cy="523220"/>
          </a:xfrm>
          <a:prstGeom prst="rect">
            <a:avLst/>
          </a:prstGeom>
          <a:noFill/>
        </p:spPr>
        <p:txBody>
          <a:bodyPr wrap="square" lIns="0" tIns="0" rIns="0" bIns="0">
            <a:spAutoFit/>
          </a:bodyPr>
          <a:lstStyle/>
          <a:p>
            <a:pPr algn="l"/>
            <a:r>
              <a:rPr lang="en-US" sz="3400" b="1" i="0" dirty="0">
                <a:solidFill>
                  <a:srgbClr val="143052"/>
                </a:solidFill>
                <a:latin typeface="Aptos"/>
              </a:rPr>
              <a:t>Acknowledgements</a:t>
            </a:r>
            <a:endParaRPr sz="3400" b="1" i="0" dirty="0">
              <a:solidFill>
                <a:srgbClr val="143052"/>
              </a:solidFill>
              <a:latin typeface="Aptos"/>
            </a:endParaRPr>
          </a:p>
        </p:txBody>
      </p:sp>
      <p:pic>
        <p:nvPicPr>
          <p:cNvPr id="11" name="Picture 10">
            <a:extLst>
              <a:ext uri="{FF2B5EF4-FFF2-40B4-BE49-F238E27FC236}">
                <a16:creationId xmlns:a16="http://schemas.microsoft.com/office/drawing/2014/main" id="{8069F2F6-D585-3CE9-23E0-4410C5DDE403}"/>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p:blipFill>
        <p:spPr>
          <a:xfrm>
            <a:off x="892629" y="809897"/>
            <a:ext cx="1784343" cy="1627414"/>
          </a:xfrm>
          <a:prstGeom prst="rect">
            <a:avLst/>
          </a:prstGeom>
        </p:spPr>
      </p:pic>
      <p:pic>
        <p:nvPicPr>
          <p:cNvPr id="12" name="Picture 11" descr="UC Davis Center for Watershed Sciences (@UCDavisWater) / Posts / X">
            <a:extLst>
              <a:ext uri="{FF2B5EF4-FFF2-40B4-BE49-F238E27FC236}">
                <a16:creationId xmlns:a16="http://schemas.microsoft.com/office/drawing/2014/main" id="{9969DC62-5E87-6772-74D6-DE066631E955}"/>
              </a:ext>
            </a:extLst>
          </p:cNvPr>
          <p:cNvPicPr>
            <a:picLocks noChangeAspect="1"/>
          </p:cNvPicPr>
          <p:nvPr/>
        </p:nvPicPr>
        <p:blipFill>
          <a:blip r:embed="rId4"/>
          <a:stretch>
            <a:fillRect/>
          </a:stretch>
        </p:blipFill>
        <p:spPr>
          <a:xfrm>
            <a:off x="9471797" y="717527"/>
            <a:ext cx="1513386" cy="1553879"/>
          </a:xfrm>
          <a:prstGeom prst="rect">
            <a:avLst/>
          </a:prstGeom>
        </p:spPr>
      </p:pic>
      <p:pic>
        <p:nvPicPr>
          <p:cNvPr id="13" name="Picture 12" descr="DWR Logo - LogoDix">
            <a:extLst>
              <a:ext uri="{FF2B5EF4-FFF2-40B4-BE49-F238E27FC236}">
                <a16:creationId xmlns:a16="http://schemas.microsoft.com/office/drawing/2014/main" id="{DFF28AAA-B5CE-E6CD-AE35-799E0743EC08}"/>
              </a:ext>
            </a:extLst>
          </p:cNvPr>
          <p:cNvPicPr>
            <a:picLocks noChangeAspect="1"/>
          </p:cNvPicPr>
          <p:nvPr/>
        </p:nvPicPr>
        <p:blipFill>
          <a:blip r:embed="rId5"/>
          <a:srcRect l="14285" t="5845" r="17123" b="5450"/>
          <a:stretch>
            <a:fillRect/>
          </a:stretch>
        </p:blipFill>
        <p:spPr>
          <a:xfrm>
            <a:off x="9317901" y="2561595"/>
            <a:ext cx="1918607" cy="1896836"/>
          </a:xfrm>
          <a:prstGeom prst="rect">
            <a:avLst/>
          </a:prstGeom>
        </p:spPr>
      </p:pic>
      <p:pic>
        <p:nvPicPr>
          <p:cNvPr id="14" name="Picture 13" descr="Interagency Ecological Program · GitHub">
            <a:extLst>
              <a:ext uri="{FF2B5EF4-FFF2-40B4-BE49-F238E27FC236}">
                <a16:creationId xmlns:a16="http://schemas.microsoft.com/office/drawing/2014/main" id="{B9CE6237-6CEE-0C16-8C04-55C945749323}"/>
              </a:ext>
            </a:extLst>
          </p:cNvPr>
          <p:cNvPicPr>
            <a:picLocks noChangeAspect="1"/>
          </p:cNvPicPr>
          <p:nvPr/>
        </p:nvPicPr>
        <p:blipFill>
          <a:blip r:embed="rId6"/>
          <a:stretch>
            <a:fillRect/>
          </a:stretch>
        </p:blipFill>
        <p:spPr>
          <a:xfrm>
            <a:off x="1004206" y="2757555"/>
            <a:ext cx="1651227" cy="1651227"/>
          </a:xfrm>
          <a:prstGeom prst="rect">
            <a:avLst/>
          </a:prstGeom>
        </p:spPr>
      </p:pic>
      <p:pic>
        <p:nvPicPr>
          <p:cNvPr id="16" name="Picture 15">
            <a:extLst>
              <a:ext uri="{FF2B5EF4-FFF2-40B4-BE49-F238E27FC236}">
                <a16:creationId xmlns:a16="http://schemas.microsoft.com/office/drawing/2014/main" id="{28ED4C92-C03A-481F-C32F-DE40DEB10937}"/>
              </a:ext>
            </a:extLst>
          </p:cNvPr>
          <p:cNvPicPr>
            <a:picLocks noChangeAspect="1"/>
          </p:cNvPicPr>
          <p:nvPr/>
        </p:nvPicPr>
        <p:blipFill>
          <a:blip r:embed="rId7"/>
          <a:srcRect l="21674" t="9121" r="20667"/>
          <a:stretch>
            <a:fillRect/>
          </a:stretch>
        </p:blipFill>
        <p:spPr>
          <a:xfrm>
            <a:off x="4169192" y="4858370"/>
            <a:ext cx="1718933" cy="1806212"/>
          </a:xfrm>
          <a:prstGeom prst="rect">
            <a:avLst/>
          </a:prstGeom>
        </p:spPr>
      </p:pic>
      <p:sp>
        <p:nvSpPr>
          <p:cNvPr id="17" name="TextBox 16">
            <a:extLst>
              <a:ext uri="{FF2B5EF4-FFF2-40B4-BE49-F238E27FC236}">
                <a16:creationId xmlns:a16="http://schemas.microsoft.com/office/drawing/2014/main" id="{4A1E03D2-4562-230F-178A-25BC2FA4B257}"/>
              </a:ext>
            </a:extLst>
          </p:cNvPr>
          <p:cNvSpPr txBox="1"/>
          <p:nvPr/>
        </p:nvSpPr>
        <p:spPr>
          <a:xfrm>
            <a:off x="6056890" y="5377031"/>
            <a:ext cx="2476152" cy="646331"/>
          </a:xfrm>
          <a:prstGeom prst="rect">
            <a:avLst/>
          </a:prstGeom>
          <a:noFill/>
        </p:spPr>
        <p:txBody>
          <a:bodyPr wrap="square" rtlCol="0">
            <a:spAutoFit/>
          </a:bodyPr>
          <a:lstStyle/>
          <a:p>
            <a:r>
              <a:rPr lang="en-US" sz="1800" b="1" dirty="0">
                <a:solidFill>
                  <a:schemeClr val="tx2">
                    <a:lumMod val="75000"/>
                  </a:schemeClr>
                </a:solidFill>
                <a:latin typeface="Aptos" panose="020B0004020202020204" pitchFamily="34" charset="0"/>
              </a:rPr>
              <a:t>Contact:</a:t>
            </a:r>
          </a:p>
          <a:p>
            <a:r>
              <a:rPr lang="en-US" sz="1800" b="1" dirty="0">
                <a:solidFill>
                  <a:schemeClr val="tx2">
                    <a:lumMod val="75000"/>
                  </a:schemeClr>
                </a:solidFill>
                <a:latin typeface="Aptos" panose="020B0004020202020204" pitchFamily="34" charset="0"/>
              </a:rPr>
              <a:t>alacey@ucdavis.edu</a:t>
            </a:r>
          </a:p>
        </p:txBody>
      </p:sp>
      <p:sp>
        <p:nvSpPr>
          <p:cNvPr id="18" name="TextBox 17">
            <a:extLst>
              <a:ext uri="{FF2B5EF4-FFF2-40B4-BE49-F238E27FC236}">
                <a16:creationId xmlns:a16="http://schemas.microsoft.com/office/drawing/2014/main" id="{19C166E0-5002-36BA-CF29-855883E8B628}"/>
              </a:ext>
            </a:extLst>
          </p:cNvPr>
          <p:cNvSpPr txBox="1"/>
          <p:nvPr/>
        </p:nvSpPr>
        <p:spPr>
          <a:xfrm>
            <a:off x="3202752" y="1418727"/>
            <a:ext cx="5330290" cy="3108543"/>
          </a:xfrm>
          <a:prstGeom prst="rect">
            <a:avLst/>
          </a:prstGeom>
          <a:noFill/>
        </p:spPr>
        <p:txBody>
          <a:bodyPr wrap="square" rtlCol="0">
            <a:spAutoFit/>
          </a:bodyPr>
          <a:lstStyle/>
          <a:p>
            <a:r>
              <a:rPr lang="en-US" sz="2800" dirty="0">
                <a:solidFill>
                  <a:schemeClr val="tx2">
                    <a:lumMod val="75000"/>
                  </a:schemeClr>
                </a:solidFill>
              </a:rPr>
              <a:t>A special thank you to: </a:t>
            </a:r>
          </a:p>
          <a:p>
            <a:pPr marL="342900" indent="-342900">
              <a:buFont typeface="Arial" panose="020B0604020202020204" pitchFamily="34" charset="0"/>
              <a:buChar char="•"/>
            </a:pPr>
            <a:r>
              <a:rPr lang="en-US" sz="2800" dirty="0">
                <a:solidFill>
                  <a:schemeClr val="tx2">
                    <a:lumMod val="75000"/>
                  </a:schemeClr>
                </a:solidFill>
              </a:rPr>
              <a:t>Federal Bureau of Reclamation Bay-Delta Office and </a:t>
            </a:r>
          </a:p>
          <a:p>
            <a:pPr marL="342900" indent="-342900">
              <a:buFont typeface="Arial" panose="020B0604020202020204" pitchFamily="34" charset="0"/>
              <a:buChar char="•"/>
            </a:pPr>
            <a:r>
              <a:rPr lang="en-US" sz="2800" dirty="0">
                <a:solidFill>
                  <a:schemeClr val="tx2">
                    <a:lumMod val="75000"/>
                  </a:schemeClr>
                </a:solidFill>
              </a:rPr>
              <a:t>UC Davis Center for Watershed Sciences</a:t>
            </a:r>
          </a:p>
          <a:p>
            <a:pPr marL="342900" indent="-342900">
              <a:buFont typeface="Arial" panose="020B0604020202020204" pitchFamily="34" charset="0"/>
              <a:buChar char="•"/>
            </a:pPr>
            <a:r>
              <a:rPr lang="en-US" sz="2800" dirty="0">
                <a:solidFill>
                  <a:schemeClr val="tx2">
                    <a:lumMod val="75000"/>
                  </a:schemeClr>
                </a:solidFill>
              </a:rPr>
              <a:t>Interagency Ecological Program</a:t>
            </a:r>
          </a:p>
          <a:p>
            <a:pPr marL="342900" indent="-342900">
              <a:buFont typeface="Arial" panose="020B0604020202020204" pitchFamily="34" charset="0"/>
              <a:buChar char="•"/>
            </a:pPr>
            <a:r>
              <a:rPr lang="en-US" sz="2800" dirty="0">
                <a:solidFill>
                  <a:schemeClr val="tx2">
                    <a:lumMod val="75000"/>
                  </a:schemeClr>
                </a:solidFill>
              </a:rPr>
              <a:t>Department of Water Resources</a:t>
            </a:r>
          </a:p>
        </p:txBody>
      </p:sp>
    </p:spTree>
    <p:extLst>
      <p:ext uri="{BB962C8B-B14F-4D97-AF65-F5344CB8AC3E}">
        <p14:creationId xmlns:p14="http://schemas.microsoft.com/office/powerpoint/2010/main" val="35783549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5095</TotalTime>
  <Words>1820</Words>
  <Application>Microsoft Office PowerPoint</Application>
  <PresentationFormat>Widescreen</PresentationFormat>
  <Paragraphs>374</Paragraphs>
  <Slides>20</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Alyse Lacey</dc:creator>
  <cp:keywords/>
  <dc:description>generated using python-pptx</dc:description>
  <cp:lastModifiedBy>Alyse Lacey</cp:lastModifiedBy>
  <cp:revision>4</cp:revision>
  <dcterms:created xsi:type="dcterms:W3CDTF">2013-01-27T09:14:16Z</dcterms:created>
  <dcterms:modified xsi:type="dcterms:W3CDTF">2026-09-23T22:04:43Z</dcterms:modified>
  <cp:category/>
</cp:coreProperties>
</file>